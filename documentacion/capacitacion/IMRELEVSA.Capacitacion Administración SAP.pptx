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8" r:id="rId3"/>
    <p:sldId id="285" r:id="rId4"/>
    <p:sldId id="312" r:id="rId5"/>
    <p:sldId id="296" r:id="rId6"/>
    <p:sldId id="311" r:id="rId7"/>
    <p:sldId id="316" r:id="rId8"/>
    <p:sldId id="317" r:id="rId9"/>
    <p:sldId id="318" r:id="rId10"/>
    <p:sldId id="319" r:id="rId11"/>
    <p:sldId id="320" r:id="rId12"/>
    <p:sldId id="328" r:id="rId13"/>
    <p:sldId id="329" r:id="rId14"/>
    <p:sldId id="330" r:id="rId15"/>
    <p:sldId id="321" r:id="rId16"/>
    <p:sldId id="313" r:id="rId17"/>
    <p:sldId id="315" r:id="rId18"/>
    <p:sldId id="314" r:id="rId19"/>
    <p:sldId id="297" r:id="rId20"/>
    <p:sldId id="298" r:id="rId21"/>
    <p:sldId id="295" r:id="rId22"/>
    <p:sldId id="322" r:id="rId23"/>
    <p:sldId id="323" r:id="rId24"/>
    <p:sldId id="309" r:id="rId25"/>
    <p:sldId id="310" r:id="rId26"/>
    <p:sldId id="324" r:id="rId27"/>
    <p:sldId id="325" r:id="rId28"/>
    <p:sldId id="326" r:id="rId29"/>
    <p:sldId id="327" r:id="rId30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E19900"/>
    <a:srgbClr val="C0C0C0"/>
    <a:srgbClr val="DDDDDD"/>
    <a:srgbClr val="FF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761" autoAdjust="0"/>
  </p:normalViewPr>
  <p:slideViewPr>
    <p:cSldViewPr snapToGrid="0">
      <p:cViewPr varScale="1">
        <p:scale>
          <a:sx n="72" d="100"/>
          <a:sy n="72" d="100"/>
        </p:scale>
        <p:origin x="135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image" Target="../media/image3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ADD79B93-6680-43FB-8A4C-CFA0B5149AF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623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B05089-E61A-4FE3-9B5C-490935DB8FB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418013"/>
            <a:ext cx="5486400" cy="4181475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222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B05089-E61A-4FE3-9B5C-490935DB8FB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418013"/>
            <a:ext cx="5486400" cy="4181475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188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/>
            <a:fld id="{1D99C95E-8F9C-4D78-BFBF-4D0D74F11F3C}" type="slidenum">
              <a:rPr lang="en-US" sz="1200"/>
              <a:pPr algn="r" defTabSz="931863"/>
              <a:t>19</a:t>
            </a:fld>
            <a:endParaRPr lang="en-US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418013"/>
            <a:ext cx="5486400" cy="4181475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7184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The Microsoft Excel templates are based on a preconfigured data transfer interface. </a:t>
            </a:r>
          </a:p>
          <a:p>
            <a:r>
              <a:rPr lang="en-US"/>
              <a:t>You may adapt your legacy data to these Microsoft Excel Templates or you may change the data transfer interface and generate new Microsoft Excel Templates from it. </a:t>
            </a:r>
          </a:p>
          <a:p>
            <a:r>
              <a:rPr lang="en-US"/>
              <a:t>It may be necessary to change the data transfer interface if required fields are missing in the default interface.</a:t>
            </a:r>
          </a:p>
          <a:p>
            <a:r>
              <a:rPr lang="en-US"/>
              <a:t>You can always go back to the default interface if necessary.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07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The Microsoft Excel templates are based on a preconfigured data transfer interface. </a:t>
            </a:r>
          </a:p>
          <a:p>
            <a:r>
              <a:rPr lang="en-US"/>
              <a:t>You may adapt your legacy data to these Microsoft Excel Templates or you may change the data transfer interface and generate new Microsoft Excel Templates from it. </a:t>
            </a:r>
          </a:p>
          <a:p>
            <a:r>
              <a:rPr lang="en-US"/>
              <a:t>It may be necessary to change the data transfer interface if required fields are missing in the default interface.</a:t>
            </a:r>
          </a:p>
          <a:p>
            <a:r>
              <a:rPr lang="en-US"/>
              <a:t>You can always go back to the default interface if necessary.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3405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The Microsoft Excel templates are based on a preconfigured data transfer interface. </a:t>
            </a:r>
          </a:p>
          <a:p>
            <a:r>
              <a:rPr lang="en-US"/>
              <a:t>You may adapt your legacy data to these Microsoft Excel Templates or you may change the data transfer interface and generate new Microsoft Excel Templates from it. </a:t>
            </a:r>
          </a:p>
          <a:p>
            <a:r>
              <a:rPr lang="en-US"/>
              <a:t>It may be necessary to change the data transfer interface if required fields are missing in the default interface.</a:t>
            </a:r>
          </a:p>
          <a:p>
            <a:r>
              <a:rPr lang="en-US"/>
              <a:t>You can always go back to the default interface if necessary.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538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The Microsoft Excel templates are based on a preconfigured data transfer interface. </a:t>
            </a:r>
          </a:p>
          <a:p>
            <a:r>
              <a:rPr lang="en-US"/>
              <a:t>You may adapt your legacy data to these Microsoft Excel Templates or you may change the data transfer interface and generate new Microsoft Excel Templates from it. </a:t>
            </a:r>
          </a:p>
          <a:p>
            <a:r>
              <a:rPr lang="en-US"/>
              <a:t>It may be necessary to change the data transfer interface if required fields are missing in the default interface.</a:t>
            </a:r>
          </a:p>
          <a:p>
            <a:r>
              <a:rPr lang="en-US"/>
              <a:t>You can always go back to the default interface if necessary.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1875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The Microsoft Excel templates are based on a preconfigured data transfer interface. </a:t>
            </a:r>
          </a:p>
          <a:p>
            <a:r>
              <a:rPr lang="en-US"/>
              <a:t>You may adapt your legacy data to these Microsoft Excel Templates or you may change the data transfer interface and generate new Microsoft Excel Templates from it. </a:t>
            </a:r>
          </a:p>
          <a:p>
            <a:r>
              <a:rPr lang="en-US"/>
              <a:t>It may be necessary to change the data transfer interface if required fields are missing in the default interface.</a:t>
            </a:r>
          </a:p>
          <a:p>
            <a:r>
              <a:rPr lang="en-US"/>
              <a:t>You can always go back to the default interface if necessary.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8588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5A2613C-B529-4A94-85AB-7D0CE387CE6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286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6629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066800"/>
            <a:ext cx="8229600" cy="45720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228600"/>
            <a:ext cx="66294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076" name="Picture 7" descr="tit-empresa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0" y="6124575"/>
            <a:ext cx="55626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9" descr="log-sap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7600950" y="5848350"/>
            <a:ext cx="15430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0" r:id="rId2"/>
    <p:sldLayoutId id="2147483799" r:id="rId3"/>
    <p:sldLayoutId id="2147483798" r:id="rId4"/>
    <p:sldLayoutId id="2147483797" r:id="rId5"/>
    <p:sldLayoutId id="2147483796" r:id="rId6"/>
    <p:sldLayoutId id="2147483795" r:id="rId7"/>
    <p:sldLayoutId id="2147483794" r:id="rId8"/>
    <p:sldLayoutId id="2147483793" r:id="rId9"/>
    <p:sldLayoutId id="2147483792" r:id="rId10"/>
    <p:sldLayoutId id="2147483791" r:id="rId11"/>
    <p:sldLayoutId id="2147483790" r:id="rId12"/>
    <p:sldLayoutId id="2147483789" r:id="rId13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Font typeface="Wingdings" pitchFamily="2" charset="2"/>
        <a:buChar char="Ü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89275" y="798966"/>
            <a:ext cx="6054725" cy="1825625"/>
          </a:xfrm>
        </p:spPr>
        <p:txBody>
          <a:bodyPr/>
          <a:lstStyle/>
          <a:p>
            <a:pPr algn="ctr" eaLnBrk="1" hangingPunct="1"/>
            <a:r>
              <a:rPr lang="es-MX" sz="3600" b="1" dirty="0">
                <a:solidFill>
                  <a:srgbClr val="FF6600"/>
                </a:solidFill>
              </a:rPr>
              <a:t>Capacitación: Administración y Sistemas</a:t>
            </a:r>
            <a:endParaRPr lang="en-US" sz="3600" b="1" dirty="0">
              <a:solidFill>
                <a:srgbClr val="FF6600"/>
              </a:solidFill>
            </a:endParaRPr>
          </a:p>
        </p:txBody>
      </p:sp>
      <p:pic>
        <p:nvPicPr>
          <p:cNvPr id="5124" name="Picture 5" descr="log-sa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00950" y="5848350"/>
            <a:ext cx="15430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6" descr="pleca-sa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462588"/>
            <a:ext cx="3343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112713"/>
            <a:ext cx="6629400" cy="563562"/>
          </a:xfrm>
        </p:spPr>
        <p:txBody>
          <a:bodyPr/>
          <a:lstStyle/>
          <a:p>
            <a:r>
              <a:rPr lang="es-ES"/>
              <a:t>Agenda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05088" y="950913"/>
            <a:ext cx="6132512" cy="5116512"/>
          </a:xfrm>
        </p:spPr>
        <p:txBody>
          <a:bodyPr/>
          <a:lstStyle/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sz="1400" b="1" i="1" dirty="0" err="1"/>
              <a:t>Manejo</a:t>
            </a:r>
            <a:r>
              <a:rPr lang="en-US" sz="1400" b="1" i="1" dirty="0"/>
              <a:t> de </a:t>
            </a:r>
            <a:r>
              <a:rPr lang="en-US" sz="1400" b="1" i="1" dirty="0" err="1"/>
              <a:t>Usuarios</a:t>
            </a:r>
            <a:endParaRPr lang="en-US" sz="1400" b="1" i="1" dirty="0"/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sz="1400" b="1" i="1" dirty="0" err="1"/>
              <a:t>Manejo</a:t>
            </a:r>
            <a:r>
              <a:rPr lang="en-US" sz="1400" b="1" i="1" dirty="0"/>
              <a:t> de </a:t>
            </a:r>
            <a:r>
              <a:rPr lang="en-US" sz="1400" b="1" i="1" dirty="0" err="1"/>
              <a:t>Permisos</a:t>
            </a:r>
            <a:r>
              <a:rPr lang="en-US" sz="1400" b="1" i="1" dirty="0"/>
              <a:t> y </a:t>
            </a:r>
            <a:r>
              <a:rPr lang="en-US" sz="1400" b="1" i="1" dirty="0" err="1"/>
              <a:t>Autorizaciones</a:t>
            </a:r>
            <a:endParaRPr lang="en-US" sz="1400" b="1" i="1" dirty="0"/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sz="1400" b="1" i="1" dirty="0"/>
              <a:t>Parametrizaciones de </a:t>
            </a:r>
            <a:r>
              <a:rPr lang="en-US" sz="1400" b="1" i="1" dirty="0" err="1"/>
              <a:t>formulario</a:t>
            </a:r>
            <a:endParaRPr lang="en-US" sz="1400" b="1" i="1" dirty="0"/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sz="1400" b="1" i="1" dirty="0" err="1"/>
              <a:t>Numeraciones</a:t>
            </a:r>
            <a:r>
              <a:rPr lang="en-US" sz="1400" b="1" i="1" dirty="0"/>
              <a:t> de </a:t>
            </a:r>
            <a:r>
              <a:rPr lang="en-US" sz="1400" b="1" i="1" dirty="0" err="1"/>
              <a:t>documento</a:t>
            </a:r>
            <a:endParaRPr lang="en-US" sz="1400" b="1" i="1" dirty="0"/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sz="1400" b="1" i="1" dirty="0" err="1"/>
              <a:t>Proceso</a:t>
            </a:r>
            <a:r>
              <a:rPr lang="en-US" sz="1400" b="1" i="1" dirty="0"/>
              <a:t> de </a:t>
            </a:r>
            <a:r>
              <a:rPr lang="en-US" sz="1400" b="1" i="1" dirty="0" err="1"/>
              <a:t>Aprobacion</a:t>
            </a:r>
            <a:endParaRPr lang="en-US" sz="1400" b="1" i="1" dirty="0"/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sz="1400" b="1" i="1" dirty="0"/>
              <a:t>Gestion de Cockpit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s-MX" sz="1400" b="1" i="1" dirty="0"/>
              <a:t>Tablas / Campos / Objetos de Usuario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sz="1400" b="1" i="1" dirty="0"/>
              <a:t>Query Manager</a:t>
            </a:r>
            <a:endParaRPr lang="es-MX" sz="1400" b="1" i="1" dirty="0"/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s-MX" sz="1400" b="1" i="1" dirty="0"/>
              <a:t>Búsquedas Formateadas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s-MX" sz="1400" b="1" i="1" dirty="0"/>
              <a:t>Gestión de alarma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s-MX" sz="1400" b="1" i="1" dirty="0"/>
              <a:t>Administraci</a:t>
            </a:r>
            <a:r>
              <a:rPr lang="es-ES" sz="1400" b="1" i="1" dirty="0" err="1"/>
              <a:t>ón</a:t>
            </a:r>
            <a:r>
              <a:rPr lang="es-ES" sz="1400" b="1" i="1" dirty="0"/>
              <a:t> RSP</a:t>
            </a:r>
            <a:endParaRPr lang="es-MX" sz="1400" b="1" i="1" dirty="0"/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s-MX" sz="1400" b="1" i="1" dirty="0"/>
              <a:t>Data Transfer Workbench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s-MX" sz="1400" b="1" i="1" dirty="0"/>
              <a:t>Crystal Reports y PLD</a:t>
            </a:r>
            <a:endParaRPr lang="es-ES" sz="1400" b="1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pPr eaLnBrk="1" hangingPunct="1"/>
            <a:r>
              <a:rPr lang="es-MX"/>
              <a:t>Usuarios</a:t>
            </a:r>
            <a:endParaRPr lang="en-US"/>
          </a:p>
        </p:txBody>
      </p:sp>
      <p:sp>
        <p:nvSpPr>
          <p:cNvPr id="7172" name="3 CuadroTexto"/>
          <p:cNvSpPr txBox="1">
            <a:spLocks noChangeArrowheads="1"/>
          </p:cNvSpPr>
          <p:nvPr/>
        </p:nvSpPr>
        <p:spPr bwMode="auto">
          <a:xfrm>
            <a:off x="101600" y="797606"/>
            <a:ext cx="4581979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b="1" i="1" dirty="0" err="1"/>
              <a:t>Superusuario</a:t>
            </a:r>
            <a:r>
              <a:rPr lang="en-US" b="1" i="1" dirty="0"/>
              <a:t>: </a:t>
            </a:r>
            <a:r>
              <a:rPr lang="en-US" b="1" i="1" dirty="0" err="1"/>
              <a:t>Acceso</a:t>
            </a:r>
            <a:r>
              <a:rPr lang="en-US" b="1" i="1" dirty="0"/>
              <a:t> total</a:t>
            </a:r>
          </a:p>
          <a:p>
            <a:r>
              <a:rPr lang="es-ES" b="1" i="1" dirty="0" err="1"/>
              <a:t>Ejemplo:manager</a:t>
            </a:r>
            <a:r>
              <a:rPr lang="es-ES" b="1" i="1" dirty="0"/>
              <a:t> </a:t>
            </a:r>
          </a:p>
          <a:p>
            <a:r>
              <a:rPr lang="es-ES" b="1" i="1" dirty="0"/>
              <a:t>(Licencia Profesional)</a:t>
            </a:r>
          </a:p>
          <a:p>
            <a:endParaRPr lang="en-US" b="1" i="1" dirty="0"/>
          </a:p>
          <a:p>
            <a:pPr>
              <a:buFont typeface="Arial" charset="0"/>
              <a:buChar char="•"/>
            </a:pPr>
            <a:r>
              <a:rPr lang="en-US" b="1" i="1" dirty="0"/>
              <a:t>Regular</a:t>
            </a:r>
          </a:p>
          <a:p>
            <a:endParaRPr lang="en-US" b="1" i="1" dirty="0"/>
          </a:p>
          <a:p>
            <a:pPr>
              <a:buFont typeface="Arial" charset="0"/>
              <a:buChar char="•"/>
            </a:pPr>
            <a:r>
              <a:rPr lang="en-US" b="1" i="1" dirty="0" err="1"/>
              <a:t>Móvil</a:t>
            </a:r>
            <a:endParaRPr lang="en-US" b="1" i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8D8E46-2207-484F-B789-BCE38F6E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341" y="797606"/>
            <a:ext cx="4733925" cy="495030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pPr eaLnBrk="1" hangingPunct="1"/>
            <a:r>
              <a:rPr lang="es-MX" dirty="0"/>
              <a:t>Atajo gestión usuarios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t="26842" r="16224" b="23810"/>
          <a:stretch/>
        </p:blipFill>
        <p:spPr bwMode="auto">
          <a:xfrm>
            <a:off x="261257" y="1175657"/>
            <a:ext cx="8417132" cy="3817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405297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r>
              <a:rPr lang="en-US"/>
              <a:t>Autorizaciones Generales</a:t>
            </a:r>
          </a:p>
        </p:txBody>
      </p:sp>
      <p:cxnSp>
        <p:nvCxnSpPr>
          <p:cNvPr id="7" name="6 Conector recto de flecha"/>
          <p:cNvCxnSpPr/>
          <p:nvPr/>
        </p:nvCxnSpPr>
        <p:spPr>
          <a:xfrm flipH="1" flipV="1">
            <a:off x="192200" y="1180987"/>
            <a:ext cx="338818" cy="78592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7 CuadroTexto"/>
          <p:cNvSpPr txBox="1">
            <a:spLocks noChangeArrowheads="1"/>
          </p:cNvSpPr>
          <p:nvPr/>
        </p:nvSpPr>
        <p:spPr bwMode="auto">
          <a:xfrm>
            <a:off x="0" y="798967"/>
            <a:ext cx="31486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 dirty="0" err="1"/>
              <a:t>Usuarios</a:t>
            </a:r>
            <a:r>
              <a:rPr lang="en-US" sz="1600" b="1" i="1" dirty="0"/>
              <a:t> o </a:t>
            </a:r>
            <a:r>
              <a:rPr lang="en-US" sz="1600" b="1" i="1" dirty="0" err="1"/>
              <a:t>Grupos</a:t>
            </a:r>
            <a:r>
              <a:rPr lang="en-US" sz="1600" b="1" i="1" dirty="0"/>
              <a:t> de </a:t>
            </a:r>
            <a:r>
              <a:rPr lang="en-US" sz="1600" b="1" i="1" dirty="0" err="1"/>
              <a:t>Usuario</a:t>
            </a:r>
            <a:endParaRPr lang="en-US" sz="1600" b="1" i="1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6002338" y="2257425"/>
            <a:ext cx="1254125" cy="635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1" name="16 CuadroTexto"/>
          <p:cNvSpPr txBox="1">
            <a:spLocks noChangeArrowheads="1"/>
          </p:cNvSpPr>
          <p:nvPr/>
        </p:nvSpPr>
        <p:spPr bwMode="auto">
          <a:xfrm>
            <a:off x="6002338" y="6117999"/>
            <a:ext cx="15017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i="1"/>
              <a:t>Nivel de Autorizacion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2" t="11357" r="5850" b="9562"/>
          <a:stretch/>
        </p:blipFill>
        <p:spPr bwMode="auto">
          <a:xfrm>
            <a:off x="696686" y="1180987"/>
            <a:ext cx="7895794" cy="4703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20326" y="1326702"/>
            <a:ext cx="942975" cy="4411662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8 Rectángulo"/>
          <p:cNvSpPr/>
          <p:nvPr/>
        </p:nvSpPr>
        <p:spPr>
          <a:xfrm>
            <a:off x="4390006" y="1741035"/>
            <a:ext cx="798512" cy="2816225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3 Conector recto de flecha"/>
          <p:cNvCxnSpPr/>
          <p:nvPr/>
        </p:nvCxnSpPr>
        <p:spPr>
          <a:xfrm>
            <a:off x="4978400" y="4688114"/>
            <a:ext cx="1023938" cy="14298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r>
              <a:rPr lang="en-US" dirty="0" err="1"/>
              <a:t>Atajo</a:t>
            </a:r>
            <a:r>
              <a:rPr lang="en-US" dirty="0"/>
              <a:t> </a:t>
            </a:r>
            <a:r>
              <a:rPr lang="en-US" dirty="0" err="1"/>
              <a:t>Autorizaciones</a:t>
            </a:r>
            <a:r>
              <a:rPr lang="en-US" dirty="0"/>
              <a:t> </a:t>
            </a:r>
            <a:r>
              <a:rPr lang="en-US" dirty="0" err="1"/>
              <a:t>Generales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6" t="11310" r="5627" b="12897"/>
          <a:stretch/>
        </p:blipFill>
        <p:spPr bwMode="auto">
          <a:xfrm>
            <a:off x="537030" y="985805"/>
            <a:ext cx="7866742" cy="463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612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r>
              <a:rPr lang="en-US" dirty="0"/>
              <a:t>Parametrizaciones de Formulario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" t="11356" r="7969" b="9356"/>
          <a:stretch/>
        </p:blipFill>
        <p:spPr bwMode="auto">
          <a:xfrm>
            <a:off x="153420" y="943429"/>
            <a:ext cx="8801894" cy="492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10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r>
              <a:rPr lang="en-US" dirty="0"/>
              <a:t>Parametrizaciones de Formulario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4" t="-1" r="20686" b="45040"/>
          <a:stretch/>
        </p:blipFill>
        <p:spPr bwMode="auto">
          <a:xfrm>
            <a:off x="932873" y="822037"/>
            <a:ext cx="7286171" cy="4020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2000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r>
              <a:rPr lang="en-US" dirty="0"/>
              <a:t>Parametrizaciones de Formulario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" t="10714" r="9419" b="12302"/>
          <a:stretch/>
        </p:blipFill>
        <p:spPr bwMode="auto">
          <a:xfrm>
            <a:off x="100145" y="1190167"/>
            <a:ext cx="8869687" cy="4339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686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r>
              <a:rPr lang="en-US" dirty="0" err="1"/>
              <a:t>Numeraciones</a:t>
            </a:r>
            <a:r>
              <a:rPr lang="en-US" dirty="0"/>
              <a:t> de </a:t>
            </a:r>
            <a:r>
              <a:rPr lang="en-US" dirty="0" err="1"/>
              <a:t>Documentos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" t="11563" r="39762" b="9563"/>
          <a:stretch/>
        </p:blipFill>
        <p:spPr bwMode="auto">
          <a:xfrm>
            <a:off x="957942" y="812801"/>
            <a:ext cx="6763658" cy="4940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127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r>
              <a:rPr lang="en-US" dirty="0" err="1"/>
              <a:t>Numeraciones</a:t>
            </a:r>
            <a:r>
              <a:rPr lang="en-US" dirty="0"/>
              <a:t> de </a:t>
            </a:r>
            <a:r>
              <a:rPr lang="en-US" dirty="0" err="1"/>
              <a:t>Documentos</a:t>
            </a:r>
            <a:r>
              <a:rPr lang="en-US" dirty="0"/>
              <a:t>(Series)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" t="11562" r="28718" b="8531"/>
          <a:stretch/>
        </p:blipFill>
        <p:spPr bwMode="auto">
          <a:xfrm>
            <a:off x="537029" y="914400"/>
            <a:ext cx="7852228" cy="491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3702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155E8-46D3-4D80-8F4D-38FFB1C5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Proceso de Aprobación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62C3E58-BB12-488D-8E8A-3E9F3A59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83" y="993913"/>
            <a:ext cx="7736081" cy="447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53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A456C-1154-4357-A88F-95EEE694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Proceso de Aprobación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B45C97-32CB-4BD4-991F-3F433E07F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0309"/>
            <a:ext cx="3055746" cy="327266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EAB59D-118D-4834-B209-F2797773C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549" y="907395"/>
            <a:ext cx="5007251" cy="504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11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A456C-1154-4357-A88F-95EEE694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Proceso de Aprobación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546DAA-8E1D-4F2E-8B17-29C7E5947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2" y="1073426"/>
            <a:ext cx="3703363" cy="46636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237F754-F7BF-449D-A754-B4C92B1DE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671" y="792163"/>
            <a:ext cx="4797286" cy="494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79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2057400" y="127000"/>
            <a:ext cx="6629400" cy="563563"/>
          </a:xfrm>
        </p:spPr>
        <p:txBody>
          <a:bodyPr/>
          <a:lstStyle/>
          <a:p>
            <a:r>
              <a:rPr lang="en-US" dirty="0" err="1"/>
              <a:t>Gestion</a:t>
            </a:r>
            <a:r>
              <a:rPr lang="en-US" dirty="0"/>
              <a:t> de Cockpit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" t="11562" b="8531"/>
          <a:stretch/>
        </p:blipFill>
        <p:spPr bwMode="auto">
          <a:xfrm>
            <a:off x="130630" y="870803"/>
            <a:ext cx="8897257" cy="5167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295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6900" y="228600"/>
            <a:ext cx="8089900" cy="563563"/>
          </a:xfrm>
        </p:spPr>
        <p:txBody>
          <a:bodyPr/>
          <a:lstStyle/>
          <a:p>
            <a:r>
              <a:rPr lang="es-VE" dirty="0"/>
              <a:t>Estandarización de campos y tablas de usuario</a:t>
            </a:r>
            <a:endParaRPr lang="es-ES" dirty="0"/>
          </a:p>
        </p:txBody>
      </p:sp>
      <p:sp>
        <p:nvSpPr>
          <p:cNvPr id="2" name="1 CuadroTexto"/>
          <p:cNvSpPr txBox="1"/>
          <p:nvPr/>
        </p:nvSpPr>
        <p:spPr>
          <a:xfrm>
            <a:off x="246743" y="812803"/>
            <a:ext cx="862148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TABLAS DE USUARIO</a:t>
            </a:r>
          </a:p>
          <a:p>
            <a:pPr marL="285750" indent="-285750">
              <a:buFont typeface="Arial" charset="0"/>
              <a:buChar char="•"/>
            </a:pPr>
            <a:r>
              <a:rPr lang="es-PE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Toda tabla de usuario creada para cumplir con la localización de cada país comienza con EXX</a:t>
            </a:r>
          </a:p>
          <a:p>
            <a:pPr marL="285750" indent="-285750">
              <a:buFont typeface="Arial" charset="0"/>
              <a:buChar char="•"/>
            </a:pPr>
            <a:endParaRPr lang="es-PE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s-PE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Toda tabla de usuario que EXXIS haya creado para cumplir con la necesidad del cliente comienza con EX + La primera letra del nombre del cliente. </a:t>
            </a:r>
          </a:p>
          <a:p>
            <a:pPr marL="285750" indent="-285750">
              <a:buFont typeface="Arial" charset="0"/>
              <a:buChar char="•"/>
            </a:pPr>
            <a:endParaRPr lang="es-PE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s-PE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Toda Tabla que el cliente cree para necesidades de la empresa deberá comenzar con los 3 primeros caracteres del nombre de la empresa</a:t>
            </a:r>
          </a:p>
          <a:p>
            <a:pPr marL="285750" indent="-285750">
              <a:buFont typeface="Arial" charset="0"/>
              <a:buChar char="•"/>
            </a:pPr>
            <a:endParaRPr lang="es-PE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s-PE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Luego se deben completar con 6 caracteres por ejemplo: EXE_CABMET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" t="16931" r="41880" b="60784"/>
          <a:stretch/>
        </p:blipFill>
        <p:spPr bwMode="auto">
          <a:xfrm>
            <a:off x="507998" y="4252687"/>
            <a:ext cx="8005844" cy="1756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0105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6900" y="228600"/>
            <a:ext cx="8089900" cy="563563"/>
          </a:xfrm>
        </p:spPr>
        <p:txBody>
          <a:bodyPr/>
          <a:lstStyle/>
          <a:p>
            <a:r>
              <a:rPr lang="es-VE" dirty="0"/>
              <a:t>Estandarización de campos y tablas de usuario</a:t>
            </a:r>
            <a:endParaRPr lang="es-ES" dirty="0"/>
          </a:p>
        </p:txBody>
      </p:sp>
      <p:sp>
        <p:nvSpPr>
          <p:cNvPr id="2" name="1 CuadroTexto"/>
          <p:cNvSpPr txBox="1"/>
          <p:nvPr/>
        </p:nvSpPr>
        <p:spPr>
          <a:xfrm>
            <a:off x="246743" y="812803"/>
            <a:ext cx="86214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CAMPOS DE USUARIO</a:t>
            </a:r>
          </a:p>
          <a:p>
            <a:pPr marL="285750" indent="-285750">
              <a:buFont typeface="Arial" charset="0"/>
              <a:buChar char="•"/>
            </a:pPr>
            <a:r>
              <a:rPr lang="es-PE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Toda campo de usuario creada para cumplir con la localización de cada país comienza con EXX</a:t>
            </a:r>
          </a:p>
          <a:p>
            <a:pPr marL="285750" indent="-285750">
              <a:buFont typeface="Arial" charset="0"/>
              <a:buChar char="•"/>
            </a:pPr>
            <a:endParaRPr lang="es-PE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s-PE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Todo campo de usuario que EXXIS haya creado para cumplir con la necesidad del cliente comienza con EX + La primera letra del nombre del cliente</a:t>
            </a:r>
          </a:p>
          <a:p>
            <a:pPr marL="285750" indent="-285750">
              <a:buFont typeface="Arial" charset="0"/>
              <a:buChar char="•"/>
            </a:pPr>
            <a:endParaRPr lang="es-PE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s-PE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Luego se debe completar con 6 dígitos por ejemplo: EXE_RIESGO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" t="44600" r="50000" b="34752"/>
          <a:stretch/>
        </p:blipFill>
        <p:spPr bwMode="auto">
          <a:xfrm>
            <a:off x="368718" y="3181672"/>
            <a:ext cx="8410120" cy="1996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2601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s-VE"/>
              <a:t>Tablas definidas por el usuario</a:t>
            </a:r>
            <a:endParaRPr lang="es-ES"/>
          </a:p>
        </p:txBody>
      </p:sp>
      <p:sp>
        <p:nvSpPr>
          <p:cNvPr id="18435" name="AutoShape-4"/>
          <p:cNvSpPr>
            <a:spLocks noChangeArrowheads="1"/>
          </p:cNvSpPr>
          <p:nvPr/>
        </p:nvSpPr>
        <p:spPr bwMode="auto">
          <a:xfrm>
            <a:off x="5568950" y="1687513"/>
            <a:ext cx="3189288" cy="3998912"/>
          </a:xfrm>
          <a:prstGeom prst="can">
            <a:avLst>
              <a:gd name="adj" fmla="val 31346"/>
            </a:avLst>
          </a:prstGeom>
          <a:gradFill rotWithShape="0">
            <a:gsLst>
              <a:gs pos="0">
                <a:srgbClr val="FBFBFB"/>
              </a:gs>
              <a:gs pos="50000">
                <a:srgbClr val="DDDDDD"/>
              </a:gs>
              <a:gs pos="100000">
                <a:srgbClr val="FBFBFB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32772" name="AutoShape 4"/>
          <p:cNvSpPr>
            <a:spLocks noChangeArrowheads="1"/>
          </p:cNvSpPr>
          <p:nvPr/>
        </p:nvSpPr>
        <p:spPr bwMode="auto">
          <a:xfrm rot="2442123">
            <a:off x="4627563" y="2714625"/>
            <a:ext cx="1290637" cy="566738"/>
          </a:xfrm>
          <a:prstGeom prst="rightArrow">
            <a:avLst>
              <a:gd name="adj1" fmla="val 50000"/>
              <a:gd name="adj2" fmla="val 56933"/>
            </a:avLst>
          </a:prstGeom>
          <a:gradFill rotWithShape="0">
            <a:gsLst>
              <a:gs pos="0">
                <a:schemeClr val="bg2">
                  <a:gamma/>
                  <a:tint val="18039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8437" name="Picture-15" descr="BenutzerdefinierteFelder 2_leer"/>
          <p:cNvPicPr>
            <a:picLocks noChangeAspect="1" noChangeArrowheads="1"/>
          </p:cNvPicPr>
          <p:nvPr/>
        </p:nvPicPr>
        <p:blipFill>
          <a:blip r:embed="rId2"/>
          <a:srcRect r="31511"/>
          <a:stretch>
            <a:fillRect/>
          </a:stretch>
        </p:blipFill>
        <p:spPr bwMode="auto">
          <a:xfrm>
            <a:off x="241300" y="1574800"/>
            <a:ext cx="461962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Text-Box-16"/>
          <p:cNvSpPr txBox="1">
            <a:spLocks noChangeArrowheads="1"/>
          </p:cNvSpPr>
          <p:nvPr/>
        </p:nvSpPr>
        <p:spPr bwMode="auto">
          <a:xfrm>
            <a:off x="596900" y="1612900"/>
            <a:ext cx="56515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Code</a:t>
            </a:r>
            <a:endParaRPr lang="de-DE" sz="1200" b="1"/>
          </a:p>
        </p:txBody>
      </p:sp>
      <p:sp>
        <p:nvSpPr>
          <p:cNvPr id="18439" name="Text-Box-17"/>
          <p:cNvSpPr txBox="1">
            <a:spLocks noChangeArrowheads="1"/>
          </p:cNvSpPr>
          <p:nvPr/>
        </p:nvSpPr>
        <p:spPr bwMode="auto">
          <a:xfrm>
            <a:off x="1668463" y="1612900"/>
            <a:ext cx="639762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Name</a:t>
            </a:r>
            <a:r>
              <a:rPr lang="en-GB" sz="1200" b="1"/>
              <a:t> </a:t>
            </a:r>
            <a:endParaRPr lang="de-DE" sz="1200" b="1"/>
          </a:p>
        </p:txBody>
      </p:sp>
      <p:sp>
        <p:nvSpPr>
          <p:cNvPr id="18440" name="Text-Box-18"/>
          <p:cNvSpPr txBox="1">
            <a:spLocks noChangeArrowheads="1"/>
          </p:cNvSpPr>
          <p:nvPr/>
        </p:nvSpPr>
        <p:spPr bwMode="auto">
          <a:xfrm>
            <a:off x="3024188" y="1612900"/>
            <a:ext cx="109855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User Field 	</a:t>
            </a:r>
            <a:endParaRPr lang="de-DE" sz="1200" b="1"/>
          </a:p>
        </p:txBody>
      </p:sp>
      <p:sp>
        <p:nvSpPr>
          <p:cNvPr id="18441" name="Text-Box-19"/>
          <p:cNvSpPr txBox="1">
            <a:spLocks noChangeArrowheads="1"/>
          </p:cNvSpPr>
          <p:nvPr/>
        </p:nvSpPr>
        <p:spPr bwMode="auto">
          <a:xfrm>
            <a:off x="3937000" y="1612900"/>
            <a:ext cx="92075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User Field</a:t>
            </a:r>
            <a:endParaRPr lang="de-DE" sz="1200" b="1"/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258763" y="1244600"/>
            <a:ext cx="4619625" cy="349250"/>
          </a:xfrm>
          <a:prstGeom prst="rect">
            <a:avLst/>
          </a:prstGeom>
          <a:solidFill>
            <a:srgbClr val="00257E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600" b="1">
                <a:solidFill>
                  <a:schemeClr val="bg1"/>
                </a:solidFill>
              </a:rPr>
              <a:t>User- defined Table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6115050" y="1809750"/>
            <a:ext cx="2022475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1600" b="1"/>
              <a:t>Company Database</a:t>
            </a:r>
            <a:endParaRPr lang="en-US" sz="1600" b="1"/>
          </a:p>
        </p:txBody>
      </p:sp>
      <p:pic>
        <p:nvPicPr>
          <p:cNvPr id="18444" name="Picture-15" descr="BenutzerdefinierteFelder 2_leer"/>
          <p:cNvPicPr>
            <a:picLocks noChangeAspect="1" noChangeArrowheads="1"/>
          </p:cNvPicPr>
          <p:nvPr/>
        </p:nvPicPr>
        <p:blipFill>
          <a:blip r:embed="rId3"/>
          <a:srcRect r="31511"/>
          <a:stretch>
            <a:fillRect/>
          </a:stretch>
        </p:blipFill>
        <p:spPr bwMode="auto">
          <a:xfrm>
            <a:off x="5870575" y="3375025"/>
            <a:ext cx="74771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6618288" y="3289300"/>
            <a:ext cx="1746250" cy="5869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600" b="1" dirty="0">
                <a:solidFill>
                  <a:srgbClr val="FF0000"/>
                </a:solidFill>
              </a:rPr>
              <a:t>@</a:t>
            </a:r>
            <a:r>
              <a:rPr lang="de-DE" sz="1600" b="1" dirty="0"/>
              <a:t>User-defined Table</a:t>
            </a:r>
            <a:endParaRPr lang="en-US" sz="1600" b="1" dirty="0"/>
          </a:p>
        </p:txBody>
      </p:sp>
      <p:grpSp>
        <p:nvGrpSpPr>
          <p:cNvPr id="18446" name="Group 14"/>
          <p:cNvGrpSpPr>
            <a:grpSpLocks/>
          </p:cNvGrpSpPr>
          <p:nvPr/>
        </p:nvGrpSpPr>
        <p:grpSpPr bwMode="auto">
          <a:xfrm>
            <a:off x="5865813" y="3856038"/>
            <a:ext cx="2266950" cy="361950"/>
            <a:chOff x="380" y="1757"/>
            <a:chExt cx="1428" cy="228"/>
          </a:xfrm>
        </p:grpSpPr>
        <p:pic>
          <p:nvPicPr>
            <p:cNvPr id="18461" name="Picture-15" descr="BenutzerdefinierteFelder 2_leer"/>
            <p:cNvPicPr>
              <a:picLocks noChangeAspect="1" noChangeArrowheads="1"/>
            </p:cNvPicPr>
            <p:nvPr/>
          </p:nvPicPr>
          <p:blipFill>
            <a:blip r:embed="rId3"/>
            <a:srcRect r="31511"/>
            <a:stretch>
              <a:fillRect/>
            </a:stretch>
          </p:blipFill>
          <p:spPr bwMode="auto">
            <a:xfrm>
              <a:off x="380" y="1757"/>
              <a:ext cx="471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62" name="Text Box 16"/>
            <p:cNvSpPr txBox="1">
              <a:spLocks noChangeArrowheads="1"/>
            </p:cNvSpPr>
            <p:nvPr/>
          </p:nvSpPr>
          <p:spPr bwMode="auto">
            <a:xfrm>
              <a:off x="851" y="1757"/>
              <a:ext cx="95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e-DE" sz="1600" b="1"/>
                <a:t>OCRD</a:t>
              </a:r>
              <a:endParaRPr lang="en-US" sz="1600" b="1"/>
            </a:p>
          </p:txBody>
        </p:sp>
      </p:grpSp>
      <p:grpSp>
        <p:nvGrpSpPr>
          <p:cNvPr id="18447" name="Group 17"/>
          <p:cNvGrpSpPr>
            <a:grpSpLocks/>
          </p:cNvGrpSpPr>
          <p:nvPr/>
        </p:nvGrpSpPr>
        <p:grpSpPr bwMode="auto">
          <a:xfrm>
            <a:off x="5875338" y="4265613"/>
            <a:ext cx="2266950" cy="361950"/>
            <a:chOff x="380" y="1757"/>
            <a:chExt cx="1428" cy="228"/>
          </a:xfrm>
        </p:grpSpPr>
        <p:pic>
          <p:nvPicPr>
            <p:cNvPr id="18459" name="Picture-15" descr="BenutzerdefinierteFelder 2_leer"/>
            <p:cNvPicPr>
              <a:picLocks noChangeAspect="1" noChangeArrowheads="1"/>
            </p:cNvPicPr>
            <p:nvPr/>
          </p:nvPicPr>
          <p:blipFill>
            <a:blip r:embed="rId3"/>
            <a:srcRect r="31511"/>
            <a:stretch>
              <a:fillRect/>
            </a:stretch>
          </p:blipFill>
          <p:spPr bwMode="auto">
            <a:xfrm>
              <a:off x="380" y="1757"/>
              <a:ext cx="471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60" name="Text Box 19"/>
            <p:cNvSpPr txBox="1">
              <a:spLocks noChangeArrowheads="1"/>
            </p:cNvSpPr>
            <p:nvPr/>
          </p:nvSpPr>
          <p:spPr bwMode="auto">
            <a:xfrm>
              <a:off x="851" y="1757"/>
              <a:ext cx="95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e-DE" sz="1600" b="1"/>
                <a:t>OINV</a:t>
              </a:r>
              <a:endParaRPr lang="en-US" sz="1600" b="1"/>
            </a:p>
          </p:txBody>
        </p:sp>
      </p:grpSp>
      <p:grpSp>
        <p:nvGrpSpPr>
          <p:cNvPr id="18448" name="Group 20"/>
          <p:cNvGrpSpPr>
            <a:grpSpLocks/>
          </p:cNvGrpSpPr>
          <p:nvPr/>
        </p:nvGrpSpPr>
        <p:grpSpPr bwMode="auto">
          <a:xfrm>
            <a:off x="5884863" y="4689475"/>
            <a:ext cx="2266950" cy="361950"/>
            <a:chOff x="380" y="1757"/>
            <a:chExt cx="1428" cy="228"/>
          </a:xfrm>
        </p:grpSpPr>
        <p:pic>
          <p:nvPicPr>
            <p:cNvPr id="18457" name="Picture-15" descr="BenutzerdefinierteFelder 2_leer"/>
            <p:cNvPicPr>
              <a:picLocks noChangeAspect="1" noChangeArrowheads="1"/>
            </p:cNvPicPr>
            <p:nvPr/>
          </p:nvPicPr>
          <p:blipFill>
            <a:blip r:embed="rId3"/>
            <a:srcRect r="31511"/>
            <a:stretch>
              <a:fillRect/>
            </a:stretch>
          </p:blipFill>
          <p:spPr bwMode="auto">
            <a:xfrm>
              <a:off x="380" y="1757"/>
              <a:ext cx="471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58" name="Text Box 22"/>
            <p:cNvSpPr txBox="1">
              <a:spLocks noChangeArrowheads="1"/>
            </p:cNvSpPr>
            <p:nvPr/>
          </p:nvSpPr>
          <p:spPr bwMode="auto">
            <a:xfrm>
              <a:off x="851" y="1757"/>
              <a:ext cx="95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e-DE" sz="1600" b="1"/>
                <a:t>OTM</a:t>
              </a:r>
              <a:endParaRPr lang="en-US" sz="1600" b="1"/>
            </a:p>
          </p:txBody>
        </p:sp>
      </p:grpSp>
      <p:sp>
        <p:nvSpPr>
          <p:cNvPr id="18449" name="Text Box 23"/>
          <p:cNvSpPr txBox="1">
            <a:spLocks noChangeArrowheads="1"/>
          </p:cNvSpPr>
          <p:nvPr/>
        </p:nvSpPr>
        <p:spPr bwMode="auto">
          <a:xfrm>
            <a:off x="5780088" y="2957513"/>
            <a:ext cx="1289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600" b="1"/>
              <a:t>Tablas</a:t>
            </a:r>
            <a:endParaRPr lang="en-US" sz="1600" b="1"/>
          </a:p>
        </p:txBody>
      </p:sp>
      <p:pic>
        <p:nvPicPr>
          <p:cNvPr id="18450" name="Picture-6" descr="Benutzerdefinierte_Felder_le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1300" y="3418681"/>
            <a:ext cx="4681538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51" name="Text-Box-7"/>
          <p:cNvSpPr txBox="1">
            <a:spLocks noChangeArrowheads="1"/>
          </p:cNvSpPr>
          <p:nvPr/>
        </p:nvSpPr>
        <p:spPr bwMode="auto">
          <a:xfrm>
            <a:off x="3181350" y="4341813"/>
            <a:ext cx="809625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000" b="1">
                <a:solidFill>
                  <a:srgbClr val="000000"/>
                </a:solidFill>
                <a:cs typeface="Times New Roman" pitchFamily="18" charset="0"/>
              </a:rPr>
              <a:t>New Field</a:t>
            </a:r>
            <a:r>
              <a:rPr lang="en-GB" sz="1000" b="1"/>
              <a:t> </a:t>
            </a:r>
            <a:endParaRPr lang="de-DE" sz="1000" b="1"/>
          </a:p>
        </p:txBody>
      </p:sp>
      <p:sp>
        <p:nvSpPr>
          <p:cNvPr id="18452" name="Text-Box-8"/>
          <p:cNvSpPr txBox="1">
            <a:spLocks noChangeArrowheads="1"/>
          </p:cNvSpPr>
          <p:nvPr/>
        </p:nvSpPr>
        <p:spPr bwMode="auto">
          <a:xfrm>
            <a:off x="3686175" y="4013200"/>
            <a:ext cx="8858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Category</a:t>
            </a:r>
            <a:r>
              <a:rPr lang="en-GB" sz="1200" b="1"/>
              <a:t> </a:t>
            </a:r>
            <a:endParaRPr lang="de-DE" sz="1200" b="1"/>
          </a:p>
        </p:txBody>
      </p:sp>
      <p:sp>
        <p:nvSpPr>
          <p:cNvPr id="18453" name="Text-Box-9"/>
          <p:cNvSpPr txBox="1">
            <a:spLocks noChangeArrowheads="1"/>
          </p:cNvSpPr>
          <p:nvPr/>
        </p:nvSpPr>
        <p:spPr bwMode="auto">
          <a:xfrm>
            <a:off x="503238" y="3898220"/>
            <a:ext cx="2520950" cy="617538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000" b="1" dirty="0">
                <a:cs typeface="Times New Roman" pitchFamily="18" charset="0"/>
              </a:rPr>
              <a:t>Campos de </a:t>
            </a:r>
            <a:r>
              <a:rPr lang="en-US" sz="2000" b="1" dirty="0" err="1">
                <a:cs typeface="Times New Roman" pitchFamily="18" charset="0"/>
              </a:rPr>
              <a:t>Objetos</a:t>
            </a:r>
            <a:r>
              <a:rPr lang="en-US" sz="2000" b="1" dirty="0">
                <a:cs typeface="Times New Roman" pitchFamily="18" charset="0"/>
              </a:rPr>
              <a:t> </a:t>
            </a:r>
            <a:r>
              <a:rPr lang="en-US" sz="2000" b="1" dirty="0" err="1">
                <a:cs typeface="Times New Roman" pitchFamily="18" charset="0"/>
              </a:rPr>
              <a:t>Estándar</a:t>
            </a:r>
            <a:endParaRPr lang="de-DE" sz="2000" b="1" dirty="0">
              <a:cs typeface="Times New Roman" pitchFamily="18" charset="0"/>
            </a:endParaRPr>
          </a:p>
        </p:txBody>
      </p:sp>
      <p:sp>
        <p:nvSpPr>
          <p:cNvPr id="18454" name="Text-Box-11"/>
          <p:cNvSpPr txBox="1">
            <a:spLocks noChangeArrowheads="1"/>
          </p:cNvSpPr>
          <p:nvPr/>
        </p:nvSpPr>
        <p:spPr bwMode="auto">
          <a:xfrm>
            <a:off x="312738" y="4914106"/>
            <a:ext cx="646112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200" b="1" dirty="0">
                <a:solidFill>
                  <a:srgbClr val="000000"/>
                </a:solidFill>
                <a:cs typeface="Times New Roman" pitchFamily="18" charset="0"/>
              </a:rPr>
              <a:t>OK</a:t>
            </a:r>
            <a:r>
              <a:rPr lang="en-GB" sz="1200" b="1" dirty="0"/>
              <a:t> </a:t>
            </a:r>
            <a:endParaRPr lang="de-DE" sz="1200" b="1" dirty="0"/>
          </a:p>
        </p:txBody>
      </p:sp>
      <p:sp>
        <p:nvSpPr>
          <p:cNvPr id="18455" name="Text-Box-12"/>
          <p:cNvSpPr txBox="1">
            <a:spLocks noChangeArrowheads="1"/>
          </p:cNvSpPr>
          <p:nvPr/>
        </p:nvSpPr>
        <p:spPr bwMode="auto">
          <a:xfrm>
            <a:off x="768350" y="4914106"/>
            <a:ext cx="10556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Cancel</a:t>
            </a:r>
            <a:r>
              <a:rPr lang="en-GB" sz="1200" b="1"/>
              <a:t> </a:t>
            </a:r>
            <a:endParaRPr lang="de-DE" sz="1200" b="1"/>
          </a:p>
        </p:txBody>
      </p:sp>
      <p:sp>
        <p:nvSpPr>
          <p:cNvPr id="32798" name="AutoShape 30"/>
          <p:cNvSpPr>
            <a:spLocks noChangeArrowheads="1"/>
          </p:cNvSpPr>
          <p:nvPr/>
        </p:nvSpPr>
        <p:spPr bwMode="auto">
          <a:xfrm rot="-1646536">
            <a:off x="4594225" y="3829050"/>
            <a:ext cx="1208088" cy="493713"/>
          </a:xfrm>
          <a:prstGeom prst="leftRightArrow">
            <a:avLst>
              <a:gd name="adj1" fmla="val 50000"/>
              <a:gd name="adj2" fmla="val 48939"/>
            </a:avLst>
          </a:prstGeom>
          <a:gradFill rotWithShape="0">
            <a:gsLst>
              <a:gs pos="0">
                <a:schemeClr val="bg2"/>
              </a:gs>
              <a:gs pos="50000">
                <a:schemeClr val="bg2">
                  <a:gamma/>
                  <a:tint val="18039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1 CuadroTexto"/>
          <p:cNvSpPr txBox="1"/>
          <p:nvPr/>
        </p:nvSpPr>
        <p:spPr>
          <a:xfrm>
            <a:off x="1988344" y="5264944"/>
            <a:ext cx="2409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rgbClr val="FF0000"/>
                </a:solidFill>
              </a:rPr>
              <a:t>U</a:t>
            </a:r>
            <a:r>
              <a:rPr lang="es-PE" dirty="0"/>
              <a:t>_EXX_USECAM</a:t>
            </a:r>
          </a:p>
        </p:txBody>
      </p:sp>
    </p:spTree>
    <p:extLst>
      <p:ext uri="{BB962C8B-B14F-4D97-AF65-F5344CB8AC3E}">
        <p14:creationId xmlns:p14="http://schemas.microsoft.com/office/powerpoint/2010/main" val="548434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MX"/>
              <a:t>Campos de Usuario</a:t>
            </a:r>
            <a:endParaRPr lang="en-US"/>
          </a:p>
        </p:txBody>
      </p:sp>
      <p:pic>
        <p:nvPicPr>
          <p:cNvPr id="16387" name="Picture-15" descr="BenutzerdefinierteFelder 2_le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2700" y="4157663"/>
            <a:ext cx="6383338" cy="163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8" name="Text-Box-16"/>
          <p:cNvSpPr txBox="1">
            <a:spLocks noChangeArrowheads="1"/>
          </p:cNvSpPr>
          <p:nvPr/>
        </p:nvSpPr>
        <p:spPr bwMode="auto">
          <a:xfrm>
            <a:off x="1619250" y="4197350"/>
            <a:ext cx="6842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de-DE" sz="1200" b="1">
                <a:solidFill>
                  <a:schemeClr val="folHlink"/>
                </a:solidFill>
              </a:rPr>
              <a:t>BP No.</a:t>
            </a:r>
          </a:p>
        </p:txBody>
      </p:sp>
      <p:sp>
        <p:nvSpPr>
          <p:cNvPr id="16389" name="Text-Box-17"/>
          <p:cNvSpPr txBox="1">
            <a:spLocks noChangeArrowheads="1"/>
          </p:cNvSpPr>
          <p:nvPr/>
        </p:nvSpPr>
        <p:spPr bwMode="auto">
          <a:xfrm>
            <a:off x="3008313" y="4197350"/>
            <a:ext cx="639762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Name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6390" name="Text-Box-18"/>
          <p:cNvSpPr txBox="1">
            <a:spLocks noChangeArrowheads="1"/>
          </p:cNvSpPr>
          <p:nvPr/>
        </p:nvSpPr>
        <p:spPr bwMode="auto">
          <a:xfrm>
            <a:off x="3944938" y="4197350"/>
            <a:ext cx="608012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Debit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6391" name="Text-Box-19"/>
          <p:cNvSpPr txBox="1">
            <a:spLocks noChangeArrowheads="1"/>
          </p:cNvSpPr>
          <p:nvPr/>
        </p:nvSpPr>
        <p:spPr bwMode="auto">
          <a:xfrm>
            <a:off x="4813300" y="4197350"/>
            <a:ext cx="6667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Credit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6392" name="Text-Box-20"/>
          <p:cNvSpPr txBox="1">
            <a:spLocks noChangeArrowheads="1"/>
          </p:cNvSpPr>
          <p:nvPr/>
        </p:nvSpPr>
        <p:spPr bwMode="auto">
          <a:xfrm>
            <a:off x="5653088" y="4197350"/>
            <a:ext cx="7508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Due By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6393" name="Text-Box-21"/>
          <p:cNvSpPr txBox="1">
            <a:spLocks noChangeArrowheads="1"/>
          </p:cNvSpPr>
          <p:nvPr/>
        </p:nvSpPr>
        <p:spPr bwMode="auto">
          <a:xfrm>
            <a:off x="6664325" y="4197350"/>
            <a:ext cx="9398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New Field</a:t>
            </a:r>
            <a:r>
              <a:rPr lang="en-GB" sz="1200" b="1"/>
              <a:t> </a:t>
            </a:r>
            <a:endParaRPr lang="de-DE" sz="1200" b="1"/>
          </a:p>
        </p:txBody>
      </p:sp>
      <p:pic>
        <p:nvPicPr>
          <p:cNvPr id="16394" name="Picture-6" descr="Benutzerdefinierte_Felder_le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04913" y="941388"/>
            <a:ext cx="6461125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5" name="Text-Box-7"/>
          <p:cNvSpPr txBox="1">
            <a:spLocks noChangeArrowheads="1"/>
          </p:cNvSpPr>
          <p:nvPr/>
        </p:nvSpPr>
        <p:spPr bwMode="auto">
          <a:xfrm>
            <a:off x="5373688" y="1355725"/>
            <a:ext cx="9398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New Field</a:t>
            </a:r>
            <a:r>
              <a:rPr lang="en-GB" sz="1200" b="1"/>
              <a:t> </a:t>
            </a:r>
            <a:endParaRPr lang="de-DE" sz="1200" b="1"/>
          </a:p>
        </p:txBody>
      </p:sp>
      <p:sp>
        <p:nvSpPr>
          <p:cNvPr id="16396" name="Text-Box-8"/>
          <p:cNvSpPr txBox="1">
            <a:spLocks noChangeArrowheads="1"/>
          </p:cNvSpPr>
          <p:nvPr/>
        </p:nvSpPr>
        <p:spPr bwMode="auto">
          <a:xfrm>
            <a:off x="5989638" y="1008063"/>
            <a:ext cx="885825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Category</a:t>
            </a:r>
            <a:r>
              <a:rPr lang="en-GB" sz="1200" b="1"/>
              <a:t> </a:t>
            </a:r>
            <a:endParaRPr lang="de-DE" sz="1200" b="1"/>
          </a:p>
        </p:txBody>
      </p:sp>
      <p:sp>
        <p:nvSpPr>
          <p:cNvPr id="16397" name="Text-Box-9"/>
          <p:cNvSpPr txBox="1">
            <a:spLocks noChangeArrowheads="1"/>
          </p:cNvSpPr>
          <p:nvPr/>
        </p:nvSpPr>
        <p:spPr bwMode="auto">
          <a:xfrm>
            <a:off x="2033588" y="1528763"/>
            <a:ext cx="2413000" cy="744537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000" b="1">
                <a:solidFill>
                  <a:schemeClr val="folHlink"/>
                </a:solidFill>
                <a:cs typeface="Times New Roman" pitchFamily="18" charset="0"/>
              </a:rPr>
              <a:t>Campos de Objetos Estándar</a:t>
            </a:r>
            <a:endParaRPr lang="de-DE" sz="2000" b="1">
              <a:solidFill>
                <a:schemeClr val="folHlink"/>
              </a:solidFill>
            </a:endParaRPr>
          </a:p>
        </p:txBody>
      </p:sp>
      <p:sp>
        <p:nvSpPr>
          <p:cNvPr id="16398" name="Text-Box-10"/>
          <p:cNvSpPr txBox="1">
            <a:spLocks noChangeArrowheads="1"/>
          </p:cNvSpPr>
          <p:nvPr/>
        </p:nvSpPr>
        <p:spPr bwMode="auto">
          <a:xfrm>
            <a:off x="1462088" y="933450"/>
            <a:ext cx="21383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FFFFFF"/>
                </a:solidFill>
                <a:cs typeface="Times New Roman" pitchFamily="18" charset="0"/>
              </a:rPr>
              <a:t>Maintain Object Data</a:t>
            </a:r>
            <a:r>
              <a:rPr lang="en-GB" sz="1600">
                <a:solidFill>
                  <a:schemeClr val="bg1"/>
                </a:solidFill>
              </a:rPr>
              <a:t> </a:t>
            </a:r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16399" name="Text-Box-11"/>
          <p:cNvSpPr txBox="1">
            <a:spLocks noChangeArrowheads="1"/>
          </p:cNvSpPr>
          <p:nvPr/>
        </p:nvSpPr>
        <p:spPr bwMode="auto">
          <a:xfrm>
            <a:off x="1281113" y="2752725"/>
            <a:ext cx="87947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OK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6400" name="Text-Box-12"/>
          <p:cNvSpPr txBox="1">
            <a:spLocks noChangeArrowheads="1"/>
          </p:cNvSpPr>
          <p:nvPr/>
        </p:nvSpPr>
        <p:spPr bwMode="auto">
          <a:xfrm>
            <a:off x="2195513" y="2738438"/>
            <a:ext cx="855662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Cancel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6401" name="Text-Box-13"/>
          <p:cNvSpPr txBox="1">
            <a:spLocks noChangeArrowheads="1"/>
          </p:cNvSpPr>
          <p:nvPr/>
        </p:nvSpPr>
        <p:spPr bwMode="auto">
          <a:xfrm>
            <a:off x="4152900" y="2754313"/>
            <a:ext cx="10810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Open Table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29714" name="Text-Box-5"/>
          <p:cNvSpPr txBox="1">
            <a:spLocks noChangeArrowheads="1"/>
          </p:cNvSpPr>
          <p:nvPr/>
        </p:nvSpPr>
        <p:spPr bwMode="auto">
          <a:xfrm>
            <a:off x="6923088" y="2646363"/>
            <a:ext cx="2165350" cy="3667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rgbClr val="000000"/>
                </a:solidFill>
                <a:cs typeface="Times New Roman" pitchFamily="18" charset="0"/>
              </a:rPr>
              <a:t>Ventana Adicional</a:t>
            </a:r>
            <a:endParaRPr lang="de-DE" b="1"/>
          </a:p>
        </p:txBody>
      </p:sp>
      <p:sp>
        <p:nvSpPr>
          <p:cNvPr id="29715" name="Text-Box-5"/>
          <p:cNvSpPr txBox="1">
            <a:spLocks noChangeArrowheads="1"/>
          </p:cNvSpPr>
          <p:nvPr/>
        </p:nvSpPr>
        <p:spPr bwMode="auto">
          <a:xfrm>
            <a:off x="6878638" y="4884738"/>
            <a:ext cx="2254250" cy="3667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rgbClr val="000000"/>
                </a:solidFill>
                <a:cs typeface="Times New Roman" pitchFamily="18" charset="0"/>
              </a:rPr>
              <a:t>Columna Adicional</a:t>
            </a:r>
            <a:endParaRPr lang="de-DE" b="1"/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1801092" y="3406775"/>
            <a:ext cx="3851996" cy="4022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de-DE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itchFamily="18" charset="0"/>
              </a:rPr>
              <a:t>Tipos de Campos de Usuario</a:t>
            </a: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5899150" y="3189288"/>
            <a:ext cx="1535113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de-DE" sz="2000" b="1" i="1">
                <a:solidFill>
                  <a:srgbClr val="6699CC"/>
                </a:solidFill>
                <a:cs typeface="Times New Roman" pitchFamily="18" charset="0"/>
              </a:rPr>
              <a:t>Cabecera   </a:t>
            </a:r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5899150" y="3605213"/>
            <a:ext cx="7588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de-DE" sz="2000" b="1" i="1">
                <a:solidFill>
                  <a:srgbClr val="6699CC"/>
                </a:solidFill>
                <a:cs typeface="Times New Roman" pitchFamily="18" charset="0"/>
              </a:rPr>
              <a:t>Filas</a:t>
            </a:r>
          </a:p>
        </p:txBody>
      </p:sp>
      <p:cxnSp>
        <p:nvCxnSpPr>
          <p:cNvPr id="16407" name="AutoShape 23"/>
          <p:cNvCxnSpPr>
            <a:cxnSpLocks noChangeShapeType="1"/>
            <a:stCxn id="16406" idx="3"/>
            <a:endCxn id="29715" idx="0"/>
          </p:cNvCxnSpPr>
          <p:nvPr/>
        </p:nvCxnSpPr>
        <p:spPr bwMode="auto">
          <a:xfrm>
            <a:off x="6657975" y="3803650"/>
            <a:ext cx="1347788" cy="1081088"/>
          </a:xfrm>
          <a:prstGeom prst="bentConnector2">
            <a:avLst/>
          </a:prstGeom>
          <a:noFill/>
          <a:ln w="22225">
            <a:solidFill>
              <a:schemeClr val="hlink"/>
            </a:solidFill>
            <a:miter lim="800000"/>
            <a:headEnd/>
            <a:tailEnd type="triangle" w="med" len="med"/>
          </a:ln>
        </p:spPr>
      </p:cxnSp>
      <p:cxnSp>
        <p:nvCxnSpPr>
          <p:cNvPr id="16408" name="AutoShape 24"/>
          <p:cNvCxnSpPr>
            <a:cxnSpLocks noChangeShapeType="1"/>
          </p:cNvCxnSpPr>
          <p:nvPr/>
        </p:nvCxnSpPr>
        <p:spPr bwMode="auto">
          <a:xfrm flipV="1">
            <a:off x="7215188" y="3041650"/>
            <a:ext cx="1443037" cy="374650"/>
          </a:xfrm>
          <a:prstGeom prst="bentConnector2">
            <a:avLst/>
          </a:prstGeom>
          <a:noFill/>
          <a:ln w="22225">
            <a:solidFill>
              <a:schemeClr val="hlink"/>
            </a:solidFill>
            <a:miter lim="800000"/>
            <a:headEnd/>
            <a:tailEnd type="triangle" w="med" len="med"/>
          </a:ln>
        </p:spPr>
      </p:cxnSp>
      <p:sp>
        <p:nvSpPr>
          <p:cNvPr id="16409" name="Line 25"/>
          <p:cNvSpPr>
            <a:spLocks noChangeShapeType="1"/>
          </p:cNvSpPr>
          <p:nvPr/>
        </p:nvSpPr>
        <p:spPr bwMode="auto">
          <a:xfrm flipV="1">
            <a:off x="5653088" y="3429000"/>
            <a:ext cx="336550" cy="157163"/>
          </a:xfrm>
          <a:prstGeom prst="line">
            <a:avLst/>
          </a:prstGeom>
          <a:noFill/>
          <a:ln w="222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lIns="90000" tIns="46800" rIns="90000" bIns="46800">
            <a:spAutoFit/>
          </a:bodyPr>
          <a:lstStyle/>
          <a:p>
            <a:endParaRPr lang="es-ES"/>
          </a:p>
        </p:txBody>
      </p:sp>
      <p:sp>
        <p:nvSpPr>
          <p:cNvPr id="16410" name="Line 26"/>
          <p:cNvSpPr>
            <a:spLocks noChangeShapeType="1"/>
          </p:cNvSpPr>
          <p:nvPr/>
        </p:nvSpPr>
        <p:spPr bwMode="auto">
          <a:xfrm>
            <a:off x="5653088" y="3605213"/>
            <a:ext cx="336550" cy="198437"/>
          </a:xfrm>
          <a:prstGeom prst="line">
            <a:avLst/>
          </a:prstGeom>
          <a:noFill/>
          <a:ln w="222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lIns="90000" tIns="46800" rIns="90000" bIns="46800">
            <a:spAutoFit/>
          </a:bodyPr>
          <a:lstStyle/>
          <a:p>
            <a:endParaRPr lang="es-E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VE"/>
              <a:t>Campos de Usuario</a:t>
            </a:r>
            <a:endParaRPr lang="es-ES"/>
          </a:p>
        </p:txBody>
      </p:sp>
      <p:pic>
        <p:nvPicPr>
          <p:cNvPr id="17411" name="Picture-6" descr="Benutzerdefinierte_Felder_le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1763" y="1724025"/>
            <a:ext cx="6461125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ext-Box-7"/>
          <p:cNvSpPr txBox="1">
            <a:spLocks noChangeArrowheads="1"/>
          </p:cNvSpPr>
          <p:nvPr/>
        </p:nvSpPr>
        <p:spPr bwMode="auto">
          <a:xfrm>
            <a:off x="5570538" y="2138363"/>
            <a:ext cx="939800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New Field</a:t>
            </a:r>
            <a:r>
              <a:rPr lang="en-GB" sz="1200" b="1"/>
              <a:t> </a:t>
            </a:r>
            <a:endParaRPr lang="de-DE" sz="1200" b="1"/>
          </a:p>
        </p:txBody>
      </p:sp>
      <p:sp>
        <p:nvSpPr>
          <p:cNvPr id="17413" name="Text-Box-8"/>
          <p:cNvSpPr txBox="1">
            <a:spLocks noChangeArrowheads="1"/>
          </p:cNvSpPr>
          <p:nvPr/>
        </p:nvSpPr>
        <p:spPr bwMode="auto">
          <a:xfrm>
            <a:off x="6186488" y="1790700"/>
            <a:ext cx="8858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1">
                <a:solidFill>
                  <a:srgbClr val="000000"/>
                </a:solidFill>
                <a:cs typeface="Times New Roman" pitchFamily="18" charset="0"/>
              </a:rPr>
              <a:t>Category</a:t>
            </a:r>
            <a:r>
              <a:rPr lang="en-GB" sz="1200" b="1"/>
              <a:t> </a:t>
            </a:r>
            <a:endParaRPr lang="de-DE" sz="1200" b="1"/>
          </a:p>
        </p:txBody>
      </p:sp>
      <p:sp>
        <p:nvSpPr>
          <p:cNvPr id="17414" name="Text-Box-9"/>
          <p:cNvSpPr txBox="1">
            <a:spLocks noChangeArrowheads="1"/>
          </p:cNvSpPr>
          <p:nvPr/>
        </p:nvSpPr>
        <p:spPr bwMode="auto">
          <a:xfrm>
            <a:off x="2230438" y="2311400"/>
            <a:ext cx="2413000" cy="744538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000" b="1">
                <a:solidFill>
                  <a:schemeClr val="folHlink"/>
                </a:solidFill>
                <a:cs typeface="Times New Roman" pitchFamily="18" charset="0"/>
              </a:rPr>
              <a:t>Campos de Objetos Estándar</a:t>
            </a:r>
            <a:endParaRPr lang="de-DE" sz="2000" b="1">
              <a:solidFill>
                <a:schemeClr val="folHlink"/>
              </a:solidFill>
            </a:endParaRPr>
          </a:p>
        </p:txBody>
      </p:sp>
      <p:sp>
        <p:nvSpPr>
          <p:cNvPr id="17415" name="Text-Box-10"/>
          <p:cNvSpPr txBox="1">
            <a:spLocks noChangeArrowheads="1"/>
          </p:cNvSpPr>
          <p:nvPr/>
        </p:nvSpPr>
        <p:spPr bwMode="auto">
          <a:xfrm>
            <a:off x="1658938" y="1716088"/>
            <a:ext cx="21383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FFFFFF"/>
                </a:solidFill>
                <a:cs typeface="Times New Roman" pitchFamily="18" charset="0"/>
              </a:rPr>
              <a:t>Maintain Object Data</a:t>
            </a:r>
            <a:r>
              <a:rPr lang="en-GB" sz="1600">
                <a:solidFill>
                  <a:schemeClr val="bg1"/>
                </a:solidFill>
              </a:rPr>
              <a:t> </a:t>
            </a:r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17416" name="Text-Box-11"/>
          <p:cNvSpPr txBox="1">
            <a:spLocks noChangeArrowheads="1"/>
          </p:cNvSpPr>
          <p:nvPr/>
        </p:nvSpPr>
        <p:spPr bwMode="auto">
          <a:xfrm>
            <a:off x="1477963" y="3535363"/>
            <a:ext cx="879475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OK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7417" name="Text-Box-12"/>
          <p:cNvSpPr txBox="1">
            <a:spLocks noChangeArrowheads="1"/>
          </p:cNvSpPr>
          <p:nvPr/>
        </p:nvSpPr>
        <p:spPr bwMode="auto">
          <a:xfrm>
            <a:off x="2392363" y="3536950"/>
            <a:ext cx="855662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Cancel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7418" name="Text-Box-13"/>
          <p:cNvSpPr txBox="1">
            <a:spLocks noChangeArrowheads="1"/>
          </p:cNvSpPr>
          <p:nvPr/>
        </p:nvSpPr>
        <p:spPr bwMode="auto">
          <a:xfrm>
            <a:off x="4349750" y="3536950"/>
            <a:ext cx="1081088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1200" b="1">
                <a:solidFill>
                  <a:schemeClr val="folHlink"/>
                </a:solidFill>
                <a:cs typeface="Times New Roman" pitchFamily="18" charset="0"/>
              </a:rPr>
              <a:t>Open Table</a:t>
            </a:r>
            <a:r>
              <a:rPr lang="en-GB" sz="1200" b="1">
                <a:solidFill>
                  <a:schemeClr val="folHlink"/>
                </a:solidFill>
              </a:rPr>
              <a:t> </a:t>
            </a:r>
            <a:endParaRPr lang="de-DE" sz="1200" b="1">
              <a:solidFill>
                <a:schemeClr val="folHlink"/>
              </a:solidFill>
            </a:endParaRP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126038" y="5099050"/>
            <a:ext cx="3446462" cy="581025"/>
          </a:xfrm>
          <a:prstGeom prst="rect">
            <a:avLst/>
          </a:prstGeom>
          <a:solidFill>
            <a:srgbClr val="FFEAAF"/>
          </a:solidFill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sz="1600" b="1"/>
              <a:t>Ocultar/mostrar CU por cada categoría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5126038" y="4567238"/>
            <a:ext cx="3446462" cy="336550"/>
          </a:xfrm>
          <a:prstGeom prst="rect">
            <a:avLst/>
          </a:prstGeom>
          <a:solidFill>
            <a:srgbClr val="FFEAAF"/>
          </a:solidFill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sz="1600" b="1"/>
              <a:t>Definir categorias propias</a:t>
            </a:r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4443413" y="4711700"/>
            <a:ext cx="6826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lIns="90000" tIns="46800" rIns="90000" bIns="46800" anchor="ctr">
            <a:spAutoFit/>
          </a:bodyPr>
          <a:lstStyle/>
          <a:p>
            <a:endParaRPr lang="es-ES"/>
          </a:p>
        </p:txBody>
      </p:sp>
      <p:sp>
        <p:nvSpPr>
          <p:cNvPr id="17422" name="AutoShape 14"/>
          <p:cNvSpPr>
            <a:spLocks noChangeArrowheads="1"/>
          </p:cNvSpPr>
          <p:nvPr/>
        </p:nvSpPr>
        <p:spPr bwMode="auto">
          <a:xfrm>
            <a:off x="195263" y="4900613"/>
            <a:ext cx="4551362" cy="374650"/>
          </a:xfrm>
          <a:prstGeom prst="flowChartProcess">
            <a:avLst/>
          </a:prstGeom>
          <a:noFill/>
          <a:ln w="38100" algn="ctr">
            <a:solidFill>
              <a:schemeClr val="bg2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en-US" sz="1600" b="1" i="1"/>
              <a:t> Campos definidos por el usuario     Param.</a:t>
            </a:r>
          </a:p>
        </p:txBody>
      </p:sp>
      <p:sp>
        <p:nvSpPr>
          <p:cNvPr id="17423" name="Rectangle 15"/>
          <p:cNvSpPr>
            <a:spLocks noChangeArrowheads="1"/>
          </p:cNvSpPr>
          <p:nvPr/>
        </p:nvSpPr>
        <p:spPr bwMode="auto">
          <a:xfrm>
            <a:off x="177800" y="4527550"/>
            <a:ext cx="4572000" cy="34925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de-DE" sz="1600" b="1">
                <a:solidFill>
                  <a:schemeClr val="bg1"/>
                </a:solidFill>
              </a:rPr>
              <a:t>  </a:t>
            </a:r>
            <a:r>
              <a:rPr lang="de-DE" sz="1600" b="1" i="1">
                <a:solidFill>
                  <a:schemeClr val="bg1"/>
                </a:solidFill>
              </a:rPr>
              <a:t>Herramientas</a:t>
            </a: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6816725" y="4903788"/>
            <a:ext cx="0" cy="19526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lIns="90000" tIns="46800" rIns="90000" bIns="46800" anchor="ctr">
            <a:spAutoFit/>
          </a:bodyPr>
          <a:lstStyle/>
          <a:p>
            <a:endParaRPr lang="es-ES"/>
          </a:p>
        </p:txBody>
      </p:sp>
      <p:sp>
        <p:nvSpPr>
          <p:cNvPr id="17425" name="AutoShape 17"/>
          <p:cNvSpPr>
            <a:spLocks noChangeArrowheads="1"/>
          </p:cNvSpPr>
          <p:nvPr/>
        </p:nvSpPr>
        <p:spPr bwMode="auto">
          <a:xfrm>
            <a:off x="366713" y="1257300"/>
            <a:ext cx="4051300" cy="374650"/>
          </a:xfrm>
          <a:prstGeom prst="flowChartProcess">
            <a:avLst/>
          </a:prstGeom>
          <a:noFill/>
          <a:ln w="38100" algn="ctr">
            <a:solidFill>
              <a:schemeClr val="bg2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en-US" sz="1600" b="1" i="1"/>
              <a:t>      Campos definidos por el usuario</a:t>
            </a:r>
          </a:p>
        </p:txBody>
      </p:sp>
      <p:sp>
        <p:nvSpPr>
          <p:cNvPr id="17426" name="Rectangle 18"/>
          <p:cNvSpPr>
            <a:spLocks noChangeArrowheads="1"/>
          </p:cNvSpPr>
          <p:nvPr/>
        </p:nvSpPr>
        <p:spPr bwMode="auto">
          <a:xfrm>
            <a:off x="354013" y="868363"/>
            <a:ext cx="4064000" cy="361950"/>
          </a:xfrm>
          <a:prstGeom prst="rect">
            <a:avLst/>
          </a:prstGeom>
          <a:solidFill>
            <a:schemeClr val="hlink"/>
          </a:solidFill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de-DE" sz="1600" b="1">
                <a:solidFill>
                  <a:schemeClr val="bg1"/>
                </a:solidFill>
              </a:rPr>
              <a:t>  </a:t>
            </a:r>
            <a:r>
              <a:rPr lang="de-DE" sz="1600" b="1" i="1">
                <a:solidFill>
                  <a:schemeClr val="bg1"/>
                </a:solidFill>
              </a:rPr>
              <a:t>Vista</a:t>
            </a:r>
          </a:p>
        </p:txBody>
      </p:sp>
      <p:cxnSp>
        <p:nvCxnSpPr>
          <p:cNvPr id="17427" name="AutoShape 19"/>
          <p:cNvCxnSpPr>
            <a:cxnSpLocks noChangeShapeType="1"/>
            <a:stCxn id="17425" idx="3"/>
            <a:endCxn id="17428" idx="0"/>
          </p:cNvCxnSpPr>
          <p:nvPr/>
        </p:nvCxnSpPr>
        <p:spPr bwMode="auto">
          <a:xfrm>
            <a:off x="4437063" y="1444625"/>
            <a:ext cx="2238375" cy="180975"/>
          </a:xfrm>
          <a:prstGeom prst="bentConnector2">
            <a:avLst/>
          </a:prstGeom>
          <a:noFill/>
          <a:ln w="25400">
            <a:solidFill>
              <a:schemeClr val="accent1"/>
            </a:solidFill>
            <a:miter lim="800000"/>
            <a:headEnd/>
            <a:tailEnd type="triangle" w="med" len="med"/>
          </a:ln>
        </p:spPr>
      </p:cxnSp>
      <p:sp>
        <p:nvSpPr>
          <p:cNvPr id="17428" name="Rectangle 20"/>
          <p:cNvSpPr>
            <a:spLocks noChangeArrowheads="1"/>
          </p:cNvSpPr>
          <p:nvPr/>
        </p:nvSpPr>
        <p:spPr bwMode="auto">
          <a:xfrm>
            <a:off x="5386388" y="1638300"/>
            <a:ext cx="2576512" cy="2397125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s-ES"/>
          </a:p>
        </p:txBody>
      </p:sp>
      <p:sp>
        <p:nvSpPr>
          <p:cNvPr id="17429" name="AutoShape 21"/>
          <p:cNvSpPr>
            <a:spLocks noChangeArrowheads="1"/>
          </p:cNvSpPr>
          <p:nvPr/>
        </p:nvSpPr>
        <p:spPr bwMode="auto">
          <a:xfrm rot="16200000" flipV="1">
            <a:off x="3594894" y="5039519"/>
            <a:ext cx="188912" cy="95250"/>
          </a:xfrm>
          <a:prstGeom prst="triangle">
            <a:avLst>
              <a:gd name="adj" fmla="val 52968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s-ES"/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477838" y="1304925"/>
            <a:ext cx="34131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de-DE" sz="1600" b="1">
                <a:sym typeface="Wingdings" pitchFamily="2" charset="2"/>
              </a:rPr>
              <a:t>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1 Título"/>
          <p:cNvSpPr>
            <a:spLocks noGrp="1"/>
          </p:cNvSpPr>
          <p:nvPr>
            <p:ph type="title"/>
          </p:nvPr>
        </p:nvSpPr>
        <p:spPr>
          <a:xfrm>
            <a:off x="2085975" y="127000"/>
            <a:ext cx="6629400" cy="563563"/>
          </a:xfrm>
        </p:spPr>
        <p:txBody>
          <a:bodyPr/>
          <a:lstStyle/>
          <a:p>
            <a:r>
              <a:rPr lang="en-US"/>
              <a:t>Queries y Búsquedas Formateadas</a:t>
            </a:r>
          </a:p>
        </p:txBody>
      </p:sp>
      <p:sp>
        <p:nvSpPr>
          <p:cNvPr id="14339" name="3 CuadroTexto"/>
          <p:cNvSpPr txBox="1">
            <a:spLocks noChangeArrowheads="1"/>
          </p:cNvSpPr>
          <p:nvPr/>
        </p:nvSpPr>
        <p:spPr bwMode="auto">
          <a:xfrm>
            <a:off x="522288" y="1495425"/>
            <a:ext cx="48736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/>
              <a:t>1. Seleccionar opciones de una lista predefinida</a:t>
            </a:r>
          </a:p>
        </p:txBody>
      </p:sp>
      <p:sp>
        <p:nvSpPr>
          <p:cNvPr id="14340" name="4 CuadroTexto"/>
          <p:cNvSpPr txBox="1">
            <a:spLocks noChangeArrowheads="1"/>
          </p:cNvSpPr>
          <p:nvPr/>
        </p:nvSpPr>
        <p:spPr bwMode="auto">
          <a:xfrm>
            <a:off x="1225550" y="3186113"/>
            <a:ext cx="35480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/>
              <a:t>2. Seleccionar consultas grabadas</a:t>
            </a:r>
          </a:p>
        </p:txBody>
      </p:sp>
      <p:sp>
        <p:nvSpPr>
          <p:cNvPr id="14341" name="5 CuadroTexto"/>
          <p:cNvSpPr txBox="1">
            <a:spLocks noChangeArrowheads="1"/>
          </p:cNvSpPr>
          <p:nvPr/>
        </p:nvSpPr>
        <p:spPr bwMode="auto">
          <a:xfrm>
            <a:off x="581025" y="4846638"/>
            <a:ext cx="48021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/>
              <a:t>3. Seleccionar consultas grabadas automaticas</a:t>
            </a:r>
          </a:p>
        </p:txBody>
      </p:sp>
      <p:pic>
        <p:nvPicPr>
          <p:cNvPr id="14342" name="5 Imagen" descr="valores existente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38813" y="871538"/>
            <a:ext cx="256381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6 Imagen" descr="consulta grabad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32463" y="2541588"/>
            <a:ext cx="2570162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4" name="7 Imagen" descr="Consulta grabada automatica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32463" y="4224338"/>
            <a:ext cx="2574925" cy="161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1 Título"/>
          <p:cNvSpPr>
            <a:spLocks noGrp="1"/>
          </p:cNvSpPr>
          <p:nvPr>
            <p:ph type="title"/>
          </p:nvPr>
        </p:nvSpPr>
        <p:spPr>
          <a:xfrm>
            <a:off x="2085975" y="127000"/>
            <a:ext cx="6629400" cy="563563"/>
          </a:xfrm>
        </p:spPr>
        <p:txBody>
          <a:bodyPr/>
          <a:lstStyle/>
          <a:p>
            <a:r>
              <a:rPr lang="en-US" dirty="0" err="1"/>
              <a:t>Alarmas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3" t="17756" r="35077" b="33308"/>
          <a:stretch/>
        </p:blipFill>
        <p:spPr bwMode="auto">
          <a:xfrm>
            <a:off x="1654629" y="914401"/>
            <a:ext cx="5471886" cy="4785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4878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1 Título"/>
          <p:cNvSpPr>
            <a:spLocks noGrp="1"/>
          </p:cNvSpPr>
          <p:nvPr>
            <p:ph type="title"/>
          </p:nvPr>
        </p:nvSpPr>
        <p:spPr>
          <a:xfrm>
            <a:off x="2085975" y="127000"/>
            <a:ext cx="6629400" cy="563563"/>
          </a:xfrm>
        </p:spPr>
        <p:txBody>
          <a:bodyPr/>
          <a:lstStyle/>
          <a:p>
            <a:r>
              <a:rPr lang="en-US" dirty="0" err="1"/>
              <a:t>Alarmas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3" t="30146" r="33293" b="27526"/>
          <a:stretch/>
        </p:blipFill>
        <p:spPr bwMode="auto">
          <a:xfrm>
            <a:off x="1712685" y="1142650"/>
            <a:ext cx="6081486" cy="4169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7369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VE"/>
              <a:t>Data Transfer Workbench</a:t>
            </a:r>
            <a:endParaRPr lang="es-ES"/>
          </a:p>
        </p:txBody>
      </p:sp>
      <p:grpSp>
        <p:nvGrpSpPr>
          <p:cNvPr id="1028" name="Group 3"/>
          <p:cNvGrpSpPr>
            <a:grpSpLocks/>
          </p:cNvGrpSpPr>
          <p:nvPr/>
        </p:nvGrpSpPr>
        <p:grpSpPr bwMode="auto">
          <a:xfrm>
            <a:off x="5905500" y="2714625"/>
            <a:ext cx="2776538" cy="1946275"/>
            <a:chOff x="3115" y="1393"/>
            <a:chExt cx="2285" cy="1747"/>
          </a:xfrm>
        </p:grpSpPr>
        <p:pic>
          <p:nvPicPr>
            <p:cNvPr id="1153" name="Picture 4" descr="Datenbank"/>
            <p:cNvPicPr>
              <a:picLocks noChangeAspect="1" noChangeArrowheads="1"/>
            </p:cNvPicPr>
            <p:nvPr/>
          </p:nvPicPr>
          <p:blipFill>
            <a:blip r:embed="rId3"/>
            <a:srcRect t="9465" r="3058" b="6509"/>
            <a:stretch>
              <a:fillRect/>
            </a:stretch>
          </p:blipFill>
          <p:spPr bwMode="auto">
            <a:xfrm>
              <a:off x="3115" y="1393"/>
              <a:ext cx="2285" cy="14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026" name="Object 5"/>
            <p:cNvGraphicFramePr>
              <a:graphicFrameLocks noChangeAspect="1"/>
            </p:cNvGraphicFramePr>
            <p:nvPr/>
          </p:nvGraphicFramePr>
          <p:xfrm>
            <a:off x="3151" y="2965"/>
            <a:ext cx="2203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" name="Photo Editor Photo" r:id="rId4" imgW="6819048" imgH="542857" progId="MSPhotoEd.3">
                    <p:embed/>
                  </p:oleObj>
                </mc:Choice>
                <mc:Fallback>
                  <p:oleObj name="Photo Editor Photo" r:id="rId4" imgW="6819048" imgH="542857" progId="MSPhotoEd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1" y="2965"/>
                          <a:ext cx="2203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9" name="Group 6"/>
          <p:cNvGrpSpPr>
            <a:grpSpLocks/>
          </p:cNvGrpSpPr>
          <p:nvPr/>
        </p:nvGrpSpPr>
        <p:grpSpPr bwMode="auto">
          <a:xfrm>
            <a:off x="693738" y="966788"/>
            <a:ext cx="3175000" cy="1835150"/>
            <a:chOff x="3389" y="669"/>
            <a:chExt cx="1251" cy="763"/>
          </a:xfrm>
        </p:grpSpPr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3389" y="669"/>
              <a:ext cx="358" cy="763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14" y="703"/>
              <a:ext cx="308" cy="218"/>
            </a:xfrm>
            <a:prstGeom prst="rect">
              <a:avLst/>
            </a:prstGeom>
            <a:solidFill>
              <a:srgbClr val="9F9F9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39" name="Freeform 9"/>
            <p:cNvSpPr>
              <a:spLocks/>
            </p:cNvSpPr>
            <p:nvPr/>
          </p:nvSpPr>
          <p:spPr bwMode="auto">
            <a:xfrm>
              <a:off x="3509" y="741"/>
              <a:ext cx="135" cy="36"/>
            </a:xfrm>
            <a:custGeom>
              <a:avLst/>
              <a:gdLst>
                <a:gd name="T0" fmla="*/ 27 w 405"/>
                <a:gd name="T1" fmla="*/ 42 h 109"/>
                <a:gd name="T2" fmla="*/ 62 w 405"/>
                <a:gd name="T3" fmla="*/ 88 h 109"/>
                <a:gd name="T4" fmla="*/ 389 w 405"/>
                <a:gd name="T5" fmla="*/ 88 h 109"/>
                <a:gd name="T6" fmla="*/ 346 w 405"/>
                <a:gd name="T7" fmla="*/ 34 h 109"/>
                <a:gd name="T8" fmla="*/ 346 w 405"/>
                <a:gd name="T9" fmla="*/ 0 h 109"/>
                <a:gd name="T10" fmla="*/ 405 w 405"/>
                <a:gd name="T11" fmla="*/ 74 h 109"/>
                <a:gd name="T12" fmla="*/ 405 w 405"/>
                <a:gd name="T13" fmla="*/ 109 h 109"/>
                <a:gd name="T14" fmla="*/ 54 w 405"/>
                <a:gd name="T15" fmla="*/ 109 h 109"/>
                <a:gd name="T16" fmla="*/ 0 w 405"/>
                <a:gd name="T17" fmla="*/ 42 h 109"/>
                <a:gd name="T18" fmla="*/ 27 w 405"/>
                <a:gd name="T19" fmla="*/ 42 h 10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5"/>
                <a:gd name="T31" fmla="*/ 0 h 109"/>
                <a:gd name="T32" fmla="*/ 405 w 405"/>
                <a:gd name="T33" fmla="*/ 109 h 10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5" h="109">
                  <a:moveTo>
                    <a:pt x="27" y="42"/>
                  </a:moveTo>
                  <a:lnTo>
                    <a:pt x="62" y="88"/>
                  </a:lnTo>
                  <a:lnTo>
                    <a:pt x="389" y="88"/>
                  </a:lnTo>
                  <a:lnTo>
                    <a:pt x="346" y="34"/>
                  </a:lnTo>
                  <a:lnTo>
                    <a:pt x="346" y="0"/>
                  </a:lnTo>
                  <a:lnTo>
                    <a:pt x="405" y="74"/>
                  </a:lnTo>
                  <a:lnTo>
                    <a:pt x="405" y="109"/>
                  </a:lnTo>
                  <a:lnTo>
                    <a:pt x="54" y="109"/>
                  </a:lnTo>
                  <a:lnTo>
                    <a:pt x="0" y="42"/>
                  </a:lnTo>
                  <a:lnTo>
                    <a:pt x="27" y="42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0" name="Freeform 10"/>
            <p:cNvSpPr>
              <a:spLocks/>
            </p:cNvSpPr>
            <p:nvPr/>
          </p:nvSpPr>
          <p:spPr bwMode="auto">
            <a:xfrm>
              <a:off x="3509" y="737"/>
              <a:ext cx="61" cy="18"/>
            </a:xfrm>
            <a:custGeom>
              <a:avLst/>
              <a:gdLst>
                <a:gd name="T0" fmla="*/ 19 w 185"/>
                <a:gd name="T1" fmla="*/ 18 h 53"/>
                <a:gd name="T2" fmla="*/ 24 w 185"/>
                <a:gd name="T3" fmla="*/ 0 h 53"/>
                <a:gd name="T4" fmla="*/ 8 w 185"/>
                <a:gd name="T5" fmla="*/ 0 h 53"/>
                <a:gd name="T6" fmla="*/ 0 w 185"/>
                <a:gd name="T7" fmla="*/ 18 h 53"/>
                <a:gd name="T8" fmla="*/ 0 w 185"/>
                <a:gd name="T9" fmla="*/ 53 h 53"/>
                <a:gd name="T10" fmla="*/ 185 w 185"/>
                <a:gd name="T11" fmla="*/ 53 h 53"/>
                <a:gd name="T12" fmla="*/ 185 w 185"/>
                <a:gd name="T13" fmla="*/ 18 h 53"/>
                <a:gd name="T14" fmla="*/ 19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9" y="18"/>
                  </a:moveTo>
                  <a:lnTo>
                    <a:pt x="24" y="0"/>
                  </a:lnTo>
                  <a:lnTo>
                    <a:pt x="8" y="0"/>
                  </a:lnTo>
                  <a:lnTo>
                    <a:pt x="0" y="18"/>
                  </a:lnTo>
                  <a:lnTo>
                    <a:pt x="0" y="53"/>
                  </a:lnTo>
                  <a:lnTo>
                    <a:pt x="185" y="53"/>
                  </a:lnTo>
                  <a:lnTo>
                    <a:pt x="185" y="18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1" name="Freeform 11"/>
            <p:cNvSpPr>
              <a:spLocks/>
            </p:cNvSpPr>
            <p:nvPr/>
          </p:nvSpPr>
          <p:spPr bwMode="auto">
            <a:xfrm>
              <a:off x="3565" y="737"/>
              <a:ext cx="61" cy="18"/>
            </a:xfrm>
            <a:custGeom>
              <a:avLst/>
              <a:gdLst>
                <a:gd name="T0" fmla="*/ 165 w 185"/>
                <a:gd name="T1" fmla="*/ 18 h 53"/>
                <a:gd name="T2" fmla="*/ 161 w 185"/>
                <a:gd name="T3" fmla="*/ 0 h 53"/>
                <a:gd name="T4" fmla="*/ 177 w 185"/>
                <a:gd name="T5" fmla="*/ 0 h 53"/>
                <a:gd name="T6" fmla="*/ 185 w 185"/>
                <a:gd name="T7" fmla="*/ 18 h 53"/>
                <a:gd name="T8" fmla="*/ 185 w 185"/>
                <a:gd name="T9" fmla="*/ 53 h 53"/>
                <a:gd name="T10" fmla="*/ 0 w 185"/>
                <a:gd name="T11" fmla="*/ 53 h 53"/>
                <a:gd name="T12" fmla="*/ 0 w 185"/>
                <a:gd name="T13" fmla="*/ 18 h 53"/>
                <a:gd name="T14" fmla="*/ 165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65" y="18"/>
                  </a:moveTo>
                  <a:lnTo>
                    <a:pt x="161" y="0"/>
                  </a:lnTo>
                  <a:lnTo>
                    <a:pt x="177" y="0"/>
                  </a:lnTo>
                  <a:lnTo>
                    <a:pt x="185" y="18"/>
                  </a:lnTo>
                  <a:lnTo>
                    <a:pt x="185" y="53"/>
                  </a:lnTo>
                  <a:lnTo>
                    <a:pt x="0" y="53"/>
                  </a:lnTo>
                  <a:lnTo>
                    <a:pt x="0" y="18"/>
                  </a:lnTo>
                  <a:lnTo>
                    <a:pt x="165" y="1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2" name="Freeform 12"/>
            <p:cNvSpPr>
              <a:spLocks/>
            </p:cNvSpPr>
            <p:nvPr/>
          </p:nvSpPr>
          <p:spPr bwMode="auto">
            <a:xfrm>
              <a:off x="3509" y="737"/>
              <a:ext cx="8" cy="6"/>
            </a:xfrm>
            <a:custGeom>
              <a:avLst/>
              <a:gdLst>
                <a:gd name="T0" fmla="*/ 19 w 24"/>
                <a:gd name="T1" fmla="*/ 18 h 18"/>
                <a:gd name="T2" fmla="*/ 24 w 24"/>
                <a:gd name="T3" fmla="*/ 0 h 18"/>
                <a:gd name="T4" fmla="*/ 8 w 24"/>
                <a:gd name="T5" fmla="*/ 0 h 18"/>
                <a:gd name="T6" fmla="*/ 0 w 24"/>
                <a:gd name="T7" fmla="*/ 18 h 18"/>
                <a:gd name="T8" fmla="*/ 19 w 24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8"/>
                <a:gd name="T17" fmla="*/ 24 w 24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8">
                  <a:moveTo>
                    <a:pt x="19" y="18"/>
                  </a:moveTo>
                  <a:lnTo>
                    <a:pt x="24" y="0"/>
                  </a:lnTo>
                  <a:lnTo>
                    <a:pt x="8" y="0"/>
                  </a:lnTo>
                  <a:lnTo>
                    <a:pt x="0" y="18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3" name="Freeform 13"/>
            <p:cNvSpPr>
              <a:spLocks/>
            </p:cNvSpPr>
            <p:nvPr/>
          </p:nvSpPr>
          <p:spPr bwMode="auto">
            <a:xfrm>
              <a:off x="3618" y="737"/>
              <a:ext cx="8" cy="6"/>
            </a:xfrm>
            <a:custGeom>
              <a:avLst/>
              <a:gdLst>
                <a:gd name="T0" fmla="*/ 4 w 24"/>
                <a:gd name="T1" fmla="*/ 18 h 18"/>
                <a:gd name="T2" fmla="*/ 0 w 24"/>
                <a:gd name="T3" fmla="*/ 0 h 18"/>
                <a:gd name="T4" fmla="*/ 16 w 24"/>
                <a:gd name="T5" fmla="*/ 0 h 18"/>
                <a:gd name="T6" fmla="*/ 24 w 24"/>
                <a:gd name="T7" fmla="*/ 18 h 18"/>
                <a:gd name="T8" fmla="*/ 4 w 24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8"/>
                <a:gd name="T17" fmla="*/ 24 w 24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8">
                  <a:moveTo>
                    <a:pt x="4" y="1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4" y="18"/>
                  </a:lnTo>
                  <a:lnTo>
                    <a:pt x="4" y="1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4" name="Rectangle 14"/>
            <p:cNvSpPr>
              <a:spLocks noChangeArrowheads="1"/>
            </p:cNvSpPr>
            <p:nvPr/>
          </p:nvSpPr>
          <p:spPr bwMode="auto">
            <a:xfrm>
              <a:off x="3512" y="843"/>
              <a:ext cx="112" cy="34"/>
            </a:xfrm>
            <a:prstGeom prst="rect">
              <a:avLst/>
            </a:prstGeom>
            <a:solidFill>
              <a:srgbClr val="80808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5" name="Rectangle 15"/>
            <p:cNvSpPr>
              <a:spLocks noChangeArrowheads="1"/>
            </p:cNvSpPr>
            <p:nvPr/>
          </p:nvSpPr>
          <p:spPr bwMode="auto">
            <a:xfrm>
              <a:off x="3519" y="847"/>
              <a:ext cx="98" cy="2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6" name="Oval 16"/>
            <p:cNvSpPr>
              <a:spLocks noChangeArrowheads="1"/>
            </p:cNvSpPr>
            <p:nvPr/>
          </p:nvSpPr>
          <p:spPr bwMode="auto">
            <a:xfrm>
              <a:off x="3555" y="886"/>
              <a:ext cx="28" cy="28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grpSp>
          <p:nvGrpSpPr>
            <p:cNvPr id="1047" name="Group 17"/>
            <p:cNvGrpSpPr>
              <a:grpSpLocks/>
            </p:cNvGrpSpPr>
            <p:nvPr/>
          </p:nvGrpSpPr>
          <p:grpSpPr bwMode="auto">
            <a:xfrm>
              <a:off x="3553" y="885"/>
              <a:ext cx="28" cy="27"/>
              <a:chOff x="1365" y="2810"/>
              <a:chExt cx="28" cy="27"/>
            </a:xfrm>
          </p:grpSpPr>
          <p:sp>
            <p:nvSpPr>
              <p:cNvPr id="1150" name="Oval 18"/>
              <p:cNvSpPr>
                <a:spLocks noChangeArrowheads="1"/>
              </p:cNvSpPr>
              <p:nvPr/>
            </p:nvSpPr>
            <p:spPr bwMode="auto">
              <a:xfrm>
                <a:off x="1365" y="2810"/>
                <a:ext cx="28" cy="27"/>
              </a:xfrm>
              <a:prstGeom prst="ellipse">
                <a:avLst/>
              </a:prstGeom>
              <a:solidFill>
                <a:srgbClr val="C0C0C0"/>
              </a:solidFill>
              <a:ln w="4763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51" name="Oval 19"/>
              <p:cNvSpPr>
                <a:spLocks noChangeArrowheads="1"/>
              </p:cNvSpPr>
              <p:nvPr/>
            </p:nvSpPr>
            <p:spPr bwMode="auto">
              <a:xfrm>
                <a:off x="1375" y="2815"/>
                <a:ext cx="7" cy="7"/>
              </a:xfrm>
              <a:prstGeom prst="ellipse">
                <a:avLst/>
              </a:prstGeom>
              <a:solidFill>
                <a:srgbClr val="3F3F3F"/>
              </a:solidFill>
              <a:ln w="4763">
                <a:solidFill>
                  <a:srgbClr val="3F3F3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52" name="Freeform 20"/>
              <p:cNvSpPr>
                <a:spLocks/>
              </p:cNvSpPr>
              <p:nvPr/>
            </p:nvSpPr>
            <p:spPr bwMode="auto">
              <a:xfrm>
                <a:off x="1373" y="2822"/>
                <a:ext cx="10" cy="10"/>
              </a:xfrm>
              <a:custGeom>
                <a:avLst/>
                <a:gdLst>
                  <a:gd name="T0" fmla="*/ 10 w 30"/>
                  <a:gd name="T1" fmla="*/ 0 h 29"/>
                  <a:gd name="T2" fmla="*/ 0 w 30"/>
                  <a:gd name="T3" fmla="*/ 29 h 29"/>
                  <a:gd name="T4" fmla="*/ 30 w 30"/>
                  <a:gd name="T5" fmla="*/ 29 h 29"/>
                  <a:gd name="T6" fmla="*/ 21 w 30"/>
                  <a:gd name="T7" fmla="*/ 0 h 29"/>
                  <a:gd name="T8" fmla="*/ 10 w 30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29"/>
                  <a:gd name="T17" fmla="*/ 30 w 30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29">
                    <a:moveTo>
                      <a:pt x="10" y="0"/>
                    </a:moveTo>
                    <a:lnTo>
                      <a:pt x="0" y="29"/>
                    </a:lnTo>
                    <a:lnTo>
                      <a:pt x="30" y="29"/>
                    </a:lnTo>
                    <a:lnTo>
                      <a:pt x="21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3F3F3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048" name="Rectangle 21"/>
            <p:cNvSpPr>
              <a:spLocks noChangeArrowheads="1"/>
            </p:cNvSpPr>
            <p:nvPr/>
          </p:nvSpPr>
          <p:spPr bwMode="auto">
            <a:xfrm>
              <a:off x="3414" y="945"/>
              <a:ext cx="308" cy="217"/>
            </a:xfrm>
            <a:prstGeom prst="rect">
              <a:avLst/>
            </a:prstGeom>
            <a:solidFill>
              <a:srgbClr val="9F9F9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9" name="Freeform 22"/>
            <p:cNvSpPr>
              <a:spLocks/>
            </p:cNvSpPr>
            <p:nvPr/>
          </p:nvSpPr>
          <p:spPr bwMode="auto">
            <a:xfrm>
              <a:off x="3509" y="983"/>
              <a:ext cx="135" cy="36"/>
            </a:xfrm>
            <a:custGeom>
              <a:avLst/>
              <a:gdLst>
                <a:gd name="T0" fmla="*/ 27 w 405"/>
                <a:gd name="T1" fmla="*/ 42 h 109"/>
                <a:gd name="T2" fmla="*/ 62 w 405"/>
                <a:gd name="T3" fmla="*/ 88 h 109"/>
                <a:gd name="T4" fmla="*/ 389 w 405"/>
                <a:gd name="T5" fmla="*/ 88 h 109"/>
                <a:gd name="T6" fmla="*/ 346 w 405"/>
                <a:gd name="T7" fmla="*/ 34 h 109"/>
                <a:gd name="T8" fmla="*/ 346 w 405"/>
                <a:gd name="T9" fmla="*/ 0 h 109"/>
                <a:gd name="T10" fmla="*/ 405 w 405"/>
                <a:gd name="T11" fmla="*/ 74 h 109"/>
                <a:gd name="T12" fmla="*/ 405 w 405"/>
                <a:gd name="T13" fmla="*/ 109 h 109"/>
                <a:gd name="T14" fmla="*/ 54 w 405"/>
                <a:gd name="T15" fmla="*/ 109 h 109"/>
                <a:gd name="T16" fmla="*/ 0 w 405"/>
                <a:gd name="T17" fmla="*/ 42 h 109"/>
                <a:gd name="T18" fmla="*/ 27 w 405"/>
                <a:gd name="T19" fmla="*/ 42 h 10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5"/>
                <a:gd name="T31" fmla="*/ 0 h 109"/>
                <a:gd name="T32" fmla="*/ 405 w 405"/>
                <a:gd name="T33" fmla="*/ 109 h 10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5" h="109">
                  <a:moveTo>
                    <a:pt x="27" y="42"/>
                  </a:moveTo>
                  <a:lnTo>
                    <a:pt x="62" y="88"/>
                  </a:lnTo>
                  <a:lnTo>
                    <a:pt x="389" y="88"/>
                  </a:lnTo>
                  <a:lnTo>
                    <a:pt x="346" y="34"/>
                  </a:lnTo>
                  <a:lnTo>
                    <a:pt x="346" y="0"/>
                  </a:lnTo>
                  <a:lnTo>
                    <a:pt x="405" y="74"/>
                  </a:lnTo>
                  <a:lnTo>
                    <a:pt x="405" y="109"/>
                  </a:lnTo>
                  <a:lnTo>
                    <a:pt x="54" y="109"/>
                  </a:lnTo>
                  <a:lnTo>
                    <a:pt x="0" y="42"/>
                  </a:lnTo>
                  <a:lnTo>
                    <a:pt x="27" y="42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0" name="Freeform 23"/>
            <p:cNvSpPr>
              <a:spLocks/>
            </p:cNvSpPr>
            <p:nvPr/>
          </p:nvSpPr>
          <p:spPr bwMode="auto">
            <a:xfrm>
              <a:off x="3509" y="980"/>
              <a:ext cx="61" cy="17"/>
            </a:xfrm>
            <a:custGeom>
              <a:avLst/>
              <a:gdLst>
                <a:gd name="T0" fmla="*/ 19 w 185"/>
                <a:gd name="T1" fmla="*/ 17 h 53"/>
                <a:gd name="T2" fmla="*/ 24 w 185"/>
                <a:gd name="T3" fmla="*/ 0 h 53"/>
                <a:gd name="T4" fmla="*/ 8 w 185"/>
                <a:gd name="T5" fmla="*/ 0 h 53"/>
                <a:gd name="T6" fmla="*/ 0 w 185"/>
                <a:gd name="T7" fmla="*/ 17 h 53"/>
                <a:gd name="T8" fmla="*/ 0 w 185"/>
                <a:gd name="T9" fmla="*/ 53 h 53"/>
                <a:gd name="T10" fmla="*/ 185 w 185"/>
                <a:gd name="T11" fmla="*/ 53 h 53"/>
                <a:gd name="T12" fmla="*/ 185 w 185"/>
                <a:gd name="T13" fmla="*/ 17 h 53"/>
                <a:gd name="T14" fmla="*/ 19 w 185"/>
                <a:gd name="T15" fmla="*/ 17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9" y="17"/>
                  </a:moveTo>
                  <a:lnTo>
                    <a:pt x="24" y="0"/>
                  </a:lnTo>
                  <a:lnTo>
                    <a:pt x="8" y="0"/>
                  </a:lnTo>
                  <a:lnTo>
                    <a:pt x="0" y="17"/>
                  </a:lnTo>
                  <a:lnTo>
                    <a:pt x="0" y="53"/>
                  </a:lnTo>
                  <a:lnTo>
                    <a:pt x="185" y="53"/>
                  </a:lnTo>
                  <a:lnTo>
                    <a:pt x="185" y="17"/>
                  </a:lnTo>
                  <a:lnTo>
                    <a:pt x="19" y="17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1" name="Freeform 24"/>
            <p:cNvSpPr>
              <a:spLocks/>
            </p:cNvSpPr>
            <p:nvPr/>
          </p:nvSpPr>
          <p:spPr bwMode="auto">
            <a:xfrm>
              <a:off x="3565" y="980"/>
              <a:ext cx="61" cy="17"/>
            </a:xfrm>
            <a:custGeom>
              <a:avLst/>
              <a:gdLst>
                <a:gd name="T0" fmla="*/ 165 w 185"/>
                <a:gd name="T1" fmla="*/ 17 h 53"/>
                <a:gd name="T2" fmla="*/ 161 w 185"/>
                <a:gd name="T3" fmla="*/ 0 h 53"/>
                <a:gd name="T4" fmla="*/ 177 w 185"/>
                <a:gd name="T5" fmla="*/ 0 h 53"/>
                <a:gd name="T6" fmla="*/ 185 w 185"/>
                <a:gd name="T7" fmla="*/ 17 h 53"/>
                <a:gd name="T8" fmla="*/ 185 w 185"/>
                <a:gd name="T9" fmla="*/ 53 h 53"/>
                <a:gd name="T10" fmla="*/ 0 w 185"/>
                <a:gd name="T11" fmla="*/ 53 h 53"/>
                <a:gd name="T12" fmla="*/ 0 w 185"/>
                <a:gd name="T13" fmla="*/ 17 h 53"/>
                <a:gd name="T14" fmla="*/ 165 w 185"/>
                <a:gd name="T15" fmla="*/ 17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65" y="17"/>
                  </a:moveTo>
                  <a:lnTo>
                    <a:pt x="161" y="0"/>
                  </a:lnTo>
                  <a:lnTo>
                    <a:pt x="177" y="0"/>
                  </a:lnTo>
                  <a:lnTo>
                    <a:pt x="185" y="17"/>
                  </a:lnTo>
                  <a:lnTo>
                    <a:pt x="185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165" y="17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2" name="Freeform 25"/>
            <p:cNvSpPr>
              <a:spLocks/>
            </p:cNvSpPr>
            <p:nvPr/>
          </p:nvSpPr>
          <p:spPr bwMode="auto">
            <a:xfrm>
              <a:off x="3509" y="980"/>
              <a:ext cx="8" cy="5"/>
            </a:xfrm>
            <a:custGeom>
              <a:avLst/>
              <a:gdLst>
                <a:gd name="T0" fmla="*/ 19 w 24"/>
                <a:gd name="T1" fmla="*/ 17 h 17"/>
                <a:gd name="T2" fmla="*/ 24 w 24"/>
                <a:gd name="T3" fmla="*/ 0 h 17"/>
                <a:gd name="T4" fmla="*/ 8 w 24"/>
                <a:gd name="T5" fmla="*/ 0 h 17"/>
                <a:gd name="T6" fmla="*/ 0 w 24"/>
                <a:gd name="T7" fmla="*/ 17 h 17"/>
                <a:gd name="T8" fmla="*/ 19 w 24"/>
                <a:gd name="T9" fmla="*/ 1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7"/>
                <a:gd name="T17" fmla="*/ 24 w 24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7">
                  <a:moveTo>
                    <a:pt x="19" y="17"/>
                  </a:moveTo>
                  <a:lnTo>
                    <a:pt x="24" y="0"/>
                  </a:lnTo>
                  <a:lnTo>
                    <a:pt x="8" y="0"/>
                  </a:lnTo>
                  <a:lnTo>
                    <a:pt x="0" y="17"/>
                  </a:lnTo>
                  <a:lnTo>
                    <a:pt x="19" y="17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3" name="Freeform 26"/>
            <p:cNvSpPr>
              <a:spLocks/>
            </p:cNvSpPr>
            <p:nvPr/>
          </p:nvSpPr>
          <p:spPr bwMode="auto">
            <a:xfrm>
              <a:off x="3618" y="980"/>
              <a:ext cx="8" cy="5"/>
            </a:xfrm>
            <a:custGeom>
              <a:avLst/>
              <a:gdLst>
                <a:gd name="T0" fmla="*/ 4 w 24"/>
                <a:gd name="T1" fmla="*/ 17 h 17"/>
                <a:gd name="T2" fmla="*/ 0 w 24"/>
                <a:gd name="T3" fmla="*/ 0 h 17"/>
                <a:gd name="T4" fmla="*/ 16 w 24"/>
                <a:gd name="T5" fmla="*/ 0 h 17"/>
                <a:gd name="T6" fmla="*/ 24 w 24"/>
                <a:gd name="T7" fmla="*/ 17 h 17"/>
                <a:gd name="T8" fmla="*/ 4 w 24"/>
                <a:gd name="T9" fmla="*/ 1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7"/>
                <a:gd name="T17" fmla="*/ 24 w 24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7">
                  <a:moveTo>
                    <a:pt x="4" y="1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4" y="17"/>
                  </a:lnTo>
                  <a:lnTo>
                    <a:pt x="4" y="17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4" name="Rectangle 27"/>
            <p:cNvSpPr>
              <a:spLocks noChangeArrowheads="1"/>
            </p:cNvSpPr>
            <p:nvPr/>
          </p:nvSpPr>
          <p:spPr bwMode="auto">
            <a:xfrm>
              <a:off x="3512" y="1085"/>
              <a:ext cx="112" cy="34"/>
            </a:xfrm>
            <a:prstGeom prst="rect">
              <a:avLst/>
            </a:prstGeom>
            <a:solidFill>
              <a:srgbClr val="80808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5" name="Rectangle 28"/>
            <p:cNvSpPr>
              <a:spLocks noChangeArrowheads="1"/>
            </p:cNvSpPr>
            <p:nvPr/>
          </p:nvSpPr>
          <p:spPr bwMode="auto">
            <a:xfrm>
              <a:off x="3519" y="1089"/>
              <a:ext cx="98" cy="2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6" name="Oval 29"/>
            <p:cNvSpPr>
              <a:spLocks noChangeArrowheads="1"/>
            </p:cNvSpPr>
            <p:nvPr/>
          </p:nvSpPr>
          <p:spPr bwMode="auto">
            <a:xfrm>
              <a:off x="3555" y="1128"/>
              <a:ext cx="28" cy="28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grpSp>
          <p:nvGrpSpPr>
            <p:cNvPr id="1057" name="Group 30"/>
            <p:cNvGrpSpPr>
              <a:grpSpLocks/>
            </p:cNvGrpSpPr>
            <p:nvPr/>
          </p:nvGrpSpPr>
          <p:grpSpPr bwMode="auto">
            <a:xfrm>
              <a:off x="3553" y="1127"/>
              <a:ext cx="28" cy="27"/>
              <a:chOff x="1365" y="3052"/>
              <a:chExt cx="28" cy="27"/>
            </a:xfrm>
          </p:grpSpPr>
          <p:sp>
            <p:nvSpPr>
              <p:cNvPr id="1147" name="Oval 31"/>
              <p:cNvSpPr>
                <a:spLocks noChangeArrowheads="1"/>
              </p:cNvSpPr>
              <p:nvPr/>
            </p:nvSpPr>
            <p:spPr bwMode="auto">
              <a:xfrm>
                <a:off x="1365" y="3052"/>
                <a:ext cx="28" cy="27"/>
              </a:xfrm>
              <a:prstGeom prst="ellipse">
                <a:avLst/>
              </a:prstGeom>
              <a:solidFill>
                <a:srgbClr val="C0C0C0"/>
              </a:solidFill>
              <a:ln w="4763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48" name="Oval 32"/>
              <p:cNvSpPr>
                <a:spLocks noChangeArrowheads="1"/>
              </p:cNvSpPr>
              <p:nvPr/>
            </p:nvSpPr>
            <p:spPr bwMode="auto">
              <a:xfrm>
                <a:off x="1375" y="3057"/>
                <a:ext cx="7" cy="7"/>
              </a:xfrm>
              <a:prstGeom prst="ellipse">
                <a:avLst/>
              </a:prstGeom>
              <a:solidFill>
                <a:srgbClr val="3F3F3F"/>
              </a:solidFill>
              <a:ln w="4763">
                <a:solidFill>
                  <a:srgbClr val="3F3F3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49" name="Freeform 33"/>
              <p:cNvSpPr>
                <a:spLocks/>
              </p:cNvSpPr>
              <p:nvPr/>
            </p:nvSpPr>
            <p:spPr bwMode="auto">
              <a:xfrm>
                <a:off x="1373" y="3064"/>
                <a:ext cx="10" cy="10"/>
              </a:xfrm>
              <a:custGeom>
                <a:avLst/>
                <a:gdLst>
                  <a:gd name="T0" fmla="*/ 10 w 30"/>
                  <a:gd name="T1" fmla="*/ 0 h 30"/>
                  <a:gd name="T2" fmla="*/ 0 w 30"/>
                  <a:gd name="T3" fmla="*/ 30 h 30"/>
                  <a:gd name="T4" fmla="*/ 30 w 30"/>
                  <a:gd name="T5" fmla="*/ 30 h 30"/>
                  <a:gd name="T6" fmla="*/ 21 w 30"/>
                  <a:gd name="T7" fmla="*/ 0 h 30"/>
                  <a:gd name="T8" fmla="*/ 10 w 30"/>
                  <a:gd name="T9" fmla="*/ 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0"/>
                  <a:gd name="T17" fmla="*/ 30 w 30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0">
                    <a:moveTo>
                      <a:pt x="10" y="0"/>
                    </a:moveTo>
                    <a:lnTo>
                      <a:pt x="0" y="30"/>
                    </a:lnTo>
                    <a:lnTo>
                      <a:pt x="30" y="30"/>
                    </a:lnTo>
                    <a:lnTo>
                      <a:pt x="21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3F3F3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058" name="Rectangle 34"/>
            <p:cNvSpPr>
              <a:spLocks noChangeArrowheads="1"/>
            </p:cNvSpPr>
            <p:nvPr/>
          </p:nvSpPr>
          <p:spPr bwMode="auto">
            <a:xfrm>
              <a:off x="3414" y="1185"/>
              <a:ext cx="308" cy="217"/>
            </a:xfrm>
            <a:prstGeom prst="rect">
              <a:avLst/>
            </a:prstGeom>
            <a:solidFill>
              <a:srgbClr val="9F9F9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9" name="Freeform 35"/>
            <p:cNvSpPr>
              <a:spLocks/>
            </p:cNvSpPr>
            <p:nvPr/>
          </p:nvSpPr>
          <p:spPr bwMode="auto">
            <a:xfrm>
              <a:off x="3509" y="1222"/>
              <a:ext cx="135" cy="37"/>
            </a:xfrm>
            <a:custGeom>
              <a:avLst/>
              <a:gdLst>
                <a:gd name="T0" fmla="*/ 27 w 405"/>
                <a:gd name="T1" fmla="*/ 43 h 111"/>
                <a:gd name="T2" fmla="*/ 62 w 405"/>
                <a:gd name="T3" fmla="*/ 90 h 111"/>
                <a:gd name="T4" fmla="*/ 389 w 405"/>
                <a:gd name="T5" fmla="*/ 90 h 111"/>
                <a:gd name="T6" fmla="*/ 346 w 405"/>
                <a:gd name="T7" fmla="*/ 35 h 111"/>
                <a:gd name="T8" fmla="*/ 346 w 405"/>
                <a:gd name="T9" fmla="*/ 0 h 111"/>
                <a:gd name="T10" fmla="*/ 405 w 405"/>
                <a:gd name="T11" fmla="*/ 76 h 111"/>
                <a:gd name="T12" fmla="*/ 405 w 405"/>
                <a:gd name="T13" fmla="*/ 111 h 111"/>
                <a:gd name="T14" fmla="*/ 54 w 405"/>
                <a:gd name="T15" fmla="*/ 111 h 111"/>
                <a:gd name="T16" fmla="*/ 0 w 405"/>
                <a:gd name="T17" fmla="*/ 43 h 111"/>
                <a:gd name="T18" fmla="*/ 27 w 405"/>
                <a:gd name="T19" fmla="*/ 43 h 1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5"/>
                <a:gd name="T31" fmla="*/ 0 h 111"/>
                <a:gd name="T32" fmla="*/ 405 w 405"/>
                <a:gd name="T33" fmla="*/ 111 h 1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5" h="111">
                  <a:moveTo>
                    <a:pt x="27" y="43"/>
                  </a:moveTo>
                  <a:lnTo>
                    <a:pt x="62" y="90"/>
                  </a:lnTo>
                  <a:lnTo>
                    <a:pt x="389" y="90"/>
                  </a:lnTo>
                  <a:lnTo>
                    <a:pt x="346" y="35"/>
                  </a:lnTo>
                  <a:lnTo>
                    <a:pt x="346" y="0"/>
                  </a:lnTo>
                  <a:lnTo>
                    <a:pt x="405" y="76"/>
                  </a:lnTo>
                  <a:lnTo>
                    <a:pt x="405" y="111"/>
                  </a:lnTo>
                  <a:lnTo>
                    <a:pt x="54" y="111"/>
                  </a:lnTo>
                  <a:lnTo>
                    <a:pt x="0" y="43"/>
                  </a:lnTo>
                  <a:lnTo>
                    <a:pt x="27" y="43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0" name="Freeform 36"/>
            <p:cNvSpPr>
              <a:spLocks/>
            </p:cNvSpPr>
            <p:nvPr/>
          </p:nvSpPr>
          <p:spPr bwMode="auto">
            <a:xfrm>
              <a:off x="3509" y="1219"/>
              <a:ext cx="61" cy="18"/>
            </a:xfrm>
            <a:custGeom>
              <a:avLst/>
              <a:gdLst>
                <a:gd name="T0" fmla="*/ 19 w 185"/>
                <a:gd name="T1" fmla="*/ 18 h 53"/>
                <a:gd name="T2" fmla="*/ 24 w 185"/>
                <a:gd name="T3" fmla="*/ 0 h 53"/>
                <a:gd name="T4" fmla="*/ 8 w 185"/>
                <a:gd name="T5" fmla="*/ 0 h 53"/>
                <a:gd name="T6" fmla="*/ 0 w 185"/>
                <a:gd name="T7" fmla="*/ 18 h 53"/>
                <a:gd name="T8" fmla="*/ 0 w 185"/>
                <a:gd name="T9" fmla="*/ 53 h 53"/>
                <a:gd name="T10" fmla="*/ 185 w 185"/>
                <a:gd name="T11" fmla="*/ 53 h 53"/>
                <a:gd name="T12" fmla="*/ 185 w 185"/>
                <a:gd name="T13" fmla="*/ 18 h 53"/>
                <a:gd name="T14" fmla="*/ 19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9" y="18"/>
                  </a:moveTo>
                  <a:lnTo>
                    <a:pt x="24" y="0"/>
                  </a:lnTo>
                  <a:lnTo>
                    <a:pt x="8" y="0"/>
                  </a:lnTo>
                  <a:lnTo>
                    <a:pt x="0" y="18"/>
                  </a:lnTo>
                  <a:lnTo>
                    <a:pt x="0" y="53"/>
                  </a:lnTo>
                  <a:lnTo>
                    <a:pt x="185" y="53"/>
                  </a:lnTo>
                  <a:lnTo>
                    <a:pt x="185" y="18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1" name="Freeform 37"/>
            <p:cNvSpPr>
              <a:spLocks/>
            </p:cNvSpPr>
            <p:nvPr/>
          </p:nvSpPr>
          <p:spPr bwMode="auto">
            <a:xfrm>
              <a:off x="3565" y="1219"/>
              <a:ext cx="61" cy="18"/>
            </a:xfrm>
            <a:custGeom>
              <a:avLst/>
              <a:gdLst>
                <a:gd name="T0" fmla="*/ 165 w 185"/>
                <a:gd name="T1" fmla="*/ 18 h 53"/>
                <a:gd name="T2" fmla="*/ 161 w 185"/>
                <a:gd name="T3" fmla="*/ 0 h 53"/>
                <a:gd name="T4" fmla="*/ 177 w 185"/>
                <a:gd name="T5" fmla="*/ 0 h 53"/>
                <a:gd name="T6" fmla="*/ 185 w 185"/>
                <a:gd name="T7" fmla="*/ 18 h 53"/>
                <a:gd name="T8" fmla="*/ 185 w 185"/>
                <a:gd name="T9" fmla="*/ 53 h 53"/>
                <a:gd name="T10" fmla="*/ 0 w 185"/>
                <a:gd name="T11" fmla="*/ 53 h 53"/>
                <a:gd name="T12" fmla="*/ 0 w 185"/>
                <a:gd name="T13" fmla="*/ 18 h 53"/>
                <a:gd name="T14" fmla="*/ 165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65" y="18"/>
                  </a:moveTo>
                  <a:lnTo>
                    <a:pt x="161" y="0"/>
                  </a:lnTo>
                  <a:lnTo>
                    <a:pt x="177" y="0"/>
                  </a:lnTo>
                  <a:lnTo>
                    <a:pt x="185" y="18"/>
                  </a:lnTo>
                  <a:lnTo>
                    <a:pt x="185" y="53"/>
                  </a:lnTo>
                  <a:lnTo>
                    <a:pt x="0" y="53"/>
                  </a:lnTo>
                  <a:lnTo>
                    <a:pt x="0" y="18"/>
                  </a:lnTo>
                  <a:lnTo>
                    <a:pt x="165" y="1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2" name="Freeform 38"/>
            <p:cNvSpPr>
              <a:spLocks/>
            </p:cNvSpPr>
            <p:nvPr/>
          </p:nvSpPr>
          <p:spPr bwMode="auto">
            <a:xfrm>
              <a:off x="3509" y="1219"/>
              <a:ext cx="8" cy="6"/>
            </a:xfrm>
            <a:custGeom>
              <a:avLst/>
              <a:gdLst>
                <a:gd name="T0" fmla="*/ 19 w 24"/>
                <a:gd name="T1" fmla="*/ 18 h 18"/>
                <a:gd name="T2" fmla="*/ 24 w 24"/>
                <a:gd name="T3" fmla="*/ 0 h 18"/>
                <a:gd name="T4" fmla="*/ 8 w 24"/>
                <a:gd name="T5" fmla="*/ 0 h 18"/>
                <a:gd name="T6" fmla="*/ 0 w 24"/>
                <a:gd name="T7" fmla="*/ 18 h 18"/>
                <a:gd name="T8" fmla="*/ 19 w 24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8"/>
                <a:gd name="T17" fmla="*/ 24 w 24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8">
                  <a:moveTo>
                    <a:pt x="19" y="18"/>
                  </a:moveTo>
                  <a:lnTo>
                    <a:pt x="24" y="0"/>
                  </a:lnTo>
                  <a:lnTo>
                    <a:pt x="8" y="0"/>
                  </a:lnTo>
                  <a:lnTo>
                    <a:pt x="0" y="18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3" name="Freeform 39"/>
            <p:cNvSpPr>
              <a:spLocks/>
            </p:cNvSpPr>
            <p:nvPr/>
          </p:nvSpPr>
          <p:spPr bwMode="auto">
            <a:xfrm>
              <a:off x="3618" y="1219"/>
              <a:ext cx="8" cy="6"/>
            </a:xfrm>
            <a:custGeom>
              <a:avLst/>
              <a:gdLst>
                <a:gd name="T0" fmla="*/ 4 w 24"/>
                <a:gd name="T1" fmla="*/ 18 h 18"/>
                <a:gd name="T2" fmla="*/ 0 w 24"/>
                <a:gd name="T3" fmla="*/ 0 h 18"/>
                <a:gd name="T4" fmla="*/ 16 w 24"/>
                <a:gd name="T5" fmla="*/ 0 h 18"/>
                <a:gd name="T6" fmla="*/ 24 w 24"/>
                <a:gd name="T7" fmla="*/ 18 h 18"/>
                <a:gd name="T8" fmla="*/ 4 w 24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8"/>
                <a:gd name="T17" fmla="*/ 24 w 24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8">
                  <a:moveTo>
                    <a:pt x="4" y="1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4" y="18"/>
                  </a:lnTo>
                  <a:lnTo>
                    <a:pt x="4" y="1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4" name="Rectangle 40"/>
            <p:cNvSpPr>
              <a:spLocks noChangeArrowheads="1"/>
            </p:cNvSpPr>
            <p:nvPr/>
          </p:nvSpPr>
          <p:spPr bwMode="auto">
            <a:xfrm>
              <a:off x="3512" y="1325"/>
              <a:ext cx="112" cy="34"/>
            </a:xfrm>
            <a:prstGeom prst="rect">
              <a:avLst/>
            </a:prstGeom>
            <a:solidFill>
              <a:srgbClr val="80808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5" name="Rectangle 41"/>
            <p:cNvSpPr>
              <a:spLocks noChangeArrowheads="1"/>
            </p:cNvSpPr>
            <p:nvPr/>
          </p:nvSpPr>
          <p:spPr bwMode="auto">
            <a:xfrm>
              <a:off x="3519" y="1329"/>
              <a:ext cx="98" cy="2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6" name="Oval 42"/>
            <p:cNvSpPr>
              <a:spLocks noChangeArrowheads="1"/>
            </p:cNvSpPr>
            <p:nvPr/>
          </p:nvSpPr>
          <p:spPr bwMode="auto">
            <a:xfrm>
              <a:off x="3555" y="1368"/>
              <a:ext cx="28" cy="28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grpSp>
          <p:nvGrpSpPr>
            <p:cNvPr id="1067" name="Group 43"/>
            <p:cNvGrpSpPr>
              <a:grpSpLocks/>
            </p:cNvGrpSpPr>
            <p:nvPr/>
          </p:nvGrpSpPr>
          <p:grpSpPr bwMode="auto">
            <a:xfrm>
              <a:off x="3553" y="1366"/>
              <a:ext cx="28" cy="28"/>
              <a:chOff x="1365" y="3291"/>
              <a:chExt cx="28" cy="28"/>
            </a:xfrm>
          </p:grpSpPr>
          <p:sp>
            <p:nvSpPr>
              <p:cNvPr id="1144" name="Oval 44"/>
              <p:cNvSpPr>
                <a:spLocks noChangeArrowheads="1"/>
              </p:cNvSpPr>
              <p:nvPr/>
            </p:nvSpPr>
            <p:spPr bwMode="auto">
              <a:xfrm>
                <a:off x="1365" y="3291"/>
                <a:ext cx="28" cy="28"/>
              </a:xfrm>
              <a:prstGeom prst="ellipse">
                <a:avLst/>
              </a:prstGeom>
              <a:solidFill>
                <a:srgbClr val="C0C0C0"/>
              </a:solidFill>
              <a:ln w="4763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45" name="Oval 45"/>
              <p:cNvSpPr>
                <a:spLocks noChangeArrowheads="1"/>
              </p:cNvSpPr>
              <p:nvPr/>
            </p:nvSpPr>
            <p:spPr bwMode="auto">
              <a:xfrm>
                <a:off x="1375" y="3297"/>
                <a:ext cx="7" cy="7"/>
              </a:xfrm>
              <a:prstGeom prst="ellipse">
                <a:avLst/>
              </a:prstGeom>
              <a:solidFill>
                <a:srgbClr val="3F3F3F"/>
              </a:solidFill>
              <a:ln w="4763">
                <a:solidFill>
                  <a:srgbClr val="3F3F3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46" name="Freeform 46"/>
              <p:cNvSpPr>
                <a:spLocks/>
              </p:cNvSpPr>
              <p:nvPr/>
            </p:nvSpPr>
            <p:spPr bwMode="auto">
              <a:xfrm>
                <a:off x="1373" y="3304"/>
                <a:ext cx="10" cy="9"/>
              </a:xfrm>
              <a:custGeom>
                <a:avLst/>
                <a:gdLst>
                  <a:gd name="T0" fmla="*/ 10 w 30"/>
                  <a:gd name="T1" fmla="*/ 0 h 29"/>
                  <a:gd name="T2" fmla="*/ 0 w 30"/>
                  <a:gd name="T3" fmla="*/ 29 h 29"/>
                  <a:gd name="T4" fmla="*/ 30 w 30"/>
                  <a:gd name="T5" fmla="*/ 29 h 29"/>
                  <a:gd name="T6" fmla="*/ 21 w 30"/>
                  <a:gd name="T7" fmla="*/ 0 h 29"/>
                  <a:gd name="T8" fmla="*/ 10 w 30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29"/>
                  <a:gd name="T17" fmla="*/ 30 w 30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29">
                    <a:moveTo>
                      <a:pt x="10" y="0"/>
                    </a:moveTo>
                    <a:lnTo>
                      <a:pt x="0" y="29"/>
                    </a:lnTo>
                    <a:lnTo>
                      <a:pt x="30" y="29"/>
                    </a:lnTo>
                    <a:lnTo>
                      <a:pt x="21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3F3F3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068" name="Rectangle 47"/>
            <p:cNvSpPr>
              <a:spLocks noChangeArrowheads="1"/>
            </p:cNvSpPr>
            <p:nvPr/>
          </p:nvSpPr>
          <p:spPr bwMode="auto">
            <a:xfrm>
              <a:off x="4283" y="669"/>
              <a:ext cx="357" cy="763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9" name="Rectangle 48"/>
            <p:cNvSpPr>
              <a:spLocks noChangeArrowheads="1"/>
            </p:cNvSpPr>
            <p:nvPr/>
          </p:nvSpPr>
          <p:spPr bwMode="auto">
            <a:xfrm>
              <a:off x="4307" y="703"/>
              <a:ext cx="308" cy="218"/>
            </a:xfrm>
            <a:prstGeom prst="rect">
              <a:avLst/>
            </a:prstGeom>
            <a:solidFill>
              <a:srgbClr val="9F9F9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0" name="Freeform 49"/>
            <p:cNvSpPr>
              <a:spLocks/>
            </p:cNvSpPr>
            <p:nvPr/>
          </p:nvSpPr>
          <p:spPr bwMode="auto">
            <a:xfrm>
              <a:off x="4402" y="741"/>
              <a:ext cx="135" cy="36"/>
            </a:xfrm>
            <a:custGeom>
              <a:avLst/>
              <a:gdLst>
                <a:gd name="T0" fmla="*/ 27 w 405"/>
                <a:gd name="T1" fmla="*/ 42 h 109"/>
                <a:gd name="T2" fmla="*/ 63 w 405"/>
                <a:gd name="T3" fmla="*/ 88 h 109"/>
                <a:gd name="T4" fmla="*/ 389 w 405"/>
                <a:gd name="T5" fmla="*/ 88 h 109"/>
                <a:gd name="T6" fmla="*/ 346 w 405"/>
                <a:gd name="T7" fmla="*/ 34 h 109"/>
                <a:gd name="T8" fmla="*/ 346 w 405"/>
                <a:gd name="T9" fmla="*/ 0 h 109"/>
                <a:gd name="T10" fmla="*/ 405 w 405"/>
                <a:gd name="T11" fmla="*/ 74 h 109"/>
                <a:gd name="T12" fmla="*/ 405 w 405"/>
                <a:gd name="T13" fmla="*/ 109 h 109"/>
                <a:gd name="T14" fmla="*/ 54 w 405"/>
                <a:gd name="T15" fmla="*/ 109 h 109"/>
                <a:gd name="T16" fmla="*/ 0 w 405"/>
                <a:gd name="T17" fmla="*/ 42 h 109"/>
                <a:gd name="T18" fmla="*/ 27 w 405"/>
                <a:gd name="T19" fmla="*/ 42 h 10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5"/>
                <a:gd name="T31" fmla="*/ 0 h 109"/>
                <a:gd name="T32" fmla="*/ 405 w 405"/>
                <a:gd name="T33" fmla="*/ 109 h 10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5" h="109">
                  <a:moveTo>
                    <a:pt x="27" y="42"/>
                  </a:moveTo>
                  <a:lnTo>
                    <a:pt x="63" y="88"/>
                  </a:lnTo>
                  <a:lnTo>
                    <a:pt x="389" y="88"/>
                  </a:lnTo>
                  <a:lnTo>
                    <a:pt x="346" y="34"/>
                  </a:lnTo>
                  <a:lnTo>
                    <a:pt x="346" y="0"/>
                  </a:lnTo>
                  <a:lnTo>
                    <a:pt x="405" y="74"/>
                  </a:lnTo>
                  <a:lnTo>
                    <a:pt x="405" y="109"/>
                  </a:lnTo>
                  <a:lnTo>
                    <a:pt x="54" y="109"/>
                  </a:lnTo>
                  <a:lnTo>
                    <a:pt x="0" y="42"/>
                  </a:lnTo>
                  <a:lnTo>
                    <a:pt x="27" y="42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1" name="Freeform 50"/>
            <p:cNvSpPr>
              <a:spLocks/>
            </p:cNvSpPr>
            <p:nvPr/>
          </p:nvSpPr>
          <p:spPr bwMode="auto">
            <a:xfrm>
              <a:off x="4402" y="737"/>
              <a:ext cx="62" cy="18"/>
            </a:xfrm>
            <a:custGeom>
              <a:avLst/>
              <a:gdLst>
                <a:gd name="T0" fmla="*/ 20 w 185"/>
                <a:gd name="T1" fmla="*/ 18 h 53"/>
                <a:gd name="T2" fmla="*/ 25 w 185"/>
                <a:gd name="T3" fmla="*/ 0 h 53"/>
                <a:gd name="T4" fmla="*/ 9 w 185"/>
                <a:gd name="T5" fmla="*/ 0 h 53"/>
                <a:gd name="T6" fmla="*/ 0 w 185"/>
                <a:gd name="T7" fmla="*/ 18 h 53"/>
                <a:gd name="T8" fmla="*/ 0 w 185"/>
                <a:gd name="T9" fmla="*/ 53 h 53"/>
                <a:gd name="T10" fmla="*/ 185 w 185"/>
                <a:gd name="T11" fmla="*/ 53 h 53"/>
                <a:gd name="T12" fmla="*/ 185 w 185"/>
                <a:gd name="T13" fmla="*/ 18 h 53"/>
                <a:gd name="T14" fmla="*/ 20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20" y="18"/>
                  </a:moveTo>
                  <a:lnTo>
                    <a:pt x="25" y="0"/>
                  </a:lnTo>
                  <a:lnTo>
                    <a:pt x="9" y="0"/>
                  </a:lnTo>
                  <a:lnTo>
                    <a:pt x="0" y="18"/>
                  </a:lnTo>
                  <a:lnTo>
                    <a:pt x="0" y="53"/>
                  </a:lnTo>
                  <a:lnTo>
                    <a:pt x="185" y="53"/>
                  </a:lnTo>
                  <a:lnTo>
                    <a:pt x="185" y="18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2" name="Freeform 51"/>
            <p:cNvSpPr>
              <a:spLocks/>
            </p:cNvSpPr>
            <p:nvPr/>
          </p:nvSpPr>
          <p:spPr bwMode="auto">
            <a:xfrm>
              <a:off x="4458" y="737"/>
              <a:ext cx="62" cy="18"/>
            </a:xfrm>
            <a:custGeom>
              <a:avLst/>
              <a:gdLst>
                <a:gd name="T0" fmla="*/ 166 w 185"/>
                <a:gd name="T1" fmla="*/ 18 h 53"/>
                <a:gd name="T2" fmla="*/ 161 w 185"/>
                <a:gd name="T3" fmla="*/ 0 h 53"/>
                <a:gd name="T4" fmla="*/ 177 w 185"/>
                <a:gd name="T5" fmla="*/ 0 h 53"/>
                <a:gd name="T6" fmla="*/ 185 w 185"/>
                <a:gd name="T7" fmla="*/ 18 h 53"/>
                <a:gd name="T8" fmla="*/ 185 w 185"/>
                <a:gd name="T9" fmla="*/ 53 h 53"/>
                <a:gd name="T10" fmla="*/ 0 w 185"/>
                <a:gd name="T11" fmla="*/ 53 h 53"/>
                <a:gd name="T12" fmla="*/ 0 w 185"/>
                <a:gd name="T13" fmla="*/ 18 h 53"/>
                <a:gd name="T14" fmla="*/ 166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66" y="18"/>
                  </a:moveTo>
                  <a:lnTo>
                    <a:pt x="161" y="0"/>
                  </a:lnTo>
                  <a:lnTo>
                    <a:pt x="177" y="0"/>
                  </a:lnTo>
                  <a:lnTo>
                    <a:pt x="185" y="18"/>
                  </a:lnTo>
                  <a:lnTo>
                    <a:pt x="185" y="53"/>
                  </a:lnTo>
                  <a:lnTo>
                    <a:pt x="0" y="53"/>
                  </a:lnTo>
                  <a:lnTo>
                    <a:pt x="0" y="18"/>
                  </a:lnTo>
                  <a:lnTo>
                    <a:pt x="166" y="1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3" name="Freeform 52"/>
            <p:cNvSpPr>
              <a:spLocks/>
            </p:cNvSpPr>
            <p:nvPr/>
          </p:nvSpPr>
          <p:spPr bwMode="auto">
            <a:xfrm>
              <a:off x="4402" y="737"/>
              <a:ext cx="9" cy="6"/>
            </a:xfrm>
            <a:custGeom>
              <a:avLst/>
              <a:gdLst>
                <a:gd name="T0" fmla="*/ 20 w 25"/>
                <a:gd name="T1" fmla="*/ 18 h 18"/>
                <a:gd name="T2" fmla="*/ 25 w 25"/>
                <a:gd name="T3" fmla="*/ 0 h 18"/>
                <a:gd name="T4" fmla="*/ 9 w 25"/>
                <a:gd name="T5" fmla="*/ 0 h 18"/>
                <a:gd name="T6" fmla="*/ 0 w 25"/>
                <a:gd name="T7" fmla="*/ 18 h 18"/>
                <a:gd name="T8" fmla="*/ 20 w 25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18"/>
                <a:gd name="T17" fmla="*/ 25 w 25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18">
                  <a:moveTo>
                    <a:pt x="20" y="18"/>
                  </a:moveTo>
                  <a:lnTo>
                    <a:pt x="25" y="0"/>
                  </a:lnTo>
                  <a:lnTo>
                    <a:pt x="9" y="0"/>
                  </a:lnTo>
                  <a:lnTo>
                    <a:pt x="0" y="18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4" name="Freeform 53"/>
            <p:cNvSpPr>
              <a:spLocks/>
            </p:cNvSpPr>
            <p:nvPr/>
          </p:nvSpPr>
          <p:spPr bwMode="auto">
            <a:xfrm>
              <a:off x="4512" y="737"/>
              <a:ext cx="8" cy="6"/>
            </a:xfrm>
            <a:custGeom>
              <a:avLst/>
              <a:gdLst>
                <a:gd name="T0" fmla="*/ 5 w 24"/>
                <a:gd name="T1" fmla="*/ 18 h 18"/>
                <a:gd name="T2" fmla="*/ 0 w 24"/>
                <a:gd name="T3" fmla="*/ 0 h 18"/>
                <a:gd name="T4" fmla="*/ 16 w 24"/>
                <a:gd name="T5" fmla="*/ 0 h 18"/>
                <a:gd name="T6" fmla="*/ 24 w 24"/>
                <a:gd name="T7" fmla="*/ 18 h 18"/>
                <a:gd name="T8" fmla="*/ 5 w 24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8"/>
                <a:gd name="T17" fmla="*/ 24 w 24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8">
                  <a:moveTo>
                    <a:pt x="5" y="1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4" y="18"/>
                  </a:lnTo>
                  <a:lnTo>
                    <a:pt x="5" y="1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5" name="Rectangle 54"/>
            <p:cNvSpPr>
              <a:spLocks noChangeArrowheads="1"/>
            </p:cNvSpPr>
            <p:nvPr/>
          </p:nvSpPr>
          <p:spPr bwMode="auto">
            <a:xfrm>
              <a:off x="4406" y="843"/>
              <a:ext cx="112" cy="34"/>
            </a:xfrm>
            <a:prstGeom prst="rect">
              <a:avLst/>
            </a:prstGeom>
            <a:solidFill>
              <a:srgbClr val="80808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6" name="Rectangle 55"/>
            <p:cNvSpPr>
              <a:spLocks noChangeArrowheads="1"/>
            </p:cNvSpPr>
            <p:nvPr/>
          </p:nvSpPr>
          <p:spPr bwMode="auto">
            <a:xfrm>
              <a:off x="4412" y="847"/>
              <a:ext cx="99" cy="2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7" name="Oval 56"/>
            <p:cNvSpPr>
              <a:spLocks noChangeArrowheads="1"/>
            </p:cNvSpPr>
            <p:nvPr/>
          </p:nvSpPr>
          <p:spPr bwMode="auto">
            <a:xfrm>
              <a:off x="4448" y="886"/>
              <a:ext cx="29" cy="28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8" name="Oval 57"/>
            <p:cNvSpPr>
              <a:spLocks noChangeArrowheads="1"/>
            </p:cNvSpPr>
            <p:nvPr/>
          </p:nvSpPr>
          <p:spPr bwMode="auto">
            <a:xfrm>
              <a:off x="4446" y="885"/>
              <a:ext cx="29" cy="27"/>
            </a:xfrm>
            <a:prstGeom prst="ellipse">
              <a:avLst/>
            </a:prstGeom>
            <a:solidFill>
              <a:srgbClr val="C0C0C0"/>
            </a:solidFill>
            <a:ln w="4763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9" name="Oval 58"/>
            <p:cNvSpPr>
              <a:spLocks noChangeArrowheads="1"/>
            </p:cNvSpPr>
            <p:nvPr/>
          </p:nvSpPr>
          <p:spPr bwMode="auto">
            <a:xfrm>
              <a:off x="4457" y="890"/>
              <a:ext cx="7" cy="7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0" name="Freeform 59"/>
            <p:cNvSpPr>
              <a:spLocks/>
            </p:cNvSpPr>
            <p:nvPr/>
          </p:nvSpPr>
          <p:spPr bwMode="auto">
            <a:xfrm>
              <a:off x="4455" y="897"/>
              <a:ext cx="10" cy="10"/>
            </a:xfrm>
            <a:custGeom>
              <a:avLst/>
              <a:gdLst>
                <a:gd name="T0" fmla="*/ 10 w 30"/>
                <a:gd name="T1" fmla="*/ 0 h 29"/>
                <a:gd name="T2" fmla="*/ 0 w 30"/>
                <a:gd name="T3" fmla="*/ 29 h 29"/>
                <a:gd name="T4" fmla="*/ 30 w 30"/>
                <a:gd name="T5" fmla="*/ 29 h 29"/>
                <a:gd name="T6" fmla="*/ 21 w 30"/>
                <a:gd name="T7" fmla="*/ 0 h 29"/>
                <a:gd name="T8" fmla="*/ 10 w 30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9"/>
                <a:gd name="T17" fmla="*/ 30 w 30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9">
                  <a:moveTo>
                    <a:pt x="10" y="0"/>
                  </a:moveTo>
                  <a:lnTo>
                    <a:pt x="0" y="29"/>
                  </a:lnTo>
                  <a:lnTo>
                    <a:pt x="30" y="29"/>
                  </a:lnTo>
                  <a:lnTo>
                    <a:pt x="21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3F3F3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1" name="Rectangle 60"/>
            <p:cNvSpPr>
              <a:spLocks noChangeArrowheads="1"/>
            </p:cNvSpPr>
            <p:nvPr/>
          </p:nvSpPr>
          <p:spPr bwMode="auto">
            <a:xfrm>
              <a:off x="4307" y="945"/>
              <a:ext cx="308" cy="217"/>
            </a:xfrm>
            <a:prstGeom prst="rect">
              <a:avLst/>
            </a:prstGeom>
            <a:solidFill>
              <a:srgbClr val="9F9F9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2" name="Freeform 61"/>
            <p:cNvSpPr>
              <a:spLocks/>
            </p:cNvSpPr>
            <p:nvPr/>
          </p:nvSpPr>
          <p:spPr bwMode="auto">
            <a:xfrm>
              <a:off x="4402" y="983"/>
              <a:ext cx="135" cy="36"/>
            </a:xfrm>
            <a:custGeom>
              <a:avLst/>
              <a:gdLst>
                <a:gd name="T0" fmla="*/ 27 w 405"/>
                <a:gd name="T1" fmla="*/ 42 h 109"/>
                <a:gd name="T2" fmla="*/ 63 w 405"/>
                <a:gd name="T3" fmla="*/ 88 h 109"/>
                <a:gd name="T4" fmla="*/ 389 w 405"/>
                <a:gd name="T5" fmla="*/ 88 h 109"/>
                <a:gd name="T6" fmla="*/ 346 w 405"/>
                <a:gd name="T7" fmla="*/ 34 h 109"/>
                <a:gd name="T8" fmla="*/ 346 w 405"/>
                <a:gd name="T9" fmla="*/ 0 h 109"/>
                <a:gd name="T10" fmla="*/ 405 w 405"/>
                <a:gd name="T11" fmla="*/ 74 h 109"/>
                <a:gd name="T12" fmla="*/ 405 w 405"/>
                <a:gd name="T13" fmla="*/ 109 h 109"/>
                <a:gd name="T14" fmla="*/ 54 w 405"/>
                <a:gd name="T15" fmla="*/ 109 h 109"/>
                <a:gd name="T16" fmla="*/ 0 w 405"/>
                <a:gd name="T17" fmla="*/ 42 h 109"/>
                <a:gd name="T18" fmla="*/ 27 w 405"/>
                <a:gd name="T19" fmla="*/ 42 h 10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5"/>
                <a:gd name="T31" fmla="*/ 0 h 109"/>
                <a:gd name="T32" fmla="*/ 405 w 405"/>
                <a:gd name="T33" fmla="*/ 109 h 10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5" h="109">
                  <a:moveTo>
                    <a:pt x="27" y="42"/>
                  </a:moveTo>
                  <a:lnTo>
                    <a:pt x="63" y="88"/>
                  </a:lnTo>
                  <a:lnTo>
                    <a:pt x="389" y="88"/>
                  </a:lnTo>
                  <a:lnTo>
                    <a:pt x="346" y="34"/>
                  </a:lnTo>
                  <a:lnTo>
                    <a:pt x="346" y="0"/>
                  </a:lnTo>
                  <a:lnTo>
                    <a:pt x="405" y="74"/>
                  </a:lnTo>
                  <a:lnTo>
                    <a:pt x="405" y="109"/>
                  </a:lnTo>
                  <a:lnTo>
                    <a:pt x="54" y="109"/>
                  </a:lnTo>
                  <a:lnTo>
                    <a:pt x="0" y="42"/>
                  </a:lnTo>
                  <a:lnTo>
                    <a:pt x="27" y="42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3" name="Freeform 62"/>
            <p:cNvSpPr>
              <a:spLocks/>
            </p:cNvSpPr>
            <p:nvPr/>
          </p:nvSpPr>
          <p:spPr bwMode="auto">
            <a:xfrm>
              <a:off x="4402" y="980"/>
              <a:ext cx="62" cy="17"/>
            </a:xfrm>
            <a:custGeom>
              <a:avLst/>
              <a:gdLst>
                <a:gd name="T0" fmla="*/ 20 w 185"/>
                <a:gd name="T1" fmla="*/ 17 h 53"/>
                <a:gd name="T2" fmla="*/ 25 w 185"/>
                <a:gd name="T3" fmla="*/ 0 h 53"/>
                <a:gd name="T4" fmla="*/ 9 w 185"/>
                <a:gd name="T5" fmla="*/ 0 h 53"/>
                <a:gd name="T6" fmla="*/ 0 w 185"/>
                <a:gd name="T7" fmla="*/ 17 h 53"/>
                <a:gd name="T8" fmla="*/ 0 w 185"/>
                <a:gd name="T9" fmla="*/ 53 h 53"/>
                <a:gd name="T10" fmla="*/ 185 w 185"/>
                <a:gd name="T11" fmla="*/ 53 h 53"/>
                <a:gd name="T12" fmla="*/ 185 w 185"/>
                <a:gd name="T13" fmla="*/ 17 h 53"/>
                <a:gd name="T14" fmla="*/ 20 w 185"/>
                <a:gd name="T15" fmla="*/ 17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20" y="17"/>
                  </a:moveTo>
                  <a:lnTo>
                    <a:pt x="25" y="0"/>
                  </a:lnTo>
                  <a:lnTo>
                    <a:pt x="9" y="0"/>
                  </a:lnTo>
                  <a:lnTo>
                    <a:pt x="0" y="17"/>
                  </a:lnTo>
                  <a:lnTo>
                    <a:pt x="0" y="53"/>
                  </a:lnTo>
                  <a:lnTo>
                    <a:pt x="185" y="53"/>
                  </a:lnTo>
                  <a:lnTo>
                    <a:pt x="185" y="17"/>
                  </a:lnTo>
                  <a:lnTo>
                    <a:pt x="20" y="17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4" name="Freeform 63"/>
            <p:cNvSpPr>
              <a:spLocks/>
            </p:cNvSpPr>
            <p:nvPr/>
          </p:nvSpPr>
          <p:spPr bwMode="auto">
            <a:xfrm>
              <a:off x="4458" y="980"/>
              <a:ext cx="62" cy="17"/>
            </a:xfrm>
            <a:custGeom>
              <a:avLst/>
              <a:gdLst>
                <a:gd name="T0" fmla="*/ 166 w 185"/>
                <a:gd name="T1" fmla="*/ 17 h 53"/>
                <a:gd name="T2" fmla="*/ 161 w 185"/>
                <a:gd name="T3" fmla="*/ 0 h 53"/>
                <a:gd name="T4" fmla="*/ 177 w 185"/>
                <a:gd name="T5" fmla="*/ 0 h 53"/>
                <a:gd name="T6" fmla="*/ 185 w 185"/>
                <a:gd name="T7" fmla="*/ 17 h 53"/>
                <a:gd name="T8" fmla="*/ 185 w 185"/>
                <a:gd name="T9" fmla="*/ 53 h 53"/>
                <a:gd name="T10" fmla="*/ 0 w 185"/>
                <a:gd name="T11" fmla="*/ 53 h 53"/>
                <a:gd name="T12" fmla="*/ 0 w 185"/>
                <a:gd name="T13" fmla="*/ 17 h 53"/>
                <a:gd name="T14" fmla="*/ 166 w 185"/>
                <a:gd name="T15" fmla="*/ 17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66" y="17"/>
                  </a:moveTo>
                  <a:lnTo>
                    <a:pt x="161" y="0"/>
                  </a:lnTo>
                  <a:lnTo>
                    <a:pt x="177" y="0"/>
                  </a:lnTo>
                  <a:lnTo>
                    <a:pt x="185" y="17"/>
                  </a:lnTo>
                  <a:lnTo>
                    <a:pt x="185" y="53"/>
                  </a:lnTo>
                  <a:lnTo>
                    <a:pt x="0" y="53"/>
                  </a:lnTo>
                  <a:lnTo>
                    <a:pt x="0" y="17"/>
                  </a:lnTo>
                  <a:lnTo>
                    <a:pt x="166" y="17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5" name="Freeform 64"/>
            <p:cNvSpPr>
              <a:spLocks/>
            </p:cNvSpPr>
            <p:nvPr/>
          </p:nvSpPr>
          <p:spPr bwMode="auto">
            <a:xfrm>
              <a:off x="4402" y="980"/>
              <a:ext cx="9" cy="5"/>
            </a:xfrm>
            <a:custGeom>
              <a:avLst/>
              <a:gdLst>
                <a:gd name="T0" fmla="*/ 20 w 25"/>
                <a:gd name="T1" fmla="*/ 17 h 17"/>
                <a:gd name="T2" fmla="*/ 25 w 25"/>
                <a:gd name="T3" fmla="*/ 0 h 17"/>
                <a:gd name="T4" fmla="*/ 9 w 25"/>
                <a:gd name="T5" fmla="*/ 0 h 17"/>
                <a:gd name="T6" fmla="*/ 0 w 25"/>
                <a:gd name="T7" fmla="*/ 17 h 17"/>
                <a:gd name="T8" fmla="*/ 20 w 25"/>
                <a:gd name="T9" fmla="*/ 1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17"/>
                <a:gd name="T17" fmla="*/ 25 w 25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17">
                  <a:moveTo>
                    <a:pt x="20" y="17"/>
                  </a:moveTo>
                  <a:lnTo>
                    <a:pt x="25" y="0"/>
                  </a:lnTo>
                  <a:lnTo>
                    <a:pt x="9" y="0"/>
                  </a:lnTo>
                  <a:lnTo>
                    <a:pt x="0" y="17"/>
                  </a:lnTo>
                  <a:lnTo>
                    <a:pt x="20" y="17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6" name="Freeform 65"/>
            <p:cNvSpPr>
              <a:spLocks/>
            </p:cNvSpPr>
            <p:nvPr/>
          </p:nvSpPr>
          <p:spPr bwMode="auto">
            <a:xfrm>
              <a:off x="4512" y="980"/>
              <a:ext cx="8" cy="5"/>
            </a:xfrm>
            <a:custGeom>
              <a:avLst/>
              <a:gdLst>
                <a:gd name="T0" fmla="*/ 5 w 24"/>
                <a:gd name="T1" fmla="*/ 17 h 17"/>
                <a:gd name="T2" fmla="*/ 0 w 24"/>
                <a:gd name="T3" fmla="*/ 0 h 17"/>
                <a:gd name="T4" fmla="*/ 16 w 24"/>
                <a:gd name="T5" fmla="*/ 0 h 17"/>
                <a:gd name="T6" fmla="*/ 24 w 24"/>
                <a:gd name="T7" fmla="*/ 17 h 17"/>
                <a:gd name="T8" fmla="*/ 5 w 24"/>
                <a:gd name="T9" fmla="*/ 1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7"/>
                <a:gd name="T17" fmla="*/ 24 w 24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7">
                  <a:moveTo>
                    <a:pt x="5" y="1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4" y="17"/>
                  </a:lnTo>
                  <a:lnTo>
                    <a:pt x="5" y="17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7" name="Rectangle 66"/>
            <p:cNvSpPr>
              <a:spLocks noChangeArrowheads="1"/>
            </p:cNvSpPr>
            <p:nvPr/>
          </p:nvSpPr>
          <p:spPr bwMode="auto">
            <a:xfrm>
              <a:off x="4406" y="1085"/>
              <a:ext cx="112" cy="34"/>
            </a:xfrm>
            <a:prstGeom prst="rect">
              <a:avLst/>
            </a:prstGeom>
            <a:solidFill>
              <a:srgbClr val="80808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8" name="Rectangle 67"/>
            <p:cNvSpPr>
              <a:spLocks noChangeArrowheads="1"/>
            </p:cNvSpPr>
            <p:nvPr/>
          </p:nvSpPr>
          <p:spPr bwMode="auto">
            <a:xfrm>
              <a:off x="4412" y="1089"/>
              <a:ext cx="99" cy="2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9" name="Oval 68"/>
            <p:cNvSpPr>
              <a:spLocks noChangeArrowheads="1"/>
            </p:cNvSpPr>
            <p:nvPr/>
          </p:nvSpPr>
          <p:spPr bwMode="auto">
            <a:xfrm>
              <a:off x="4448" y="1128"/>
              <a:ext cx="29" cy="28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0" name="Oval 69"/>
            <p:cNvSpPr>
              <a:spLocks noChangeArrowheads="1"/>
            </p:cNvSpPr>
            <p:nvPr/>
          </p:nvSpPr>
          <p:spPr bwMode="auto">
            <a:xfrm>
              <a:off x="4446" y="1127"/>
              <a:ext cx="29" cy="27"/>
            </a:xfrm>
            <a:prstGeom prst="ellipse">
              <a:avLst/>
            </a:prstGeom>
            <a:solidFill>
              <a:srgbClr val="C0C0C0"/>
            </a:solidFill>
            <a:ln w="4763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1" name="Oval 70"/>
            <p:cNvSpPr>
              <a:spLocks noChangeArrowheads="1"/>
            </p:cNvSpPr>
            <p:nvPr/>
          </p:nvSpPr>
          <p:spPr bwMode="auto">
            <a:xfrm>
              <a:off x="4457" y="1132"/>
              <a:ext cx="7" cy="7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2" name="Freeform 71"/>
            <p:cNvSpPr>
              <a:spLocks/>
            </p:cNvSpPr>
            <p:nvPr/>
          </p:nvSpPr>
          <p:spPr bwMode="auto">
            <a:xfrm>
              <a:off x="4455" y="1139"/>
              <a:ext cx="10" cy="10"/>
            </a:xfrm>
            <a:custGeom>
              <a:avLst/>
              <a:gdLst>
                <a:gd name="T0" fmla="*/ 10 w 30"/>
                <a:gd name="T1" fmla="*/ 0 h 30"/>
                <a:gd name="T2" fmla="*/ 0 w 30"/>
                <a:gd name="T3" fmla="*/ 30 h 30"/>
                <a:gd name="T4" fmla="*/ 30 w 30"/>
                <a:gd name="T5" fmla="*/ 30 h 30"/>
                <a:gd name="T6" fmla="*/ 21 w 30"/>
                <a:gd name="T7" fmla="*/ 0 h 30"/>
                <a:gd name="T8" fmla="*/ 10 w 30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0"/>
                <a:gd name="T17" fmla="*/ 30 w 30"/>
                <a:gd name="T18" fmla="*/ 30 h 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0">
                  <a:moveTo>
                    <a:pt x="10" y="0"/>
                  </a:moveTo>
                  <a:lnTo>
                    <a:pt x="0" y="30"/>
                  </a:lnTo>
                  <a:lnTo>
                    <a:pt x="30" y="30"/>
                  </a:lnTo>
                  <a:lnTo>
                    <a:pt x="21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3F3F3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3" name="Rectangle 72"/>
            <p:cNvSpPr>
              <a:spLocks noChangeArrowheads="1"/>
            </p:cNvSpPr>
            <p:nvPr/>
          </p:nvSpPr>
          <p:spPr bwMode="auto">
            <a:xfrm>
              <a:off x="4307" y="1185"/>
              <a:ext cx="308" cy="217"/>
            </a:xfrm>
            <a:prstGeom prst="rect">
              <a:avLst/>
            </a:prstGeom>
            <a:solidFill>
              <a:srgbClr val="9F9F9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4" name="Freeform 73"/>
            <p:cNvSpPr>
              <a:spLocks/>
            </p:cNvSpPr>
            <p:nvPr/>
          </p:nvSpPr>
          <p:spPr bwMode="auto">
            <a:xfrm>
              <a:off x="4402" y="1222"/>
              <a:ext cx="135" cy="37"/>
            </a:xfrm>
            <a:custGeom>
              <a:avLst/>
              <a:gdLst>
                <a:gd name="T0" fmla="*/ 27 w 405"/>
                <a:gd name="T1" fmla="*/ 43 h 111"/>
                <a:gd name="T2" fmla="*/ 63 w 405"/>
                <a:gd name="T3" fmla="*/ 90 h 111"/>
                <a:gd name="T4" fmla="*/ 389 w 405"/>
                <a:gd name="T5" fmla="*/ 90 h 111"/>
                <a:gd name="T6" fmla="*/ 346 w 405"/>
                <a:gd name="T7" fmla="*/ 35 h 111"/>
                <a:gd name="T8" fmla="*/ 346 w 405"/>
                <a:gd name="T9" fmla="*/ 0 h 111"/>
                <a:gd name="T10" fmla="*/ 405 w 405"/>
                <a:gd name="T11" fmla="*/ 76 h 111"/>
                <a:gd name="T12" fmla="*/ 405 w 405"/>
                <a:gd name="T13" fmla="*/ 111 h 111"/>
                <a:gd name="T14" fmla="*/ 54 w 405"/>
                <a:gd name="T15" fmla="*/ 111 h 111"/>
                <a:gd name="T16" fmla="*/ 0 w 405"/>
                <a:gd name="T17" fmla="*/ 43 h 111"/>
                <a:gd name="T18" fmla="*/ 27 w 405"/>
                <a:gd name="T19" fmla="*/ 43 h 1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5"/>
                <a:gd name="T31" fmla="*/ 0 h 111"/>
                <a:gd name="T32" fmla="*/ 405 w 405"/>
                <a:gd name="T33" fmla="*/ 111 h 1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5" h="111">
                  <a:moveTo>
                    <a:pt x="27" y="43"/>
                  </a:moveTo>
                  <a:lnTo>
                    <a:pt x="63" y="90"/>
                  </a:lnTo>
                  <a:lnTo>
                    <a:pt x="389" y="90"/>
                  </a:lnTo>
                  <a:lnTo>
                    <a:pt x="346" y="35"/>
                  </a:lnTo>
                  <a:lnTo>
                    <a:pt x="346" y="0"/>
                  </a:lnTo>
                  <a:lnTo>
                    <a:pt x="405" y="76"/>
                  </a:lnTo>
                  <a:lnTo>
                    <a:pt x="405" y="111"/>
                  </a:lnTo>
                  <a:lnTo>
                    <a:pt x="54" y="111"/>
                  </a:lnTo>
                  <a:lnTo>
                    <a:pt x="0" y="43"/>
                  </a:lnTo>
                  <a:lnTo>
                    <a:pt x="27" y="43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5" name="Freeform 74"/>
            <p:cNvSpPr>
              <a:spLocks/>
            </p:cNvSpPr>
            <p:nvPr/>
          </p:nvSpPr>
          <p:spPr bwMode="auto">
            <a:xfrm>
              <a:off x="4402" y="1219"/>
              <a:ext cx="62" cy="18"/>
            </a:xfrm>
            <a:custGeom>
              <a:avLst/>
              <a:gdLst>
                <a:gd name="T0" fmla="*/ 20 w 185"/>
                <a:gd name="T1" fmla="*/ 18 h 53"/>
                <a:gd name="T2" fmla="*/ 25 w 185"/>
                <a:gd name="T3" fmla="*/ 0 h 53"/>
                <a:gd name="T4" fmla="*/ 9 w 185"/>
                <a:gd name="T5" fmla="*/ 0 h 53"/>
                <a:gd name="T6" fmla="*/ 0 w 185"/>
                <a:gd name="T7" fmla="*/ 18 h 53"/>
                <a:gd name="T8" fmla="*/ 0 w 185"/>
                <a:gd name="T9" fmla="*/ 53 h 53"/>
                <a:gd name="T10" fmla="*/ 185 w 185"/>
                <a:gd name="T11" fmla="*/ 53 h 53"/>
                <a:gd name="T12" fmla="*/ 185 w 185"/>
                <a:gd name="T13" fmla="*/ 18 h 53"/>
                <a:gd name="T14" fmla="*/ 20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20" y="18"/>
                  </a:moveTo>
                  <a:lnTo>
                    <a:pt x="25" y="0"/>
                  </a:lnTo>
                  <a:lnTo>
                    <a:pt x="9" y="0"/>
                  </a:lnTo>
                  <a:lnTo>
                    <a:pt x="0" y="18"/>
                  </a:lnTo>
                  <a:lnTo>
                    <a:pt x="0" y="53"/>
                  </a:lnTo>
                  <a:lnTo>
                    <a:pt x="185" y="53"/>
                  </a:lnTo>
                  <a:lnTo>
                    <a:pt x="185" y="18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6" name="Freeform 75"/>
            <p:cNvSpPr>
              <a:spLocks/>
            </p:cNvSpPr>
            <p:nvPr/>
          </p:nvSpPr>
          <p:spPr bwMode="auto">
            <a:xfrm>
              <a:off x="4458" y="1219"/>
              <a:ext cx="62" cy="18"/>
            </a:xfrm>
            <a:custGeom>
              <a:avLst/>
              <a:gdLst>
                <a:gd name="T0" fmla="*/ 166 w 185"/>
                <a:gd name="T1" fmla="*/ 18 h 53"/>
                <a:gd name="T2" fmla="*/ 161 w 185"/>
                <a:gd name="T3" fmla="*/ 0 h 53"/>
                <a:gd name="T4" fmla="*/ 177 w 185"/>
                <a:gd name="T5" fmla="*/ 0 h 53"/>
                <a:gd name="T6" fmla="*/ 185 w 185"/>
                <a:gd name="T7" fmla="*/ 18 h 53"/>
                <a:gd name="T8" fmla="*/ 185 w 185"/>
                <a:gd name="T9" fmla="*/ 53 h 53"/>
                <a:gd name="T10" fmla="*/ 0 w 185"/>
                <a:gd name="T11" fmla="*/ 53 h 53"/>
                <a:gd name="T12" fmla="*/ 0 w 185"/>
                <a:gd name="T13" fmla="*/ 18 h 53"/>
                <a:gd name="T14" fmla="*/ 166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66" y="18"/>
                  </a:moveTo>
                  <a:lnTo>
                    <a:pt x="161" y="0"/>
                  </a:lnTo>
                  <a:lnTo>
                    <a:pt x="177" y="0"/>
                  </a:lnTo>
                  <a:lnTo>
                    <a:pt x="185" y="18"/>
                  </a:lnTo>
                  <a:lnTo>
                    <a:pt x="185" y="53"/>
                  </a:lnTo>
                  <a:lnTo>
                    <a:pt x="0" y="53"/>
                  </a:lnTo>
                  <a:lnTo>
                    <a:pt x="0" y="18"/>
                  </a:lnTo>
                  <a:lnTo>
                    <a:pt x="166" y="1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7" name="Freeform 76"/>
            <p:cNvSpPr>
              <a:spLocks/>
            </p:cNvSpPr>
            <p:nvPr/>
          </p:nvSpPr>
          <p:spPr bwMode="auto">
            <a:xfrm>
              <a:off x="4402" y="1219"/>
              <a:ext cx="9" cy="6"/>
            </a:xfrm>
            <a:custGeom>
              <a:avLst/>
              <a:gdLst>
                <a:gd name="T0" fmla="*/ 20 w 25"/>
                <a:gd name="T1" fmla="*/ 18 h 18"/>
                <a:gd name="T2" fmla="*/ 25 w 25"/>
                <a:gd name="T3" fmla="*/ 0 h 18"/>
                <a:gd name="T4" fmla="*/ 9 w 25"/>
                <a:gd name="T5" fmla="*/ 0 h 18"/>
                <a:gd name="T6" fmla="*/ 0 w 25"/>
                <a:gd name="T7" fmla="*/ 18 h 18"/>
                <a:gd name="T8" fmla="*/ 20 w 25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18"/>
                <a:gd name="T17" fmla="*/ 25 w 25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18">
                  <a:moveTo>
                    <a:pt x="20" y="18"/>
                  </a:moveTo>
                  <a:lnTo>
                    <a:pt x="25" y="0"/>
                  </a:lnTo>
                  <a:lnTo>
                    <a:pt x="9" y="0"/>
                  </a:lnTo>
                  <a:lnTo>
                    <a:pt x="0" y="18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8" name="Freeform 77"/>
            <p:cNvSpPr>
              <a:spLocks/>
            </p:cNvSpPr>
            <p:nvPr/>
          </p:nvSpPr>
          <p:spPr bwMode="auto">
            <a:xfrm>
              <a:off x="4512" y="1219"/>
              <a:ext cx="8" cy="6"/>
            </a:xfrm>
            <a:custGeom>
              <a:avLst/>
              <a:gdLst>
                <a:gd name="T0" fmla="*/ 5 w 24"/>
                <a:gd name="T1" fmla="*/ 18 h 18"/>
                <a:gd name="T2" fmla="*/ 0 w 24"/>
                <a:gd name="T3" fmla="*/ 0 h 18"/>
                <a:gd name="T4" fmla="*/ 16 w 24"/>
                <a:gd name="T5" fmla="*/ 0 h 18"/>
                <a:gd name="T6" fmla="*/ 24 w 24"/>
                <a:gd name="T7" fmla="*/ 18 h 18"/>
                <a:gd name="T8" fmla="*/ 5 w 24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8"/>
                <a:gd name="T17" fmla="*/ 24 w 24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8">
                  <a:moveTo>
                    <a:pt x="5" y="1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4" y="18"/>
                  </a:lnTo>
                  <a:lnTo>
                    <a:pt x="5" y="18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9" name="Rectangle 78"/>
            <p:cNvSpPr>
              <a:spLocks noChangeArrowheads="1"/>
            </p:cNvSpPr>
            <p:nvPr/>
          </p:nvSpPr>
          <p:spPr bwMode="auto">
            <a:xfrm>
              <a:off x="4406" y="1325"/>
              <a:ext cx="112" cy="34"/>
            </a:xfrm>
            <a:prstGeom prst="rect">
              <a:avLst/>
            </a:prstGeom>
            <a:solidFill>
              <a:srgbClr val="80808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0" name="Rectangle 79"/>
            <p:cNvSpPr>
              <a:spLocks noChangeArrowheads="1"/>
            </p:cNvSpPr>
            <p:nvPr/>
          </p:nvSpPr>
          <p:spPr bwMode="auto">
            <a:xfrm>
              <a:off x="4412" y="1329"/>
              <a:ext cx="99" cy="2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1" name="Oval 80"/>
            <p:cNvSpPr>
              <a:spLocks noChangeArrowheads="1"/>
            </p:cNvSpPr>
            <p:nvPr/>
          </p:nvSpPr>
          <p:spPr bwMode="auto">
            <a:xfrm>
              <a:off x="4448" y="1368"/>
              <a:ext cx="29" cy="28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2" name="Oval 81"/>
            <p:cNvSpPr>
              <a:spLocks noChangeArrowheads="1"/>
            </p:cNvSpPr>
            <p:nvPr/>
          </p:nvSpPr>
          <p:spPr bwMode="auto">
            <a:xfrm>
              <a:off x="4446" y="1366"/>
              <a:ext cx="29" cy="28"/>
            </a:xfrm>
            <a:prstGeom prst="ellipse">
              <a:avLst/>
            </a:prstGeom>
            <a:solidFill>
              <a:srgbClr val="C0C0C0"/>
            </a:solidFill>
            <a:ln w="4763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3" name="Oval 82"/>
            <p:cNvSpPr>
              <a:spLocks noChangeArrowheads="1"/>
            </p:cNvSpPr>
            <p:nvPr/>
          </p:nvSpPr>
          <p:spPr bwMode="auto">
            <a:xfrm>
              <a:off x="4457" y="1372"/>
              <a:ext cx="7" cy="7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4" name="Freeform 83"/>
            <p:cNvSpPr>
              <a:spLocks/>
            </p:cNvSpPr>
            <p:nvPr/>
          </p:nvSpPr>
          <p:spPr bwMode="auto">
            <a:xfrm>
              <a:off x="4455" y="1379"/>
              <a:ext cx="10" cy="9"/>
            </a:xfrm>
            <a:custGeom>
              <a:avLst/>
              <a:gdLst>
                <a:gd name="T0" fmla="*/ 10 w 30"/>
                <a:gd name="T1" fmla="*/ 0 h 29"/>
                <a:gd name="T2" fmla="*/ 0 w 30"/>
                <a:gd name="T3" fmla="*/ 29 h 29"/>
                <a:gd name="T4" fmla="*/ 30 w 30"/>
                <a:gd name="T5" fmla="*/ 29 h 29"/>
                <a:gd name="T6" fmla="*/ 21 w 30"/>
                <a:gd name="T7" fmla="*/ 0 h 29"/>
                <a:gd name="T8" fmla="*/ 10 w 30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9"/>
                <a:gd name="T17" fmla="*/ 30 w 30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9">
                  <a:moveTo>
                    <a:pt x="10" y="0"/>
                  </a:moveTo>
                  <a:lnTo>
                    <a:pt x="0" y="29"/>
                  </a:lnTo>
                  <a:lnTo>
                    <a:pt x="30" y="29"/>
                  </a:lnTo>
                  <a:lnTo>
                    <a:pt x="21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3F3F3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5" name="Rectangle 84"/>
            <p:cNvSpPr>
              <a:spLocks noChangeArrowheads="1"/>
            </p:cNvSpPr>
            <p:nvPr/>
          </p:nvSpPr>
          <p:spPr bwMode="auto">
            <a:xfrm>
              <a:off x="3834" y="669"/>
              <a:ext cx="357" cy="763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6" name="Rectangle 85"/>
            <p:cNvSpPr>
              <a:spLocks noChangeArrowheads="1"/>
            </p:cNvSpPr>
            <p:nvPr/>
          </p:nvSpPr>
          <p:spPr bwMode="auto">
            <a:xfrm>
              <a:off x="3858" y="703"/>
              <a:ext cx="308" cy="218"/>
            </a:xfrm>
            <a:prstGeom prst="rect">
              <a:avLst/>
            </a:prstGeom>
            <a:solidFill>
              <a:srgbClr val="9F9F9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7" name="Rectangle 86"/>
            <p:cNvSpPr>
              <a:spLocks noChangeArrowheads="1"/>
            </p:cNvSpPr>
            <p:nvPr/>
          </p:nvSpPr>
          <p:spPr bwMode="auto">
            <a:xfrm>
              <a:off x="3836" y="1169"/>
              <a:ext cx="353" cy="110"/>
            </a:xfrm>
            <a:prstGeom prst="rect">
              <a:avLst/>
            </a:prstGeom>
            <a:solidFill>
              <a:srgbClr val="9F9F9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8" name="Rectangle 87"/>
            <p:cNvSpPr>
              <a:spLocks noChangeArrowheads="1"/>
            </p:cNvSpPr>
            <p:nvPr/>
          </p:nvSpPr>
          <p:spPr bwMode="auto">
            <a:xfrm>
              <a:off x="3858" y="1185"/>
              <a:ext cx="308" cy="217"/>
            </a:xfrm>
            <a:prstGeom prst="rect">
              <a:avLst/>
            </a:prstGeom>
            <a:solidFill>
              <a:srgbClr val="9F9F9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9" name="Rectangle 88"/>
            <p:cNvSpPr>
              <a:spLocks noChangeArrowheads="1"/>
            </p:cNvSpPr>
            <p:nvPr/>
          </p:nvSpPr>
          <p:spPr bwMode="auto">
            <a:xfrm>
              <a:off x="3856" y="1169"/>
              <a:ext cx="312" cy="109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0" name="Freeform 89"/>
            <p:cNvSpPr>
              <a:spLocks/>
            </p:cNvSpPr>
            <p:nvPr/>
          </p:nvSpPr>
          <p:spPr bwMode="auto">
            <a:xfrm>
              <a:off x="3953" y="1222"/>
              <a:ext cx="135" cy="37"/>
            </a:xfrm>
            <a:custGeom>
              <a:avLst/>
              <a:gdLst>
                <a:gd name="T0" fmla="*/ 27 w 405"/>
                <a:gd name="T1" fmla="*/ 43 h 111"/>
                <a:gd name="T2" fmla="*/ 63 w 405"/>
                <a:gd name="T3" fmla="*/ 90 h 111"/>
                <a:gd name="T4" fmla="*/ 389 w 405"/>
                <a:gd name="T5" fmla="*/ 90 h 111"/>
                <a:gd name="T6" fmla="*/ 346 w 405"/>
                <a:gd name="T7" fmla="*/ 35 h 111"/>
                <a:gd name="T8" fmla="*/ 346 w 405"/>
                <a:gd name="T9" fmla="*/ 0 h 111"/>
                <a:gd name="T10" fmla="*/ 405 w 405"/>
                <a:gd name="T11" fmla="*/ 76 h 111"/>
                <a:gd name="T12" fmla="*/ 405 w 405"/>
                <a:gd name="T13" fmla="*/ 111 h 111"/>
                <a:gd name="T14" fmla="*/ 54 w 405"/>
                <a:gd name="T15" fmla="*/ 111 h 111"/>
                <a:gd name="T16" fmla="*/ 0 w 405"/>
                <a:gd name="T17" fmla="*/ 43 h 111"/>
                <a:gd name="T18" fmla="*/ 27 w 405"/>
                <a:gd name="T19" fmla="*/ 43 h 1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5"/>
                <a:gd name="T31" fmla="*/ 0 h 111"/>
                <a:gd name="T32" fmla="*/ 405 w 405"/>
                <a:gd name="T33" fmla="*/ 111 h 1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5" h="111">
                  <a:moveTo>
                    <a:pt x="27" y="43"/>
                  </a:moveTo>
                  <a:lnTo>
                    <a:pt x="63" y="90"/>
                  </a:lnTo>
                  <a:lnTo>
                    <a:pt x="389" y="90"/>
                  </a:lnTo>
                  <a:lnTo>
                    <a:pt x="346" y="35"/>
                  </a:lnTo>
                  <a:lnTo>
                    <a:pt x="346" y="0"/>
                  </a:lnTo>
                  <a:lnTo>
                    <a:pt x="405" y="76"/>
                  </a:lnTo>
                  <a:lnTo>
                    <a:pt x="405" y="111"/>
                  </a:lnTo>
                  <a:lnTo>
                    <a:pt x="54" y="111"/>
                  </a:lnTo>
                  <a:lnTo>
                    <a:pt x="0" y="43"/>
                  </a:lnTo>
                  <a:lnTo>
                    <a:pt x="27" y="43"/>
                  </a:lnTo>
                  <a:close/>
                </a:path>
              </a:pathLst>
            </a:custGeom>
            <a:solidFill>
              <a:srgbClr val="3F3F3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1" name="Freeform 90"/>
            <p:cNvSpPr>
              <a:spLocks/>
            </p:cNvSpPr>
            <p:nvPr/>
          </p:nvSpPr>
          <p:spPr bwMode="auto">
            <a:xfrm>
              <a:off x="3953" y="1219"/>
              <a:ext cx="62" cy="18"/>
            </a:xfrm>
            <a:custGeom>
              <a:avLst/>
              <a:gdLst>
                <a:gd name="T0" fmla="*/ 20 w 185"/>
                <a:gd name="T1" fmla="*/ 18 h 53"/>
                <a:gd name="T2" fmla="*/ 25 w 185"/>
                <a:gd name="T3" fmla="*/ 0 h 53"/>
                <a:gd name="T4" fmla="*/ 9 w 185"/>
                <a:gd name="T5" fmla="*/ 0 h 53"/>
                <a:gd name="T6" fmla="*/ 0 w 185"/>
                <a:gd name="T7" fmla="*/ 18 h 53"/>
                <a:gd name="T8" fmla="*/ 0 w 185"/>
                <a:gd name="T9" fmla="*/ 53 h 53"/>
                <a:gd name="T10" fmla="*/ 185 w 185"/>
                <a:gd name="T11" fmla="*/ 53 h 53"/>
                <a:gd name="T12" fmla="*/ 185 w 185"/>
                <a:gd name="T13" fmla="*/ 18 h 53"/>
                <a:gd name="T14" fmla="*/ 20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20" y="18"/>
                  </a:moveTo>
                  <a:lnTo>
                    <a:pt x="25" y="0"/>
                  </a:lnTo>
                  <a:lnTo>
                    <a:pt x="9" y="0"/>
                  </a:lnTo>
                  <a:lnTo>
                    <a:pt x="0" y="18"/>
                  </a:lnTo>
                  <a:lnTo>
                    <a:pt x="0" y="53"/>
                  </a:lnTo>
                  <a:lnTo>
                    <a:pt x="185" y="53"/>
                  </a:lnTo>
                  <a:lnTo>
                    <a:pt x="185" y="18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rgbClr val="9F9F9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2" name="Freeform 91"/>
            <p:cNvSpPr>
              <a:spLocks/>
            </p:cNvSpPr>
            <p:nvPr/>
          </p:nvSpPr>
          <p:spPr bwMode="auto">
            <a:xfrm>
              <a:off x="4009" y="1219"/>
              <a:ext cx="62" cy="18"/>
            </a:xfrm>
            <a:custGeom>
              <a:avLst/>
              <a:gdLst>
                <a:gd name="T0" fmla="*/ 166 w 185"/>
                <a:gd name="T1" fmla="*/ 18 h 53"/>
                <a:gd name="T2" fmla="*/ 161 w 185"/>
                <a:gd name="T3" fmla="*/ 0 h 53"/>
                <a:gd name="T4" fmla="*/ 177 w 185"/>
                <a:gd name="T5" fmla="*/ 0 h 53"/>
                <a:gd name="T6" fmla="*/ 185 w 185"/>
                <a:gd name="T7" fmla="*/ 18 h 53"/>
                <a:gd name="T8" fmla="*/ 185 w 185"/>
                <a:gd name="T9" fmla="*/ 53 h 53"/>
                <a:gd name="T10" fmla="*/ 0 w 185"/>
                <a:gd name="T11" fmla="*/ 53 h 53"/>
                <a:gd name="T12" fmla="*/ 0 w 185"/>
                <a:gd name="T13" fmla="*/ 18 h 53"/>
                <a:gd name="T14" fmla="*/ 166 w 185"/>
                <a:gd name="T15" fmla="*/ 18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"/>
                <a:gd name="T25" fmla="*/ 0 h 53"/>
                <a:gd name="T26" fmla="*/ 185 w 1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" h="53">
                  <a:moveTo>
                    <a:pt x="166" y="18"/>
                  </a:moveTo>
                  <a:lnTo>
                    <a:pt x="161" y="0"/>
                  </a:lnTo>
                  <a:lnTo>
                    <a:pt x="177" y="0"/>
                  </a:lnTo>
                  <a:lnTo>
                    <a:pt x="185" y="18"/>
                  </a:lnTo>
                  <a:lnTo>
                    <a:pt x="185" y="53"/>
                  </a:lnTo>
                  <a:lnTo>
                    <a:pt x="0" y="53"/>
                  </a:lnTo>
                  <a:lnTo>
                    <a:pt x="0" y="18"/>
                  </a:lnTo>
                  <a:lnTo>
                    <a:pt x="166" y="18"/>
                  </a:lnTo>
                  <a:close/>
                </a:path>
              </a:pathLst>
            </a:custGeom>
            <a:solidFill>
              <a:srgbClr val="9F9F9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3" name="Freeform 92"/>
            <p:cNvSpPr>
              <a:spLocks/>
            </p:cNvSpPr>
            <p:nvPr/>
          </p:nvSpPr>
          <p:spPr bwMode="auto">
            <a:xfrm>
              <a:off x="3953" y="1219"/>
              <a:ext cx="8" cy="6"/>
            </a:xfrm>
            <a:custGeom>
              <a:avLst/>
              <a:gdLst>
                <a:gd name="T0" fmla="*/ 20 w 25"/>
                <a:gd name="T1" fmla="*/ 18 h 18"/>
                <a:gd name="T2" fmla="*/ 25 w 25"/>
                <a:gd name="T3" fmla="*/ 0 h 18"/>
                <a:gd name="T4" fmla="*/ 9 w 25"/>
                <a:gd name="T5" fmla="*/ 0 h 18"/>
                <a:gd name="T6" fmla="*/ 0 w 25"/>
                <a:gd name="T7" fmla="*/ 18 h 18"/>
                <a:gd name="T8" fmla="*/ 20 w 25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18"/>
                <a:gd name="T17" fmla="*/ 25 w 25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18">
                  <a:moveTo>
                    <a:pt x="20" y="18"/>
                  </a:moveTo>
                  <a:lnTo>
                    <a:pt x="25" y="0"/>
                  </a:lnTo>
                  <a:lnTo>
                    <a:pt x="9" y="0"/>
                  </a:lnTo>
                  <a:lnTo>
                    <a:pt x="0" y="18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4" name="Freeform 93"/>
            <p:cNvSpPr>
              <a:spLocks/>
            </p:cNvSpPr>
            <p:nvPr/>
          </p:nvSpPr>
          <p:spPr bwMode="auto">
            <a:xfrm>
              <a:off x="4063" y="1219"/>
              <a:ext cx="8" cy="6"/>
            </a:xfrm>
            <a:custGeom>
              <a:avLst/>
              <a:gdLst>
                <a:gd name="T0" fmla="*/ 5 w 24"/>
                <a:gd name="T1" fmla="*/ 18 h 18"/>
                <a:gd name="T2" fmla="*/ 0 w 24"/>
                <a:gd name="T3" fmla="*/ 0 h 18"/>
                <a:gd name="T4" fmla="*/ 16 w 24"/>
                <a:gd name="T5" fmla="*/ 0 h 18"/>
                <a:gd name="T6" fmla="*/ 24 w 24"/>
                <a:gd name="T7" fmla="*/ 18 h 18"/>
                <a:gd name="T8" fmla="*/ 5 w 24"/>
                <a:gd name="T9" fmla="*/ 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8"/>
                <a:gd name="T17" fmla="*/ 24 w 24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8">
                  <a:moveTo>
                    <a:pt x="5" y="1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4" y="18"/>
                  </a:lnTo>
                  <a:lnTo>
                    <a:pt x="5" y="1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5" name="Rectangle 94"/>
            <p:cNvSpPr>
              <a:spLocks noChangeArrowheads="1"/>
            </p:cNvSpPr>
            <p:nvPr/>
          </p:nvSpPr>
          <p:spPr bwMode="auto">
            <a:xfrm>
              <a:off x="3957" y="1325"/>
              <a:ext cx="111" cy="34"/>
            </a:xfrm>
            <a:prstGeom prst="rect">
              <a:avLst/>
            </a:prstGeom>
            <a:solidFill>
              <a:srgbClr val="80808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6" name="Rectangle 95"/>
            <p:cNvSpPr>
              <a:spLocks noChangeArrowheads="1"/>
            </p:cNvSpPr>
            <p:nvPr/>
          </p:nvSpPr>
          <p:spPr bwMode="auto">
            <a:xfrm>
              <a:off x="3963" y="1329"/>
              <a:ext cx="98" cy="2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7" name="Oval 96"/>
            <p:cNvSpPr>
              <a:spLocks noChangeArrowheads="1"/>
            </p:cNvSpPr>
            <p:nvPr/>
          </p:nvSpPr>
          <p:spPr bwMode="auto">
            <a:xfrm>
              <a:off x="3999" y="1368"/>
              <a:ext cx="28" cy="28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8" name="Oval 97"/>
            <p:cNvSpPr>
              <a:spLocks noChangeArrowheads="1"/>
            </p:cNvSpPr>
            <p:nvPr/>
          </p:nvSpPr>
          <p:spPr bwMode="auto">
            <a:xfrm>
              <a:off x="3997" y="1366"/>
              <a:ext cx="28" cy="28"/>
            </a:xfrm>
            <a:prstGeom prst="ellipse">
              <a:avLst/>
            </a:prstGeom>
            <a:solidFill>
              <a:srgbClr val="C0C0C0"/>
            </a:solidFill>
            <a:ln w="4763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9" name="Oval 98"/>
            <p:cNvSpPr>
              <a:spLocks noChangeArrowheads="1"/>
            </p:cNvSpPr>
            <p:nvPr/>
          </p:nvSpPr>
          <p:spPr bwMode="auto">
            <a:xfrm>
              <a:off x="4007" y="1372"/>
              <a:ext cx="8" cy="7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0" name="Freeform 99"/>
            <p:cNvSpPr>
              <a:spLocks/>
            </p:cNvSpPr>
            <p:nvPr/>
          </p:nvSpPr>
          <p:spPr bwMode="auto">
            <a:xfrm>
              <a:off x="4006" y="1379"/>
              <a:ext cx="10" cy="9"/>
            </a:xfrm>
            <a:custGeom>
              <a:avLst/>
              <a:gdLst>
                <a:gd name="T0" fmla="*/ 10 w 30"/>
                <a:gd name="T1" fmla="*/ 0 h 29"/>
                <a:gd name="T2" fmla="*/ 0 w 30"/>
                <a:gd name="T3" fmla="*/ 29 h 29"/>
                <a:gd name="T4" fmla="*/ 30 w 30"/>
                <a:gd name="T5" fmla="*/ 29 h 29"/>
                <a:gd name="T6" fmla="*/ 21 w 30"/>
                <a:gd name="T7" fmla="*/ 0 h 29"/>
                <a:gd name="T8" fmla="*/ 10 w 30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9"/>
                <a:gd name="T17" fmla="*/ 30 w 30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9">
                  <a:moveTo>
                    <a:pt x="10" y="0"/>
                  </a:moveTo>
                  <a:lnTo>
                    <a:pt x="0" y="29"/>
                  </a:lnTo>
                  <a:lnTo>
                    <a:pt x="30" y="29"/>
                  </a:lnTo>
                  <a:lnTo>
                    <a:pt x="21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3F3F3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1" name="Freeform 100"/>
            <p:cNvSpPr>
              <a:spLocks/>
            </p:cNvSpPr>
            <p:nvPr/>
          </p:nvSpPr>
          <p:spPr bwMode="auto">
            <a:xfrm>
              <a:off x="4045" y="714"/>
              <a:ext cx="178" cy="172"/>
            </a:xfrm>
            <a:custGeom>
              <a:avLst/>
              <a:gdLst>
                <a:gd name="T0" fmla="*/ 119 w 535"/>
                <a:gd name="T1" fmla="*/ 0 h 515"/>
                <a:gd name="T2" fmla="*/ 535 w 535"/>
                <a:gd name="T3" fmla="*/ 25 h 515"/>
                <a:gd name="T4" fmla="*/ 388 w 535"/>
                <a:gd name="T5" fmla="*/ 515 h 515"/>
                <a:gd name="T6" fmla="*/ 0 w 535"/>
                <a:gd name="T7" fmla="*/ 515 h 515"/>
                <a:gd name="T8" fmla="*/ 119 w 535"/>
                <a:gd name="T9" fmla="*/ 0 h 5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5"/>
                <a:gd name="T16" fmla="*/ 0 h 515"/>
                <a:gd name="T17" fmla="*/ 535 w 535"/>
                <a:gd name="T18" fmla="*/ 515 h 5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5" h="515">
                  <a:moveTo>
                    <a:pt x="119" y="0"/>
                  </a:moveTo>
                  <a:lnTo>
                    <a:pt x="535" y="25"/>
                  </a:lnTo>
                  <a:lnTo>
                    <a:pt x="388" y="515"/>
                  </a:lnTo>
                  <a:lnTo>
                    <a:pt x="0" y="515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9F9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2" name="Freeform 101"/>
            <p:cNvSpPr>
              <a:spLocks/>
            </p:cNvSpPr>
            <p:nvPr/>
          </p:nvSpPr>
          <p:spPr bwMode="auto">
            <a:xfrm>
              <a:off x="4041" y="719"/>
              <a:ext cx="172" cy="166"/>
            </a:xfrm>
            <a:custGeom>
              <a:avLst/>
              <a:gdLst>
                <a:gd name="T0" fmla="*/ 114 w 515"/>
                <a:gd name="T1" fmla="*/ 0 h 497"/>
                <a:gd name="T2" fmla="*/ 515 w 515"/>
                <a:gd name="T3" fmla="*/ 24 h 497"/>
                <a:gd name="T4" fmla="*/ 374 w 515"/>
                <a:gd name="T5" fmla="*/ 497 h 497"/>
                <a:gd name="T6" fmla="*/ 0 w 515"/>
                <a:gd name="T7" fmla="*/ 497 h 497"/>
                <a:gd name="T8" fmla="*/ 114 w 515"/>
                <a:gd name="T9" fmla="*/ 0 h 4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5"/>
                <a:gd name="T16" fmla="*/ 0 h 497"/>
                <a:gd name="T17" fmla="*/ 515 w 515"/>
                <a:gd name="T18" fmla="*/ 497 h 4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5" h="497">
                  <a:moveTo>
                    <a:pt x="114" y="0"/>
                  </a:moveTo>
                  <a:lnTo>
                    <a:pt x="515" y="24"/>
                  </a:lnTo>
                  <a:lnTo>
                    <a:pt x="374" y="497"/>
                  </a:lnTo>
                  <a:lnTo>
                    <a:pt x="0" y="49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BFBFD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3" name="Freeform 102"/>
            <p:cNvSpPr>
              <a:spLocks/>
            </p:cNvSpPr>
            <p:nvPr/>
          </p:nvSpPr>
          <p:spPr bwMode="auto">
            <a:xfrm>
              <a:off x="4036" y="725"/>
              <a:ext cx="159" cy="154"/>
            </a:xfrm>
            <a:custGeom>
              <a:avLst/>
              <a:gdLst>
                <a:gd name="T0" fmla="*/ 106 w 477"/>
                <a:gd name="T1" fmla="*/ 0 h 460"/>
                <a:gd name="T2" fmla="*/ 477 w 477"/>
                <a:gd name="T3" fmla="*/ 21 h 460"/>
                <a:gd name="T4" fmla="*/ 347 w 477"/>
                <a:gd name="T5" fmla="*/ 460 h 460"/>
                <a:gd name="T6" fmla="*/ 0 w 477"/>
                <a:gd name="T7" fmla="*/ 460 h 460"/>
                <a:gd name="T8" fmla="*/ 106 w 477"/>
                <a:gd name="T9" fmla="*/ 0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7"/>
                <a:gd name="T16" fmla="*/ 0 h 460"/>
                <a:gd name="T17" fmla="*/ 477 w 477"/>
                <a:gd name="T18" fmla="*/ 460 h 4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7" h="460">
                  <a:moveTo>
                    <a:pt x="106" y="0"/>
                  </a:moveTo>
                  <a:lnTo>
                    <a:pt x="477" y="21"/>
                  </a:lnTo>
                  <a:lnTo>
                    <a:pt x="347" y="460"/>
                  </a:lnTo>
                  <a:lnTo>
                    <a:pt x="0" y="460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DFD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4" name="Freeform 103"/>
            <p:cNvSpPr>
              <a:spLocks/>
            </p:cNvSpPr>
            <p:nvPr/>
          </p:nvSpPr>
          <p:spPr bwMode="auto">
            <a:xfrm>
              <a:off x="4032" y="731"/>
              <a:ext cx="147" cy="152"/>
            </a:xfrm>
            <a:custGeom>
              <a:avLst/>
              <a:gdLst>
                <a:gd name="T0" fmla="*/ 106 w 442"/>
                <a:gd name="T1" fmla="*/ 0 h 458"/>
                <a:gd name="T2" fmla="*/ 442 w 442"/>
                <a:gd name="T3" fmla="*/ 19 h 458"/>
                <a:gd name="T4" fmla="*/ 308 w 442"/>
                <a:gd name="T5" fmla="*/ 457 h 458"/>
                <a:gd name="T6" fmla="*/ 0 w 442"/>
                <a:gd name="T7" fmla="*/ 458 h 458"/>
                <a:gd name="T8" fmla="*/ 106 w 442"/>
                <a:gd name="T9" fmla="*/ 0 h 4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2"/>
                <a:gd name="T16" fmla="*/ 0 h 458"/>
                <a:gd name="T17" fmla="*/ 442 w 442"/>
                <a:gd name="T18" fmla="*/ 458 h 4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2" h="458">
                  <a:moveTo>
                    <a:pt x="106" y="0"/>
                  </a:moveTo>
                  <a:lnTo>
                    <a:pt x="442" y="19"/>
                  </a:lnTo>
                  <a:lnTo>
                    <a:pt x="308" y="457"/>
                  </a:lnTo>
                  <a:lnTo>
                    <a:pt x="0" y="458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5" name="Freeform 104"/>
            <p:cNvSpPr>
              <a:spLocks/>
            </p:cNvSpPr>
            <p:nvPr/>
          </p:nvSpPr>
          <p:spPr bwMode="auto">
            <a:xfrm>
              <a:off x="3796" y="725"/>
              <a:ext cx="179" cy="172"/>
            </a:xfrm>
            <a:custGeom>
              <a:avLst/>
              <a:gdLst>
                <a:gd name="T0" fmla="*/ 416 w 535"/>
                <a:gd name="T1" fmla="*/ 0 h 515"/>
                <a:gd name="T2" fmla="*/ 0 w 535"/>
                <a:gd name="T3" fmla="*/ 24 h 515"/>
                <a:gd name="T4" fmla="*/ 148 w 535"/>
                <a:gd name="T5" fmla="*/ 515 h 515"/>
                <a:gd name="T6" fmla="*/ 535 w 535"/>
                <a:gd name="T7" fmla="*/ 515 h 515"/>
                <a:gd name="T8" fmla="*/ 416 w 535"/>
                <a:gd name="T9" fmla="*/ 0 h 5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5"/>
                <a:gd name="T16" fmla="*/ 0 h 515"/>
                <a:gd name="T17" fmla="*/ 535 w 535"/>
                <a:gd name="T18" fmla="*/ 515 h 5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5" h="515">
                  <a:moveTo>
                    <a:pt x="416" y="0"/>
                  </a:moveTo>
                  <a:lnTo>
                    <a:pt x="0" y="24"/>
                  </a:lnTo>
                  <a:lnTo>
                    <a:pt x="148" y="515"/>
                  </a:lnTo>
                  <a:lnTo>
                    <a:pt x="535" y="515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FF9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6" name="Freeform 105"/>
            <p:cNvSpPr>
              <a:spLocks/>
            </p:cNvSpPr>
            <p:nvPr/>
          </p:nvSpPr>
          <p:spPr bwMode="auto">
            <a:xfrm>
              <a:off x="3805" y="730"/>
              <a:ext cx="172" cy="165"/>
            </a:xfrm>
            <a:custGeom>
              <a:avLst/>
              <a:gdLst>
                <a:gd name="T0" fmla="*/ 401 w 515"/>
                <a:gd name="T1" fmla="*/ 0 h 496"/>
                <a:gd name="T2" fmla="*/ 0 w 515"/>
                <a:gd name="T3" fmla="*/ 23 h 496"/>
                <a:gd name="T4" fmla="*/ 141 w 515"/>
                <a:gd name="T5" fmla="*/ 496 h 496"/>
                <a:gd name="T6" fmla="*/ 515 w 515"/>
                <a:gd name="T7" fmla="*/ 496 h 496"/>
                <a:gd name="T8" fmla="*/ 401 w 515"/>
                <a:gd name="T9" fmla="*/ 0 h 4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5"/>
                <a:gd name="T16" fmla="*/ 0 h 496"/>
                <a:gd name="T17" fmla="*/ 515 w 515"/>
                <a:gd name="T18" fmla="*/ 496 h 4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5" h="496">
                  <a:moveTo>
                    <a:pt x="401" y="0"/>
                  </a:moveTo>
                  <a:lnTo>
                    <a:pt x="0" y="23"/>
                  </a:lnTo>
                  <a:lnTo>
                    <a:pt x="141" y="496"/>
                  </a:lnTo>
                  <a:lnTo>
                    <a:pt x="515" y="496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7" name="Freeform 106"/>
            <p:cNvSpPr>
              <a:spLocks/>
            </p:cNvSpPr>
            <p:nvPr/>
          </p:nvSpPr>
          <p:spPr bwMode="auto">
            <a:xfrm>
              <a:off x="3819" y="734"/>
              <a:ext cx="159" cy="153"/>
            </a:xfrm>
            <a:custGeom>
              <a:avLst/>
              <a:gdLst>
                <a:gd name="T0" fmla="*/ 372 w 477"/>
                <a:gd name="T1" fmla="*/ 0 h 460"/>
                <a:gd name="T2" fmla="*/ 0 w 477"/>
                <a:gd name="T3" fmla="*/ 21 h 460"/>
                <a:gd name="T4" fmla="*/ 130 w 477"/>
                <a:gd name="T5" fmla="*/ 460 h 460"/>
                <a:gd name="T6" fmla="*/ 477 w 477"/>
                <a:gd name="T7" fmla="*/ 460 h 460"/>
                <a:gd name="T8" fmla="*/ 372 w 477"/>
                <a:gd name="T9" fmla="*/ 0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7"/>
                <a:gd name="T16" fmla="*/ 0 h 460"/>
                <a:gd name="T17" fmla="*/ 477 w 477"/>
                <a:gd name="T18" fmla="*/ 460 h 4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7" h="460">
                  <a:moveTo>
                    <a:pt x="372" y="0"/>
                  </a:moveTo>
                  <a:lnTo>
                    <a:pt x="0" y="21"/>
                  </a:lnTo>
                  <a:lnTo>
                    <a:pt x="130" y="460"/>
                  </a:lnTo>
                  <a:lnTo>
                    <a:pt x="477" y="46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rgbClr val="FFFFD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8" name="Freeform 107"/>
            <p:cNvSpPr>
              <a:spLocks/>
            </p:cNvSpPr>
            <p:nvPr/>
          </p:nvSpPr>
          <p:spPr bwMode="auto">
            <a:xfrm>
              <a:off x="3836" y="739"/>
              <a:ext cx="147" cy="153"/>
            </a:xfrm>
            <a:custGeom>
              <a:avLst/>
              <a:gdLst>
                <a:gd name="T0" fmla="*/ 336 w 443"/>
                <a:gd name="T1" fmla="*/ 0 h 458"/>
                <a:gd name="T2" fmla="*/ 0 w 443"/>
                <a:gd name="T3" fmla="*/ 19 h 458"/>
                <a:gd name="T4" fmla="*/ 135 w 443"/>
                <a:gd name="T5" fmla="*/ 457 h 458"/>
                <a:gd name="T6" fmla="*/ 443 w 443"/>
                <a:gd name="T7" fmla="*/ 458 h 458"/>
                <a:gd name="T8" fmla="*/ 336 w 443"/>
                <a:gd name="T9" fmla="*/ 0 h 4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3"/>
                <a:gd name="T16" fmla="*/ 0 h 458"/>
                <a:gd name="T17" fmla="*/ 443 w 443"/>
                <a:gd name="T18" fmla="*/ 458 h 4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3" h="458">
                  <a:moveTo>
                    <a:pt x="336" y="0"/>
                  </a:moveTo>
                  <a:lnTo>
                    <a:pt x="0" y="19"/>
                  </a:lnTo>
                  <a:lnTo>
                    <a:pt x="135" y="457"/>
                  </a:lnTo>
                  <a:lnTo>
                    <a:pt x="443" y="45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9" name="Freeform 108"/>
            <p:cNvSpPr>
              <a:spLocks/>
            </p:cNvSpPr>
            <p:nvPr/>
          </p:nvSpPr>
          <p:spPr bwMode="auto">
            <a:xfrm>
              <a:off x="3908" y="700"/>
              <a:ext cx="196" cy="210"/>
            </a:xfrm>
            <a:custGeom>
              <a:avLst/>
              <a:gdLst>
                <a:gd name="T0" fmla="*/ 74 w 589"/>
                <a:gd name="T1" fmla="*/ 628 h 628"/>
                <a:gd name="T2" fmla="*/ 0 w 589"/>
                <a:gd name="T3" fmla="*/ 21 h 628"/>
                <a:gd name="T4" fmla="*/ 287 w 589"/>
                <a:gd name="T5" fmla="*/ 0 h 628"/>
                <a:gd name="T6" fmla="*/ 589 w 589"/>
                <a:gd name="T7" fmla="*/ 14 h 628"/>
                <a:gd name="T8" fmla="*/ 567 w 589"/>
                <a:gd name="T9" fmla="*/ 628 h 628"/>
                <a:gd name="T10" fmla="*/ 74 w 589"/>
                <a:gd name="T11" fmla="*/ 628 h 6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89"/>
                <a:gd name="T19" fmla="*/ 0 h 628"/>
                <a:gd name="T20" fmla="*/ 589 w 589"/>
                <a:gd name="T21" fmla="*/ 628 h 6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89" h="628">
                  <a:moveTo>
                    <a:pt x="74" y="628"/>
                  </a:moveTo>
                  <a:lnTo>
                    <a:pt x="0" y="21"/>
                  </a:lnTo>
                  <a:lnTo>
                    <a:pt x="287" y="0"/>
                  </a:lnTo>
                  <a:lnTo>
                    <a:pt x="589" y="14"/>
                  </a:lnTo>
                  <a:lnTo>
                    <a:pt x="567" y="628"/>
                  </a:lnTo>
                  <a:lnTo>
                    <a:pt x="74" y="628"/>
                  </a:lnTo>
                  <a:close/>
                </a:path>
              </a:pathLst>
            </a:custGeom>
            <a:solidFill>
              <a:srgbClr val="9F9F9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0" name="Freeform 109"/>
            <p:cNvSpPr>
              <a:spLocks/>
            </p:cNvSpPr>
            <p:nvPr/>
          </p:nvSpPr>
          <p:spPr bwMode="auto">
            <a:xfrm>
              <a:off x="3915" y="706"/>
              <a:ext cx="184" cy="196"/>
            </a:xfrm>
            <a:custGeom>
              <a:avLst/>
              <a:gdLst>
                <a:gd name="T0" fmla="*/ 69 w 552"/>
                <a:gd name="T1" fmla="*/ 588 h 588"/>
                <a:gd name="T2" fmla="*/ 0 w 552"/>
                <a:gd name="T3" fmla="*/ 19 h 588"/>
                <a:gd name="T4" fmla="*/ 269 w 552"/>
                <a:gd name="T5" fmla="*/ 0 h 588"/>
                <a:gd name="T6" fmla="*/ 552 w 552"/>
                <a:gd name="T7" fmla="*/ 13 h 588"/>
                <a:gd name="T8" fmla="*/ 531 w 552"/>
                <a:gd name="T9" fmla="*/ 588 h 588"/>
                <a:gd name="T10" fmla="*/ 69 w 552"/>
                <a:gd name="T11" fmla="*/ 588 h 5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2"/>
                <a:gd name="T19" fmla="*/ 0 h 588"/>
                <a:gd name="T20" fmla="*/ 552 w 552"/>
                <a:gd name="T21" fmla="*/ 588 h 5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2" h="588">
                  <a:moveTo>
                    <a:pt x="69" y="588"/>
                  </a:moveTo>
                  <a:lnTo>
                    <a:pt x="0" y="19"/>
                  </a:lnTo>
                  <a:lnTo>
                    <a:pt x="269" y="0"/>
                  </a:lnTo>
                  <a:lnTo>
                    <a:pt x="552" y="13"/>
                  </a:lnTo>
                  <a:lnTo>
                    <a:pt x="531" y="588"/>
                  </a:lnTo>
                  <a:lnTo>
                    <a:pt x="69" y="588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1" name="Freeform 110"/>
            <p:cNvSpPr>
              <a:spLocks/>
            </p:cNvSpPr>
            <p:nvPr/>
          </p:nvSpPr>
          <p:spPr bwMode="auto">
            <a:xfrm>
              <a:off x="3920" y="714"/>
              <a:ext cx="174" cy="185"/>
            </a:xfrm>
            <a:custGeom>
              <a:avLst/>
              <a:gdLst>
                <a:gd name="T0" fmla="*/ 65 w 521"/>
                <a:gd name="T1" fmla="*/ 555 h 555"/>
                <a:gd name="T2" fmla="*/ 0 w 521"/>
                <a:gd name="T3" fmla="*/ 18 h 555"/>
                <a:gd name="T4" fmla="*/ 254 w 521"/>
                <a:gd name="T5" fmla="*/ 0 h 555"/>
                <a:gd name="T6" fmla="*/ 521 w 521"/>
                <a:gd name="T7" fmla="*/ 12 h 555"/>
                <a:gd name="T8" fmla="*/ 502 w 521"/>
                <a:gd name="T9" fmla="*/ 555 h 555"/>
                <a:gd name="T10" fmla="*/ 65 w 521"/>
                <a:gd name="T11" fmla="*/ 555 h 5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1"/>
                <a:gd name="T19" fmla="*/ 0 h 555"/>
                <a:gd name="T20" fmla="*/ 521 w 521"/>
                <a:gd name="T21" fmla="*/ 555 h 55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1" h="555">
                  <a:moveTo>
                    <a:pt x="65" y="555"/>
                  </a:moveTo>
                  <a:lnTo>
                    <a:pt x="0" y="18"/>
                  </a:lnTo>
                  <a:lnTo>
                    <a:pt x="254" y="0"/>
                  </a:lnTo>
                  <a:lnTo>
                    <a:pt x="521" y="12"/>
                  </a:lnTo>
                  <a:lnTo>
                    <a:pt x="502" y="555"/>
                  </a:lnTo>
                  <a:lnTo>
                    <a:pt x="65" y="55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2" name="Freeform 111"/>
            <p:cNvSpPr>
              <a:spLocks/>
            </p:cNvSpPr>
            <p:nvPr/>
          </p:nvSpPr>
          <p:spPr bwMode="auto">
            <a:xfrm>
              <a:off x="3785" y="885"/>
              <a:ext cx="460" cy="318"/>
            </a:xfrm>
            <a:custGeom>
              <a:avLst/>
              <a:gdLst>
                <a:gd name="T0" fmla="*/ 1257 w 1381"/>
                <a:gd name="T1" fmla="*/ 0 h 952"/>
                <a:gd name="T2" fmla="*/ 125 w 1381"/>
                <a:gd name="T3" fmla="*/ 0 h 952"/>
                <a:gd name="T4" fmla="*/ 109 w 1381"/>
                <a:gd name="T5" fmla="*/ 30 h 952"/>
                <a:gd name="T6" fmla="*/ 94 w 1381"/>
                <a:gd name="T7" fmla="*/ 61 h 952"/>
                <a:gd name="T8" fmla="*/ 80 w 1381"/>
                <a:gd name="T9" fmla="*/ 94 h 952"/>
                <a:gd name="T10" fmla="*/ 67 w 1381"/>
                <a:gd name="T11" fmla="*/ 122 h 952"/>
                <a:gd name="T12" fmla="*/ 55 w 1381"/>
                <a:gd name="T13" fmla="*/ 162 h 952"/>
                <a:gd name="T14" fmla="*/ 44 w 1381"/>
                <a:gd name="T15" fmla="*/ 196 h 952"/>
                <a:gd name="T16" fmla="*/ 34 w 1381"/>
                <a:gd name="T17" fmla="*/ 232 h 952"/>
                <a:gd name="T18" fmla="*/ 26 w 1381"/>
                <a:gd name="T19" fmla="*/ 269 h 952"/>
                <a:gd name="T20" fmla="*/ 15 w 1381"/>
                <a:gd name="T21" fmla="*/ 314 h 952"/>
                <a:gd name="T22" fmla="*/ 6 w 1381"/>
                <a:gd name="T23" fmla="*/ 361 h 952"/>
                <a:gd name="T24" fmla="*/ 2 w 1381"/>
                <a:gd name="T25" fmla="*/ 422 h 952"/>
                <a:gd name="T26" fmla="*/ 0 w 1381"/>
                <a:gd name="T27" fmla="*/ 499 h 952"/>
                <a:gd name="T28" fmla="*/ 1 w 1381"/>
                <a:gd name="T29" fmla="*/ 567 h 952"/>
                <a:gd name="T30" fmla="*/ 6 w 1381"/>
                <a:gd name="T31" fmla="*/ 622 h 952"/>
                <a:gd name="T32" fmla="*/ 14 w 1381"/>
                <a:gd name="T33" fmla="*/ 677 h 952"/>
                <a:gd name="T34" fmla="*/ 22 w 1381"/>
                <a:gd name="T35" fmla="*/ 725 h 952"/>
                <a:gd name="T36" fmla="*/ 34 w 1381"/>
                <a:gd name="T37" fmla="*/ 780 h 952"/>
                <a:gd name="T38" fmla="*/ 48 w 1381"/>
                <a:gd name="T39" fmla="*/ 826 h 952"/>
                <a:gd name="T40" fmla="*/ 66 w 1381"/>
                <a:gd name="T41" fmla="*/ 883 h 952"/>
                <a:gd name="T42" fmla="*/ 93 w 1381"/>
                <a:gd name="T43" fmla="*/ 952 h 952"/>
                <a:gd name="T44" fmla="*/ 1289 w 1381"/>
                <a:gd name="T45" fmla="*/ 952 h 952"/>
                <a:gd name="T46" fmla="*/ 1306 w 1381"/>
                <a:gd name="T47" fmla="*/ 907 h 952"/>
                <a:gd name="T48" fmla="*/ 1322 w 1381"/>
                <a:gd name="T49" fmla="*/ 863 h 952"/>
                <a:gd name="T50" fmla="*/ 1336 w 1381"/>
                <a:gd name="T51" fmla="*/ 825 h 952"/>
                <a:gd name="T52" fmla="*/ 1347 w 1381"/>
                <a:gd name="T53" fmla="*/ 785 h 952"/>
                <a:gd name="T54" fmla="*/ 1358 w 1381"/>
                <a:gd name="T55" fmla="*/ 738 h 952"/>
                <a:gd name="T56" fmla="*/ 1365 w 1381"/>
                <a:gd name="T57" fmla="*/ 694 h 952"/>
                <a:gd name="T58" fmla="*/ 1373 w 1381"/>
                <a:gd name="T59" fmla="*/ 647 h 952"/>
                <a:gd name="T60" fmla="*/ 1378 w 1381"/>
                <a:gd name="T61" fmla="*/ 603 h 952"/>
                <a:gd name="T62" fmla="*/ 1380 w 1381"/>
                <a:gd name="T63" fmla="*/ 564 h 952"/>
                <a:gd name="T64" fmla="*/ 1381 w 1381"/>
                <a:gd name="T65" fmla="*/ 518 h 952"/>
                <a:gd name="T66" fmla="*/ 1381 w 1381"/>
                <a:gd name="T67" fmla="*/ 474 h 952"/>
                <a:gd name="T68" fmla="*/ 1379 w 1381"/>
                <a:gd name="T69" fmla="*/ 427 h 952"/>
                <a:gd name="T70" fmla="*/ 1374 w 1381"/>
                <a:gd name="T71" fmla="*/ 384 h 952"/>
                <a:gd name="T72" fmla="*/ 1370 w 1381"/>
                <a:gd name="T73" fmla="*/ 346 h 952"/>
                <a:gd name="T74" fmla="*/ 1364 w 1381"/>
                <a:gd name="T75" fmla="*/ 310 h 952"/>
                <a:gd name="T76" fmla="*/ 1357 w 1381"/>
                <a:gd name="T77" fmla="*/ 271 h 952"/>
                <a:gd name="T78" fmla="*/ 1347 w 1381"/>
                <a:gd name="T79" fmla="*/ 231 h 952"/>
                <a:gd name="T80" fmla="*/ 1336 w 1381"/>
                <a:gd name="T81" fmla="*/ 190 h 952"/>
                <a:gd name="T82" fmla="*/ 1322 w 1381"/>
                <a:gd name="T83" fmla="*/ 151 h 952"/>
                <a:gd name="T84" fmla="*/ 1308 w 1381"/>
                <a:gd name="T85" fmla="*/ 113 h 952"/>
                <a:gd name="T86" fmla="*/ 1290 w 1381"/>
                <a:gd name="T87" fmla="*/ 70 h 952"/>
                <a:gd name="T88" fmla="*/ 1272 w 1381"/>
                <a:gd name="T89" fmla="*/ 32 h 952"/>
                <a:gd name="T90" fmla="*/ 1257 w 1381"/>
                <a:gd name="T91" fmla="*/ 0 h 9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81"/>
                <a:gd name="T139" fmla="*/ 0 h 952"/>
                <a:gd name="T140" fmla="*/ 1381 w 1381"/>
                <a:gd name="T141" fmla="*/ 952 h 9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81" h="952">
                  <a:moveTo>
                    <a:pt x="1257" y="0"/>
                  </a:moveTo>
                  <a:lnTo>
                    <a:pt x="125" y="0"/>
                  </a:lnTo>
                  <a:lnTo>
                    <a:pt x="109" y="30"/>
                  </a:lnTo>
                  <a:lnTo>
                    <a:pt x="94" y="61"/>
                  </a:lnTo>
                  <a:lnTo>
                    <a:pt x="80" y="94"/>
                  </a:lnTo>
                  <a:lnTo>
                    <a:pt x="67" y="122"/>
                  </a:lnTo>
                  <a:lnTo>
                    <a:pt x="55" y="162"/>
                  </a:lnTo>
                  <a:lnTo>
                    <a:pt x="44" y="196"/>
                  </a:lnTo>
                  <a:lnTo>
                    <a:pt x="34" y="232"/>
                  </a:lnTo>
                  <a:lnTo>
                    <a:pt x="26" y="269"/>
                  </a:lnTo>
                  <a:lnTo>
                    <a:pt x="15" y="314"/>
                  </a:lnTo>
                  <a:lnTo>
                    <a:pt x="6" y="361"/>
                  </a:lnTo>
                  <a:lnTo>
                    <a:pt x="2" y="422"/>
                  </a:lnTo>
                  <a:lnTo>
                    <a:pt x="0" y="499"/>
                  </a:lnTo>
                  <a:lnTo>
                    <a:pt x="1" y="567"/>
                  </a:lnTo>
                  <a:lnTo>
                    <a:pt x="6" y="622"/>
                  </a:lnTo>
                  <a:lnTo>
                    <a:pt x="14" y="677"/>
                  </a:lnTo>
                  <a:lnTo>
                    <a:pt x="22" y="725"/>
                  </a:lnTo>
                  <a:lnTo>
                    <a:pt x="34" y="780"/>
                  </a:lnTo>
                  <a:lnTo>
                    <a:pt x="48" y="826"/>
                  </a:lnTo>
                  <a:lnTo>
                    <a:pt x="66" y="883"/>
                  </a:lnTo>
                  <a:lnTo>
                    <a:pt x="93" y="952"/>
                  </a:lnTo>
                  <a:lnTo>
                    <a:pt x="1289" y="952"/>
                  </a:lnTo>
                  <a:lnTo>
                    <a:pt x="1306" y="907"/>
                  </a:lnTo>
                  <a:lnTo>
                    <a:pt x="1322" y="863"/>
                  </a:lnTo>
                  <a:lnTo>
                    <a:pt x="1336" y="825"/>
                  </a:lnTo>
                  <a:lnTo>
                    <a:pt x="1347" y="785"/>
                  </a:lnTo>
                  <a:lnTo>
                    <a:pt x="1358" y="738"/>
                  </a:lnTo>
                  <a:lnTo>
                    <a:pt x="1365" y="694"/>
                  </a:lnTo>
                  <a:lnTo>
                    <a:pt x="1373" y="647"/>
                  </a:lnTo>
                  <a:lnTo>
                    <a:pt x="1378" y="603"/>
                  </a:lnTo>
                  <a:lnTo>
                    <a:pt x="1380" y="564"/>
                  </a:lnTo>
                  <a:lnTo>
                    <a:pt x="1381" y="518"/>
                  </a:lnTo>
                  <a:lnTo>
                    <a:pt x="1381" y="474"/>
                  </a:lnTo>
                  <a:lnTo>
                    <a:pt x="1379" y="427"/>
                  </a:lnTo>
                  <a:lnTo>
                    <a:pt x="1374" y="384"/>
                  </a:lnTo>
                  <a:lnTo>
                    <a:pt x="1370" y="346"/>
                  </a:lnTo>
                  <a:lnTo>
                    <a:pt x="1364" y="310"/>
                  </a:lnTo>
                  <a:lnTo>
                    <a:pt x="1357" y="271"/>
                  </a:lnTo>
                  <a:lnTo>
                    <a:pt x="1347" y="231"/>
                  </a:lnTo>
                  <a:lnTo>
                    <a:pt x="1336" y="190"/>
                  </a:lnTo>
                  <a:lnTo>
                    <a:pt x="1322" y="151"/>
                  </a:lnTo>
                  <a:lnTo>
                    <a:pt x="1308" y="113"/>
                  </a:lnTo>
                  <a:lnTo>
                    <a:pt x="1290" y="70"/>
                  </a:lnTo>
                  <a:lnTo>
                    <a:pt x="1272" y="32"/>
                  </a:lnTo>
                  <a:lnTo>
                    <a:pt x="1257" y="0"/>
                  </a:lnTo>
                  <a:close/>
                </a:path>
              </a:pathLst>
            </a:custGeom>
            <a:solidFill>
              <a:srgbClr val="C0C0C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3" name="Freeform 112"/>
            <p:cNvSpPr>
              <a:spLocks/>
            </p:cNvSpPr>
            <p:nvPr/>
          </p:nvSpPr>
          <p:spPr bwMode="auto">
            <a:xfrm>
              <a:off x="3931" y="953"/>
              <a:ext cx="176" cy="48"/>
            </a:xfrm>
            <a:custGeom>
              <a:avLst/>
              <a:gdLst>
                <a:gd name="T0" fmla="*/ 34 w 529"/>
                <a:gd name="T1" fmla="*/ 55 h 143"/>
                <a:gd name="T2" fmla="*/ 81 w 529"/>
                <a:gd name="T3" fmla="*/ 116 h 143"/>
                <a:gd name="T4" fmla="*/ 508 w 529"/>
                <a:gd name="T5" fmla="*/ 116 h 143"/>
                <a:gd name="T6" fmla="*/ 453 w 529"/>
                <a:gd name="T7" fmla="*/ 45 h 143"/>
                <a:gd name="T8" fmla="*/ 453 w 529"/>
                <a:gd name="T9" fmla="*/ 0 h 143"/>
                <a:gd name="T10" fmla="*/ 529 w 529"/>
                <a:gd name="T11" fmla="*/ 97 h 143"/>
                <a:gd name="T12" fmla="*/ 529 w 529"/>
                <a:gd name="T13" fmla="*/ 143 h 143"/>
                <a:gd name="T14" fmla="*/ 70 w 529"/>
                <a:gd name="T15" fmla="*/ 143 h 143"/>
                <a:gd name="T16" fmla="*/ 0 w 529"/>
                <a:gd name="T17" fmla="*/ 55 h 143"/>
                <a:gd name="T18" fmla="*/ 34 w 529"/>
                <a:gd name="T19" fmla="*/ 55 h 1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29"/>
                <a:gd name="T31" fmla="*/ 0 h 143"/>
                <a:gd name="T32" fmla="*/ 529 w 529"/>
                <a:gd name="T33" fmla="*/ 143 h 14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29" h="143">
                  <a:moveTo>
                    <a:pt x="34" y="55"/>
                  </a:moveTo>
                  <a:lnTo>
                    <a:pt x="81" y="116"/>
                  </a:lnTo>
                  <a:lnTo>
                    <a:pt x="508" y="116"/>
                  </a:lnTo>
                  <a:lnTo>
                    <a:pt x="453" y="45"/>
                  </a:lnTo>
                  <a:lnTo>
                    <a:pt x="453" y="0"/>
                  </a:lnTo>
                  <a:lnTo>
                    <a:pt x="529" y="97"/>
                  </a:lnTo>
                  <a:lnTo>
                    <a:pt x="529" y="143"/>
                  </a:lnTo>
                  <a:lnTo>
                    <a:pt x="70" y="143"/>
                  </a:lnTo>
                  <a:lnTo>
                    <a:pt x="0" y="55"/>
                  </a:lnTo>
                  <a:lnTo>
                    <a:pt x="34" y="55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4" name="Freeform 113"/>
            <p:cNvSpPr>
              <a:spLocks/>
            </p:cNvSpPr>
            <p:nvPr/>
          </p:nvSpPr>
          <p:spPr bwMode="auto">
            <a:xfrm>
              <a:off x="3931" y="949"/>
              <a:ext cx="81" cy="23"/>
            </a:xfrm>
            <a:custGeom>
              <a:avLst/>
              <a:gdLst>
                <a:gd name="T0" fmla="*/ 24 w 242"/>
                <a:gd name="T1" fmla="*/ 23 h 69"/>
                <a:gd name="T2" fmla="*/ 32 w 242"/>
                <a:gd name="T3" fmla="*/ 0 h 69"/>
                <a:gd name="T4" fmla="*/ 11 w 242"/>
                <a:gd name="T5" fmla="*/ 0 h 69"/>
                <a:gd name="T6" fmla="*/ 0 w 242"/>
                <a:gd name="T7" fmla="*/ 23 h 69"/>
                <a:gd name="T8" fmla="*/ 0 w 242"/>
                <a:gd name="T9" fmla="*/ 69 h 69"/>
                <a:gd name="T10" fmla="*/ 242 w 242"/>
                <a:gd name="T11" fmla="*/ 69 h 69"/>
                <a:gd name="T12" fmla="*/ 242 w 242"/>
                <a:gd name="T13" fmla="*/ 23 h 69"/>
                <a:gd name="T14" fmla="*/ 24 w 242"/>
                <a:gd name="T15" fmla="*/ 23 h 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"/>
                <a:gd name="T25" fmla="*/ 0 h 69"/>
                <a:gd name="T26" fmla="*/ 242 w 242"/>
                <a:gd name="T27" fmla="*/ 69 h 6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" h="69">
                  <a:moveTo>
                    <a:pt x="24" y="23"/>
                  </a:moveTo>
                  <a:lnTo>
                    <a:pt x="32" y="0"/>
                  </a:lnTo>
                  <a:lnTo>
                    <a:pt x="11" y="0"/>
                  </a:lnTo>
                  <a:lnTo>
                    <a:pt x="0" y="23"/>
                  </a:lnTo>
                  <a:lnTo>
                    <a:pt x="0" y="69"/>
                  </a:lnTo>
                  <a:lnTo>
                    <a:pt x="242" y="69"/>
                  </a:lnTo>
                  <a:lnTo>
                    <a:pt x="242" y="23"/>
                  </a:lnTo>
                  <a:lnTo>
                    <a:pt x="24" y="23"/>
                  </a:lnTo>
                  <a:close/>
                </a:path>
              </a:pathLst>
            </a:custGeom>
            <a:solidFill>
              <a:srgbClr val="9F9F9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5" name="Freeform 114"/>
            <p:cNvSpPr>
              <a:spLocks/>
            </p:cNvSpPr>
            <p:nvPr/>
          </p:nvSpPr>
          <p:spPr bwMode="auto">
            <a:xfrm>
              <a:off x="4004" y="949"/>
              <a:ext cx="81" cy="23"/>
            </a:xfrm>
            <a:custGeom>
              <a:avLst/>
              <a:gdLst>
                <a:gd name="T0" fmla="*/ 218 w 243"/>
                <a:gd name="T1" fmla="*/ 23 h 69"/>
                <a:gd name="T2" fmla="*/ 210 w 243"/>
                <a:gd name="T3" fmla="*/ 0 h 69"/>
                <a:gd name="T4" fmla="*/ 231 w 243"/>
                <a:gd name="T5" fmla="*/ 0 h 69"/>
                <a:gd name="T6" fmla="*/ 243 w 243"/>
                <a:gd name="T7" fmla="*/ 23 h 69"/>
                <a:gd name="T8" fmla="*/ 243 w 243"/>
                <a:gd name="T9" fmla="*/ 69 h 69"/>
                <a:gd name="T10" fmla="*/ 0 w 243"/>
                <a:gd name="T11" fmla="*/ 69 h 69"/>
                <a:gd name="T12" fmla="*/ 0 w 243"/>
                <a:gd name="T13" fmla="*/ 23 h 69"/>
                <a:gd name="T14" fmla="*/ 218 w 243"/>
                <a:gd name="T15" fmla="*/ 23 h 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3"/>
                <a:gd name="T25" fmla="*/ 0 h 69"/>
                <a:gd name="T26" fmla="*/ 243 w 243"/>
                <a:gd name="T27" fmla="*/ 69 h 6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3" h="69">
                  <a:moveTo>
                    <a:pt x="218" y="23"/>
                  </a:moveTo>
                  <a:lnTo>
                    <a:pt x="210" y="0"/>
                  </a:lnTo>
                  <a:lnTo>
                    <a:pt x="231" y="0"/>
                  </a:lnTo>
                  <a:lnTo>
                    <a:pt x="243" y="23"/>
                  </a:lnTo>
                  <a:lnTo>
                    <a:pt x="243" y="69"/>
                  </a:lnTo>
                  <a:lnTo>
                    <a:pt x="0" y="69"/>
                  </a:lnTo>
                  <a:lnTo>
                    <a:pt x="0" y="23"/>
                  </a:lnTo>
                  <a:lnTo>
                    <a:pt x="218" y="23"/>
                  </a:lnTo>
                  <a:close/>
                </a:path>
              </a:pathLst>
            </a:custGeom>
            <a:solidFill>
              <a:srgbClr val="9F9F9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6" name="Freeform 115"/>
            <p:cNvSpPr>
              <a:spLocks/>
            </p:cNvSpPr>
            <p:nvPr/>
          </p:nvSpPr>
          <p:spPr bwMode="auto">
            <a:xfrm>
              <a:off x="3931" y="949"/>
              <a:ext cx="11" cy="8"/>
            </a:xfrm>
            <a:custGeom>
              <a:avLst/>
              <a:gdLst>
                <a:gd name="T0" fmla="*/ 24 w 32"/>
                <a:gd name="T1" fmla="*/ 23 h 23"/>
                <a:gd name="T2" fmla="*/ 32 w 32"/>
                <a:gd name="T3" fmla="*/ 0 h 23"/>
                <a:gd name="T4" fmla="*/ 11 w 32"/>
                <a:gd name="T5" fmla="*/ 0 h 23"/>
                <a:gd name="T6" fmla="*/ 0 w 32"/>
                <a:gd name="T7" fmla="*/ 23 h 23"/>
                <a:gd name="T8" fmla="*/ 24 w 32"/>
                <a:gd name="T9" fmla="*/ 2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3"/>
                <a:gd name="T17" fmla="*/ 32 w 32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3">
                  <a:moveTo>
                    <a:pt x="24" y="23"/>
                  </a:moveTo>
                  <a:lnTo>
                    <a:pt x="32" y="0"/>
                  </a:lnTo>
                  <a:lnTo>
                    <a:pt x="11" y="0"/>
                  </a:lnTo>
                  <a:lnTo>
                    <a:pt x="0" y="23"/>
                  </a:lnTo>
                  <a:lnTo>
                    <a:pt x="24" y="23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7" name="Freeform 116"/>
            <p:cNvSpPr>
              <a:spLocks/>
            </p:cNvSpPr>
            <p:nvPr/>
          </p:nvSpPr>
          <p:spPr bwMode="auto">
            <a:xfrm>
              <a:off x="4074" y="949"/>
              <a:ext cx="11" cy="8"/>
            </a:xfrm>
            <a:custGeom>
              <a:avLst/>
              <a:gdLst>
                <a:gd name="T0" fmla="*/ 8 w 33"/>
                <a:gd name="T1" fmla="*/ 23 h 23"/>
                <a:gd name="T2" fmla="*/ 0 w 33"/>
                <a:gd name="T3" fmla="*/ 0 h 23"/>
                <a:gd name="T4" fmla="*/ 21 w 33"/>
                <a:gd name="T5" fmla="*/ 0 h 23"/>
                <a:gd name="T6" fmla="*/ 33 w 33"/>
                <a:gd name="T7" fmla="*/ 23 h 23"/>
                <a:gd name="T8" fmla="*/ 8 w 33"/>
                <a:gd name="T9" fmla="*/ 2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23"/>
                <a:gd name="T17" fmla="*/ 33 w 33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23">
                  <a:moveTo>
                    <a:pt x="8" y="23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33" y="23"/>
                  </a:lnTo>
                  <a:lnTo>
                    <a:pt x="8" y="23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8" name="Rectangle 117"/>
            <p:cNvSpPr>
              <a:spLocks noChangeArrowheads="1"/>
            </p:cNvSpPr>
            <p:nvPr/>
          </p:nvSpPr>
          <p:spPr bwMode="auto">
            <a:xfrm>
              <a:off x="3925" y="1071"/>
              <a:ext cx="173" cy="52"/>
            </a:xfrm>
            <a:prstGeom prst="rect">
              <a:avLst/>
            </a:prstGeom>
            <a:solidFill>
              <a:srgbClr val="808000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9" name="Rectangle 118"/>
            <p:cNvSpPr>
              <a:spLocks noChangeArrowheads="1"/>
            </p:cNvSpPr>
            <p:nvPr/>
          </p:nvSpPr>
          <p:spPr bwMode="auto">
            <a:xfrm>
              <a:off x="3934" y="1078"/>
              <a:ext cx="153" cy="39"/>
            </a:xfrm>
            <a:prstGeom prst="rect">
              <a:avLst/>
            </a:prstGeom>
            <a:solidFill>
              <a:srgbClr val="FFCC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140" name="Oval 119"/>
            <p:cNvSpPr>
              <a:spLocks noChangeArrowheads="1"/>
            </p:cNvSpPr>
            <p:nvPr/>
          </p:nvSpPr>
          <p:spPr bwMode="auto">
            <a:xfrm>
              <a:off x="3990" y="1138"/>
              <a:ext cx="44" cy="42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41" name="Oval 120"/>
            <p:cNvSpPr>
              <a:spLocks noChangeArrowheads="1"/>
            </p:cNvSpPr>
            <p:nvPr/>
          </p:nvSpPr>
          <p:spPr bwMode="auto">
            <a:xfrm>
              <a:off x="3988" y="1135"/>
              <a:ext cx="43" cy="43"/>
            </a:xfrm>
            <a:prstGeom prst="ellipse">
              <a:avLst/>
            </a:prstGeom>
            <a:solidFill>
              <a:srgbClr val="C0C0C0"/>
            </a:solidFill>
            <a:ln w="4763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42" name="Oval 121"/>
            <p:cNvSpPr>
              <a:spLocks noChangeArrowheads="1"/>
            </p:cNvSpPr>
            <p:nvPr/>
          </p:nvSpPr>
          <p:spPr bwMode="auto">
            <a:xfrm>
              <a:off x="4003" y="1144"/>
              <a:ext cx="11" cy="10"/>
            </a:xfrm>
            <a:prstGeom prst="ellipse">
              <a:avLst/>
            </a:prstGeom>
            <a:solidFill>
              <a:srgbClr val="3F3F3F"/>
            </a:solidFill>
            <a:ln w="4763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43" name="Freeform 122"/>
            <p:cNvSpPr>
              <a:spLocks/>
            </p:cNvSpPr>
            <p:nvPr/>
          </p:nvSpPr>
          <p:spPr bwMode="auto">
            <a:xfrm>
              <a:off x="4001" y="1154"/>
              <a:ext cx="15" cy="15"/>
            </a:xfrm>
            <a:custGeom>
              <a:avLst/>
              <a:gdLst>
                <a:gd name="T0" fmla="*/ 14 w 45"/>
                <a:gd name="T1" fmla="*/ 0 h 46"/>
                <a:gd name="T2" fmla="*/ 0 w 45"/>
                <a:gd name="T3" fmla="*/ 46 h 46"/>
                <a:gd name="T4" fmla="*/ 45 w 45"/>
                <a:gd name="T5" fmla="*/ 46 h 46"/>
                <a:gd name="T6" fmla="*/ 32 w 45"/>
                <a:gd name="T7" fmla="*/ 0 h 46"/>
                <a:gd name="T8" fmla="*/ 14 w 45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46"/>
                <a:gd name="T17" fmla="*/ 45 w 4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46">
                  <a:moveTo>
                    <a:pt x="14" y="0"/>
                  </a:moveTo>
                  <a:lnTo>
                    <a:pt x="0" y="46"/>
                  </a:lnTo>
                  <a:lnTo>
                    <a:pt x="45" y="46"/>
                  </a:lnTo>
                  <a:lnTo>
                    <a:pt x="32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3F3F3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pic>
        <p:nvPicPr>
          <p:cNvPr id="1030" name="Picture 12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0850" y="3641725"/>
            <a:ext cx="2117725" cy="2117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031" name="Text Box 124"/>
          <p:cNvSpPr txBox="1">
            <a:spLocks noChangeArrowheads="1"/>
          </p:cNvSpPr>
          <p:nvPr/>
        </p:nvSpPr>
        <p:spPr bwMode="auto">
          <a:xfrm rot="1546935">
            <a:off x="4441825" y="2147888"/>
            <a:ext cx="9810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de-DE" b="1"/>
              <a:t>manual</a:t>
            </a:r>
            <a:endParaRPr lang="en-US" b="1"/>
          </a:p>
        </p:txBody>
      </p:sp>
      <p:sp>
        <p:nvSpPr>
          <p:cNvPr id="1032" name="Text Box 125"/>
          <p:cNvSpPr txBox="1">
            <a:spLocks noChangeArrowheads="1"/>
          </p:cNvSpPr>
          <p:nvPr/>
        </p:nvSpPr>
        <p:spPr bwMode="auto">
          <a:xfrm rot="-1680211">
            <a:off x="4191000" y="4202113"/>
            <a:ext cx="9810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de-DE" b="1"/>
              <a:t>manual</a:t>
            </a:r>
            <a:endParaRPr lang="en-US" b="1"/>
          </a:p>
        </p:txBody>
      </p:sp>
      <p:sp>
        <p:nvSpPr>
          <p:cNvPr id="1033" name="Text Box 126"/>
          <p:cNvSpPr txBox="1">
            <a:spLocks noChangeArrowheads="1"/>
          </p:cNvSpPr>
          <p:nvPr/>
        </p:nvSpPr>
        <p:spPr bwMode="auto">
          <a:xfrm rot="-1556525">
            <a:off x="4321175" y="4641850"/>
            <a:ext cx="140017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de-DE" b="1"/>
              <a:t>automático</a:t>
            </a:r>
            <a:endParaRPr lang="en-US" b="1"/>
          </a:p>
        </p:txBody>
      </p:sp>
      <p:pic>
        <p:nvPicPr>
          <p:cNvPr id="1034" name="Picture 12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798763" y="3902075"/>
            <a:ext cx="1060450" cy="14589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035" name="AutoShape-7"/>
          <p:cNvSpPr>
            <a:spLocks noChangeArrowheads="1"/>
          </p:cNvSpPr>
          <p:nvPr/>
        </p:nvSpPr>
        <p:spPr bwMode="auto">
          <a:xfrm rot="1582475">
            <a:off x="4094163" y="2470150"/>
            <a:ext cx="1682750" cy="403225"/>
          </a:xfrm>
          <a:custGeom>
            <a:avLst/>
            <a:gdLst>
              <a:gd name="T0" fmla="*/ 1262062 w 21600"/>
              <a:gd name="T1" fmla="*/ 0 h 21600"/>
              <a:gd name="T2" fmla="*/ 0 w 21600"/>
              <a:gd name="T3" fmla="*/ 201613 h 21600"/>
              <a:gd name="T4" fmla="*/ 1262062 w 21600"/>
              <a:gd name="T5" fmla="*/ 403225 h 21600"/>
              <a:gd name="T6" fmla="*/ 1682750 w 21600"/>
              <a:gd name="T7" fmla="*/ 20161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257E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036" name="AutoShape-7"/>
          <p:cNvSpPr>
            <a:spLocks noChangeArrowheads="1"/>
          </p:cNvSpPr>
          <p:nvPr/>
        </p:nvSpPr>
        <p:spPr bwMode="auto">
          <a:xfrm rot="-1653898">
            <a:off x="4056063" y="4394200"/>
            <a:ext cx="1682750" cy="403225"/>
          </a:xfrm>
          <a:custGeom>
            <a:avLst/>
            <a:gdLst>
              <a:gd name="T0" fmla="*/ 1262062 w 21600"/>
              <a:gd name="T1" fmla="*/ 0 h 21600"/>
              <a:gd name="T2" fmla="*/ 0 w 21600"/>
              <a:gd name="T3" fmla="*/ 201613 h 21600"/>
              <a:gd name="T4" fmla="*/ 1262062 w 21600"/>
              <a:gd name="T5" fmla="*/ 403225 h 21600"/>
              <a:gd name="T6" fmla="*/ 1682750 w 21600"/>
              <a:gd name="T7" fmla="*/ 20161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257E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VE"/>
              <a:t>Data Transfer Workbench</a:t>
            </a:r>
            <a:endParaRPr lang="es-ES"/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3140075" y="1146175"/>
          <a:ext cx="1827213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Bitmap Image" r:id="rId4" imgW="6354062" imgH="4667902" progId="Paint.Picture">
                  <p:embed/>
                </p:oleObj>
              </mc:Choice>
              <mc:Fallback>
                <p:oleObj name="Bitmap Image" r:id="rId4" imgW="6354062" imgH="466790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3" t="5511" r="66978" b="5099"/>
                      <a:stretch>
                        <a:fillRect/>
                      </a:stretch>
                    </p:blipFill>
                    <p:spPr bwMode="auto">
                      <a:xfrm>
                        <a:off x="3140075" y="1146175"/>
                        <a:ext cx="1827213" cy="37846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3" name="Picture 4"/>
          <p:cNvPicPr>
            <a:picLocks noChangeAspect="1" noChangeArrowheads="1"/>
          </p:cNvPicPr>
          <p:nvPr/>
        </p:nvPicPr>
        <p:blipFill>
          <a:blip r:embed="rId6"/>
          <a:srcRect l="22942" r="24706" b="43204"/>
          <a:stretch>
            <a:fillRect/>
          </a:stretch>
        </p:blipFill>
        <p:spPr bwMode="auto">
          <a:xfrm>
            <a:off x="665163" y="2476500"/>
            <a:ext cx="1050925" cy="1060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054" name="Text Box 5"/>
          <p:cNvSpPr txBox="1">
            <a:spLocks noChangeArrowheads="1"/>
          </p:cNvSpPr>
          <p:nvPr/>
        </p:nvSpPr>
        <p:spPr bwMode="auto">
          <a:xfrm>
            <a:off x="3173413" y="4979988"/>
            <a:ext cx="1743075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/>
            <a:r>
              <a:rPr lang="de-DE" b="1"/>
              <a:t>Interfaz</a:t>
            </a:r>
            <a:r>
              <a:rPr lang="de-DE"/>
              <a:t> </a:t>
            </a:r>
            <a:r>
              <a:rPr lang="de-DE" b="1"/>
              <a:t>Data Transfer</a:t>
            </a:r>
            <a:endParaRPr lang="en-US" b="1"/>
          </a:p>
        </p:txBody>
      </p:sp>
      <p:grpSp>
        <p:nvGrpSpPr>
          <p:cNvPr id="2055" name="Group 6"/>
          <p:cNvGrpSpPr>
            <a:grpSpLocks/>
          </p:cNvGrpSpPr>
          <p:nvPr/>
        </p:nvGrpSpPr>
        <p:grpSpPr bwMode="auto">
          <a:xfrm>
            <a:off x="5970588" y="2536825"/>
            <a:ext cx="2776537" cy="1946275"/>
            <a:chOff x="3115" y="1393"/>
            <a:chExt cx="2285" cy="1747"/>
          </a:xfrm>
        </p:grpSpPr>
        <p:pic>
          <p:nvPicPr>
            <p:cNvPr id="2060" name="Picture 7" descr="Datenbank"/>
            <p:cNvPicPr>
              <a:picLocks noChangeAspect="1" noChangeArrowheads="1"/>
            </p:cNvPicPr>
            <p:nvPr/>
          </p:nvPicPr>
          <p:blipFill>
            <a:blip r:embed="rId7"/>
            <a:srcRect t="9465" r="3058" b="6509"/>
            <a:stretch>
              <a:fillRect/>
            </a:stretch>
          </p:blipFill>
          <p:spPr bwMode="gray">
            <a:xfrm>
              <a:off x="3115" y="1393"/>
              <a:ext cx="2285" cy="14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051" name="Object 8"/>
            <p:cNvGraphicFramePr>
              <a:graphicFrameLocks noChangeAspect="1"/>
            </p:cNvGraphicFramePr>
            <p:nvPr/>
          </p:nvGraphicFramePr>
          <p:xfrm>
            <a:off x="3151" y="2965"/>
            <a:ext cx="2203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6" name="Photo Editor Photo" r:id="rId8" imgW="6819048" imgH="542857" progId="MSPhotoEd.3">
                    <p:embed/>
                  </p:oleObj>
                </mc:Choice>
                <mc:Fallback>
                  <p:oleObj name="Photo Editor Photo" r:id="rId8" imgW="6819048" imgH="542857" progId="MSPhotoEd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1" y="2965"/>
                          <a:ext cx="2203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6" name="AutoShape 9"/>
          <p:cNvSpPr>
            <a:spLocks noChangeArrowheads="1"/>
          </p:cNvSpPr>
          <p:nvPr/>
        </p:nvSpPr>
        <p:spPr bwMode="auto">
          <a:xfrm>
            <a:off x="1957388" y="2784475"/>
            <a:ext cx="962025" cy="223838"/>
          </a:xfrm>
          <a:prstGeom prst="leftArrow">
            <a:avLst>
              <a:gd name="adj1" fmla="val 50000"/>
              <a:gd name="adj2" fmla="val 107447"/>
            </a:avLst>
          </a:prstGeom>
          <a:solidFill>
            <a:srgbClr val="00257E"/>
          </a:solidFill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57" name="AutoShape 10"/>
          <p:cNvSpPr>
            <a:spLocks noChangeArrowheads="1"/>
          </p:cNvSpPr>
          <p:nvPr/>
        </p:nvSpPr>
        <p:spPr bwMode="auto">
          <a:xfrm rot="10800000">
            <a:off x="1957388" y="3121025"/>
            <a:ext cx="3930650" cy="223838"/>
          </a:xfrm>
          <a:prstGeom prst="leftArrow">
            <a:avLst>
              <a:gd name="adj1" fmla="val 50361"/>
              <a:gd name="adj2" fmla="val 123328"/>
            </a:avLst>
          </a:prstGeom>
          <a:solidFill>
            <a:srgbClr val="00257E"/>
          </a:solidFill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58" name="Text Box 11"/>
          <p:cNvSpPr txBox="1">
            <a:spLocks noChangeArrowheads="1"/>
          </p:cNvSpPr>
          <p:nvPr/>
        </p:nvSpPr>
        <p:spPr bwMode="auto">
          <a:xfrm>
            <a:off x="1862138" y="2232025"/>
            <a:ext cx="1258887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/>
            <a:r>
              <a:rPr lang="de-DE" sz="1600" b="1">
                <a:solidFill>
                  <a:srgbClr val="003366"/>
                </a:solidFill>
              </a:rPr>
              <a:t>Create Template</a:t>
            </a:r>
            <a:endParaRPr lang="en-US" sz="1600" b="1">
              <a:solidFill>
                <a:srgbClr val="003366"/>
              </a:solidFill>
            </a:endParaRPr>
          </a:p>
        </p:txBody>
      </p:sp>
      <p:sp>
        <p:nvSpPr>
          <p:cNvPr id="2059" name="Text Box 12"/>
          <p:cNvSpPr txBox="1">
            <a:spLocks noChangeArrowheads="1"/>
          </p:cNvSpPr>
          <p:nvPr/>
        </p:nvSpPr>
        <p:spPr bwMode="auto">
          <a:xfrm>
            <a:off x="3500438" y="2830513"/>
            <a:ext cx="814387" cy="33655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de-DE" sz="1600" b="1">
                <a:solidFill>
                  <a:srgbClr val="003366"/>
                </a:solidFill>
              </a:rPr>
              <a:t>Import</a:t>
            </a:r>
            <a:endParaRPr lang="en-US" sz="1600" b="1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VE"/>
              <a:t>Data Transfer Workbench</a:t>
            </a:r>
            <a:endParaRPr lang="es-E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3" r="37420" b="69648"/>
          <a:stretch/>
        </p:blipFill>
        <p:spPr bwMode="auto">
          <a:xfrm>
            <a:off x="725717" y="943427"/>
            <a:ext cx="7765145" cy="2195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7" r="27912" b="62027"/>
          <a:stretch/>
        </p:blipFill>
        <p:spPr bwMode="auto">
          <a:xfrm>
            <a:off x="246743" y="3310618"/>
            <a:ext cx="8505372" cy="2669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5273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VE"/>
              <a:t>Data Transfer Workbench</a:t>
            </a:r>
            <a:endParaRPr lang="es-E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5" t="5953" r="17563" b="9524"/>
          <a:stretch/>
        </p:blipFill>
        <p:spPr bwMode="auto">
          <a:xfrm>
            <a:off x="1500523" y="899884"/>
            <a:ext cx="6671019" cy="4891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012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VE"/>
              <a:t>Data Transfer Workbench</a:t>
            </a:r>
            <a:endParaRPr lang="es-E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932997"/>
            <a:ext cx="6162675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2" r="33044" b="79784"/>
          <a:stretch/>
        </p:blipFill>
        <p:spPr bwMode="auto">
          <a:xfrm>
            <a:off x="827314" y="4312103"/>
            <a:ext cx="7794171" cy="142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9065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5007428" y="4775199"/>
            <a:ext cx="4034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54653392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26435</TotalTime>
  <Words>804</Words>
  <Application>Microsoft Office PowerPoint</Application>
  <PresentationFormat>Presentación en pantalla (4:3)</PresentationFormat>
  <Paragraphs>146</Paragraphs>
  <Slides>29</Slides>
  <Notes>8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Arial</vt:lpstr>
      <vt:lpstr>Verdana</vt:lpstr>
      <vt:lpstr>Wingdings</vt:lpstr>
      <vt:lpstr>Default Design</vt:lpstr>
      <vt:lpstr>Photo Editor Photo</vt:lpstr>
      <vt:lpstr>Bitmap Image</vt:lpstr>
      <vt:lpstr>Capacitación: Administración y Sistemas</vt:lpstr>
      <vt:lpstr>Agenda</vt:lpstr>
      <vt:lpstr>Usuarios</vt:lpstr>
      <vt:lpstr>Atajo gestión usuarios</vt:lpstr>
      <vt:lpstr>Autorizaciones Generales</vt:lpstr>
      <vt:lpstr>Atajo Autorizaciones Generales</vt:lpstr>
      <vt:lpstr>Parametrizaciones de Formulario</vt:lpstr>
      <vt:lpstr>Parametrizaciones de Formulario</vt:lpstr>
      <vt:lpstr>Parametrizaciones de Formulario</vt:lpstr>
      <vt:lpstr>Numeraciones de Documentos</vt:lpstr>
      <vt:lpstr>Numeraciones de Documentos(Series)</vt:lpstr>
      <vt:lpstr>Proceso de Aprobación</vt:lpstr>
      <vt:lpstr>Proceso de Aprobación</vt:lpstr>
      <vt:lpstr>Proceso de Aprobación</vt:lpstr>
      <vt:lpstr>Gestion de Cockpit</vt:lpstr>
      <vt:lpstr>Estandarización de campos y tablas de usuario</vt:lpstr>
      <vt:lpstr>Estandarización de campos y tablas de usuario</vt:lpstr>
      <vt:lpstr>Tablas definidas por el usuario</vt:lpstr>
      <vt:lpstr>Campos de Usuario</vt:lpstr>
      <vt:lpstr>Campos de Usuario</vt:lpstr>
      <vt:lpstr>Queries y Búsquedas Formateadas</vt:lpstr>
      <vt:lpstr>Alarmas</vt:lpstr>
      <vt:lpstr>Alarmas</vt:lpstr>
      <vt:lpstr>Data Transfer Workbench</vt:lpstr>
      <vt:lpstr>Data Transfer Workbench</vt:lpstr>
      <vt:lpstr>Data Transfer Workbench</vt:lpstr>
      <vt:lpstr>Data Transfer Workbench</vt:lpstr>
      <vt:lpstr>Data Transfer Workbench</vt:lpstr>
      <vt:lpstr>Presentación de PowerPoint</vt:lpstr>
    </vt:vector>
  </TitlesOfParts>
  <Company>Fillgap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Martín Sosa</dc:creator>
  <cp:lastModifiedBy>Exxis</cp:lastModifiedBy>
  <cp:revision>178</cp:revision>
  <dcterms:created xsi:type="dcterms:W3CDTF">2006-06-26T16:55:35Z</dcterms:created>
  <dcterms:modified xsi:type="dcterms:W3CDTF">2020-05-25T20:42:45Z</dcterms:modified>
</cp:coreProperties>
</file>