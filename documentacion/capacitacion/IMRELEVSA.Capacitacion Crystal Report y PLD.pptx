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63" r:id="rId3"/>
    <p:sldId id="259" r:id="rId4"/>
    <p:sldId id="260" r:id="rId5"/>
    <p:sldId id="261" r:id="rId6"/>
    <p:sldId id="262" r:id="rId7"/>
    <p:sldId id="277" r:id="rId8"/>
    <p:sldId id="279" r:id="rId9"/>
    <p:sldId id="266" r:id="rId10"/>
    <p:sldId id="267" r:id="rId11"/>
    <p:sldId id="268" r:id="rId12"/>
    <p:sldId id="269" r:id="rId13"/>
    <p:sldId id="270" r:id="rId14"/>
    <p:sldId id="284" r:id="rId15"/>
    <p:sldId id="285" r:id="rId16"/>
    <p:sldId id="286" r:id="rId17"/>
    <p:sldId id="287" r:id="rId18"/>
    <p:sldId id="288" r:id="rId19"/>
    <p:sldId id="569" r:id="rId20"/>
    <p:sldId id="570" r:id="rId21"/>
    <p:sldId id="289" r:id="rId22"/>
    <p:sldId id="290" r:id="rId23"/>
    <p:sldId id="291" r:id="rId24"/>
    <p:sldId id="280" r:id="rId25"/>
    <p:sldId id="283" r:id="rId26"/>
    <p:sldId id="281" r:id="rId27"/>
    <p:sldId id="282" r:id="rId28"/>
    <p:sldId id="566" r:id="rId29"/>
    <p:sldId id="568" r:id="rId30"/>
    <p:sldId id="274" r:id="rId3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C607"/>
    <a:srgbClr val="939393"/>
    <a:srgbClr val="F9C309"/>
    <a:srgbClr val="04AEEB"/>
    <a:srgbClr val="FECA05"/>
    <a:srgbClr val="FFD966"/>
    <a:srgbClr val="FFCB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6B1297-A178-42D8-8705-3F5F90F608E3}" type="datetimeFigureOut">
              <a:rPr lang="es-EC" smtClean="0"/>
              <a:t>25/5/2020</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AAAB23-2EC9-40D2-9F87-24E8C991B300}" type="slidenum">
              <a:rPr lang="es-EC" smtClean="0"/>
              <a:t>‹Nº›</a:t>
            </a:fld>
            <a:endParaRPr lang="es-EC"/>
          </a:p>
        </p:txBody>
      </p:sp>
    </p:spTree>
    <p:extLst>
      <p:ext uri="{BB962C8B-B14F-4D97-AF65-F5344CB8AC3E}">
        <p14:creationId xmlns:p14="http://schemas.microsoft.com/office/powerpoint/2010/main" val="461069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There are two connection drivers for</a:t>
            </a:r>
            <a:r>
              <a:rPr lang="en-US" baseline="0" dirty="0"/>
              <a:t> Crystal Reports </a:t>
            </a:r>
            <a:r>
              <a:rPr lang="en-US" dirty="0"/>
              <a:t>that you can use for</a:t>
            </a:r>
            <a:r>
              <a:rPr lang="en-US" baseline="0" dirty="0"/>
              <a:t> working with SAP Business One, version for SAP HANA: B1CHRPROXY32 and HDBODBC32.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When we first go into the Crystal Reports Designer we need to create a new </a:t>
            </a:r>
            <a:r>
              <a:rPr lang="en-US" sz="1000" kern="1200" dirty="0">
                <a:solidFill>
                  <a:schemeClr val="tx1"/>
                </a:solidFill>
                <a:effectLst/>
                <a:latin typeface="+mn-lt"/>
                <a:ea typeface="+mn-ea"/>
                <a:cs typeface="+mn-cs"/>
              </a:rPr>
              <a:t>connection</a:t>
            </a:r>
            <a:r>
              <a:rPr lang="en-US" sz="1000" kern="1200" baseline="0" dirty="0">
                <a:solidFill>
                  <a:schemeClr val="tx1"/>
                </a:solidFill>
                <a:effectLst/>
                <a:latin typeface="+mn-lt"/>
                <a:ea typeface="+mn-ea"/>
                <a:cs typeface="+mn-cs"/>
              </a:rPr>
              <a:t>. </a:t>
            </a:r>
            <a:r>
              <a:rPr lang="en-US" baseline="0" dirty="0"/>
              <a:t>We choose the ODBC connection type and create a new data source. For SAP Business One, Crystal Reports needs to create an ODBC connection with a connection string.  </a:t>
            </a:r>
            <a:r>
              <a:rPr lang="en-US" sz="1000" kern="1200" dirty="0">
                <a:solidFill>
                  <a:schemeClr val="tx1"/>
                </a:solidFill>
                <a:effectLst/>
                <a:latin typeface="+mn-lt"/>
                <a:ea typeface="+mn-ea"/>
                <a:cs typeface="+mn-cs"/>
              </a:rPr>
              <a:t>When we input the driver inside the connection string, we have two choices.  We will talk about what</a:t>
            </a:r>
            <a:r>
              <a:rPr lang="en-US" sz="1000" kern="1200" baseline="0" dirty="0">
                <a:solidFill>
                  <a:schemeClr val="tx1"/>
                </a:solidFill>
                <a:effectLst/>
                <a:latin typeface="+mn-lt"/>
                <a:ea typeface="+mn-ea"/>
                <a:cs typeface="+mn-cs"/>
              </a:rPr>
              <a:t> is different when we use each driver.</a:t>
            </a:r>
            <a:endParaRPr lang="en-US" baseline="0" dirty="0"/>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28</a:t>
            </a:fld>
            <a:endParaRPr lang="de-DE" dirty="0"/>
          </a:p>
        </p:txBody>
      </p:sp>
    </p:spTree>
    <p:extLst>
      <p:ext uri="{BB962C8B-B14F-4D97-AF65-F5344CB8AC3E}">
        <p14:creationId xmlns:p14="http://schemas.microsoft.com/office/powerpoint/2010/main" val="468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There are two connection drivers for</a:t>
            </a:r>
            <a:r>
              <a:rPr lang="en-US" baseline="0" dirty="0"/>
              <a:t> Crystal Reports </a:t>
            </a:r>
            <a:r>
              <a:rPr lang="en-US" dirty="0"/>
              <a:t>that you can use for</a:t>
            </a:r>
            <a:r>
              <a:rPr lang="en-US" baseline="0" dirty="0"/>
              <a:t> working with SAP Business One, version for SAP HANA: B1CHRPROXY32 and HDBODBC32.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When we first go into the Crystal Reports Designer we need to create a new </a:t>
            </a:r>
            <a:r>
              <a:rPr lang="en-US" sz="1000" kern="1200" dirty="0">
                <a:solidFill>
                  <a:schemeClr val="tx1"/>
                </a:solidFill>
                <a:effectLst/>
                <a:latin typeface="+mn-lt"/>
                <a:ea typeface="+mn-ea"/>
                <a:cs typeface="+mn-cs"/>
              </a:rPr>
              <a:t>connection</a:t>
            </a:r>
            <a:r>
              <a:rPr lang="en-US" sz="1000" kern="1200" baseline="0" dirty="0">
                <a:solidFill>
                  <a:schemeClr val="tx1"/>
                </a:solidFill>
                <a:effectLst/>
                <a:latin typeface="+mn-lt"/>
                <a:ea typeface="+mn-ea"/>
                <a:cs typeface="+mn-cs"/>
              </a:rPr>
              <a:t>. </a:t>
            </a:r>
            <a:r>
              <a:rPr lang="en-US" baseline="0" dirty="0"/>
              <a:t>We choose the ODBC connection type and create a new data source. For SAP Business One, Crystal Reports needs to create an ODBC connection with a connection string.  </a:t>
            </a:r>
            <a:r>
              <a:rPr lang="en-US" sz="1000" kern="1200" dirty="0">
                <a:solidFill>
                  <a:schemeClr val="tx1"/>
                </a:solidFill>
                <a:effectLst/>
                <a:latin typeface="+mn-lt"/>
                <a:ea typeface="+mn-ea"/>
                <a:cs typeface="+mn-cs"/>
              </a:rPr>
              <a:t>When we input the driver inside the connection string, we have two choices.  We will talk about what</a:t>
            </a:r>
            <a:r>
              <a:rPr lang="en-US" sz="1000" kern="1200" baseline="0" dirty="0">
                <a:solidFill>
                  <a:schemeClr val="tx1"/>
                </a:solidFill>
                <a:effectLst/>
                <a:latin typeface="+mn-lt"/>
                <a:ea typeface="+mn-ea"/>
                <a:cs typeface="+mn-cs"/>
              </a:rPr>
              <a:t> is different when we use each driver.</a:t>
            </a:r>
            <a:endParaRPr lang="en-US" baseline="0" dirty="0"/>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29</a:t>
            </a:fld>
            <a:endParaRPr lang="de-DE" dirty="0"/>
          </a:p>
        </p:txBody>
      </p:sp>
    </p:spTree>
    <p:extLst>
      <p:ext uri="{BB962C8B-B14F-4D97-AF65-F5344CB8AC3E}">
        <p14:creationId xmlns:p14="http://schemas.microsoft.com/office/powerpoint/2010/main" val="3403685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E5A2F76C-3099-4533-81D8-09486A936A82}" type="datetimeFigureOut">
              <a:rPr lang="es-ES" smtClean="0"/>
              <a:t>25/05/2020</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EF39DDEC-B0F8-4480-A387-C600E0DFEB11}" type="slidenum">
              <a:rPr lang="es-ES" smtClean="0"/>
              <a:t>‹Nº›</a:t>
            </a:fld>
            <a:endParaRPr lang="es-ES"/>
          </a:p>
        </p:txBody>
      </p:sp>
    </p:spTree>
    <p:extLst>
      <p:ext uri="{BB962C8B-B14F-4D97-AF65-F5344CB8AC3E}">
        <p14:creationId xmlns:p14="http://schemas.microsoft.com/office/powerpoint/2010/main" val="2334823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E5A2F76C-3099-4533-81D8-09486A936A82}" type="datetimeFigureOut">
              <a:rPr lang="es-ES" smtClean="0"/>
              <a:t>25/05/2020</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EF39DDEC-B0F8-4480-A387-C600E0DFEB11}" type="slidenum">
              <a:rPr lang="es-ES" smtClean="0"/>
              <a:t>‹Nº›</a:t>
            </a:fld>
            <a:endParaRPr lang="es-ES"/>
          </a:p>
        </p:txBody>
      </p:sp>
    </p:spTree>
    <p:extLst>
      <p:ext uri="{BB962C8B-B14F-4D97-AF65-F5344CB8AC3E}">
        <p14:creationId xmlns:p14="http://schemas.microsoft.com/office/powerpoint/2010/main" val="4056332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E5A2F76C-3099-4533-81D8-09486A936A82}" type="datetimeFigureOut">
              <a:rPr lang="es-ES" smtClean="0"/>
              <a:t>25/05/2020</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EF39DDEC-B0F8-4480-A387-C600E0DFEB11}" type="slidenum">
              <a:rPr lang="es-ES" smtClean="0"/>
              <a:t>‹Nº›</a:t>
            </a:fld>
            <a:endParaRPr lang="es-ES"/>
          </a:p>
        </p:txBody>
      </p:sp>
    </p:spTree>
    <p:extLst>
      <p:ext uri="{BB962C8B-B14F-4D97-AF65-F5344CB8AC3E}">
        <p14:creationId xmlns:p14="http://schemas.microsoft.com/office/powerpoint/2010/main" val="1953791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E5A2F76C-3099-4533-81D8-09486A936A82}" type="datetimeFigureOut">
              <a:rPr lang="es-ES" smtClean="0"/>
              <a:t>25/05/2020</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EF39DDEC-B0F8-4480-A387-C600E0DFEB11}" type="slidenum">
              <a:rPr lang="es-ES" smtClean="0"/>
              <a:t>‹Nº›</a:t>
            </a:fld>
            <a:endParaRPr lang="es-ES"/>
          </a:p>
        </p:txBody>
      </p:sp>
    </p:spTree>
    <p:extLst>
      <p:ext uri="{BB962C8B-B14F-4D97-AF65-F5344CB8AC3E}">
        <p14:creationId xmlns:p14="http://schemas.microsoft.com/office/powerpoint/2010/main" val="1866962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E5A2F76C-3099-4533-81D8-09486A936A82}" type="datetimeFigureOut">
              <a:rPr lang="es-ES" smtClean="0"/>
              <a:t>25/05/2020</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EF39DDEC-B0F8-4480-A387-C600E0DFEB11}" type="slidenum">
              <a:rPr lang="es-ES" smtClean="0"/>
              <a:t>‹Nº›</a:t>
            </a:fld>
            <a:endParaRPr lang="es-ES"/>
          </a:p>
        </p:txBody>
      </p:sp>
    </p:spTree>
    <p:extLst>
      <p:ext uri="{BB962C8B-B14F-4D97-AF65-F5344CB8AC3E}">
        <p14:creationId xmlns:p14="http://schemas.microsoft.com/office/powerpoint/2010/main" val="4246263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E5A2F76C-3099-4533-81D8-09486A936A82}" type="datetimeFigureOut">
              <a:rPr lang="es-ES" smtClean="0"/>
              <a:t>25/05/2020</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EF39DDEC-B0F8-4480-A387-C600E0DFEB11}" type="slidenum">
              <a:rPr lang="es-ES" smtClean="0"/>
              <a:t>‹Nº›</a:t>
            </a:fld>
            <a:endParaRPr lang="es-ES"/>
          </a:p>
        </p:txBody>
      </p:sp>
    </p:spTree>
    <p:extLst>
      <p:ext uri="{BB962C8B-B14F-4D97-AF65-F5344CB8AC3E}">
        <p14:creationId xmlns:p14="http://schemas.microsoft.com/office/powerpoint/2010/main" val="3841933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E5A2F76C-3099-4533-81D8-09486A936A82}" type="datetimeFigureOut">
              <a:rPr lang="es-ES" smtClean="0"/>
              <a:t>25/05/2020</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EF39DDEC-B0F8-4480-A387-C600E0DFEB11}" type="slidenum">
              <a:rPr lang="es-ES" smtClean="0"/>
              <a:t>‹Nº›</a:t>
            </a:fld>
            <a:endParaRPr lang="es-ES"/>
          </a:p>
        </p:txBody>
      </p:sp>
    </p:spTree>
    <p:extLst>
      <p:ext uri="{BB962C8B-B14F-4D97-AF65-F5344CB8AC3E}">
        <p14:creationId xmlns:p14="http://schemas.microsoft.com/office/powerpoint/2010/main" val="561506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E5A2F76C-3099-4533-81D8-09486A936A82}" type="datetimeFigureOut">
              <a:rPr lang="es-ES" smtClean="0"/>
              <a:t>25/05/2020</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EF39DDEC-B0F8-4480-A387-C600E0DFEB11}" type="slidenum">
              <a:rPr lang="es-ES" smtClean="0"/>
              <a:t>‹Nº›</a:t>
            </a:fld>
            <a:endParaRPr lang="es-ES"/>
          </a:p>
        </p:txBody>
      </p:sp>
    </p:spTree>
    <p:extLst>
      <p:ext uri="{BB962C8B-B14F-4D97-AF65-F5344CB8AC3E}">
        <p14:creationId xmlns:p14="http://schemas.microsoft.com/office/powerpoint/2010/main" val="1962585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E5A2F76C-3099-4533-81D8-09486A936A82}" type="datetimeFigureOut">
              <a:rPr lang="es-ES" smtClean="0"/>
              <a:t>25/05/2020</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EF39DDEC-B0F8-4480-A387-C600E0DFEB11}" type="slidenum">
              <a:rPr lang="es-ES" smtClean="0"/>
              <a:t>‹Nº›</a:t>
            </a:fld>
            <a:endParaRPr lang="es-ES"/>
          </a:p>
        </p:txBody>
      </p:sp>
    </p:spTree>
    <p:extLst>
      <p:ext uri="{BB962C8B-B14F-4D97-AF65-F5344CB8AC3E}">
        <p14:creationId xmlns:p14="http://schemas.microsoft.com/office/powerpoint/2010/main" val="3893191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E5A2F76C-3099-4533-81D8-09486A936A82}" type="datetimeFigureOut">
              <a:rPr lang="es-ES" smtClean="0"/>
              <a:t>25/05/2020</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EF39DDEC-B0F8-4480-A387-C600E0DFEB11}" type="slidenum">
              <a:rPr lang="es-ES" smtClean="0"/>
              <a:t>‹Nº›</a:t>
            </a:fld>
            <a:endParaRPr lang="es-ES"/>
          </a:p>
        </p:txBody>
      </p:sp>
    </p:spTree>
    <p:extLst>
      <p:ext uri="{BB962C8B-B14F-4D97-AF65-F5344CB8AC3E}">
        <p14:creationId xmlns:p14="http://schemas.microsoft.com/office/powerpoint/2010/main" val="2517294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E5A2F76C-3099-4533-81D8-09486A936A82}" type="datetimeFigureOut">
              <a:rPr lang="es-ES" smtClean="0"/>
              <a:t>25/05/2020</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EF39DDEC-B0F8-4480-A387-C600E0DFEB11}" type="slidenum">
              <a:rPr lang="es-ES" smtClean="0"/>
              <a:t>‹Nº›</a:t>
            </a:fld>
            <a:endParaRPr lang="es-ES"/>
          </a:p>
        </p:txBody>
      </p:sp>
    </p:spTree>
    <p:extLst>
      <p:ext uri="{BB962C8B-B14F-4D97-AF65-F5344CB8AC3E}">
        <p14:creationId xmlns:p14="http://schemas.microsoft.com/office/powerpoint/2010/main" val="4087402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432001" y="1692000"/>
            <a:ext cx="11326284" cy="3831818"/>
          </a:xfrm>
        </p:spPr>
        <p:txBody>
          <a:bodyPr>
            <a:noAutofit/>
          </a:bodyPr>
          <a:lstStyle>
            <a:lvl1pPr marL="0" marR="0" indent="0" algn="l" defTabSz="914400" rtl="0" eaLnBrk="1" fontAlgn="auto" latinLnBrk="0" hangingPunct="1">
              <a:lnSpc>
                <a:spcPct val="100000"/>
              </a:lnSpc>
              <a:spcBef>
                <a:spcPts val="1200"/>
              </a:spcBef>
              <a:spcAft>
                <a:spcPts val="0"/>
              </a:spcAft>
              <a:buClr>
                <a:schemeClr val="accent1"/>
              </a:buClr>
              <a:buSzPct val="80000"/>
              <a:buFontTx/>
              <a:buNone/>
              <a:tabLst/>
              <a:defRPr b="0"/>
            </a:lvl1pPr>
            <a:lvl2pPr marL="270000" marR="0" indent="-180000" algn="l" defTabSz="914400" rtl="0" eaLnBrk="1" fontAlgn="auto" latinLnBrk="0" hangingPunct="1">
              <a:lnSpc>
                <a:spcPct val="100000"/>
              </a:lnSpc>
              <a:spcBef>
                <a:spcPts val="600"/>
              </a:spcBef>
              <a:spcAft>
                <a:spcPts val="0"/>
              </a:spcAft>
              <a:buClr>
                <a:schemeClr val="accent1"/>
              </a:buClr>
              <a:buSzPct val="100000"/>
              <a:buFont typeface="Wingdings" pitchFamily="2" charset="2"/>
              <a:buChar char=""/>
              <a:tabLst/>
              <a:defRPr/>
            </a:lvl2pPr>
            <a:lvl3pPr marL="450000" marR="0" indent="-180975" algn="l" defTabSz="914400" rtl="0" eaLnBrk="1" fontAlgn="auto" latinLnBrk="0" hangingPunct="1">
              <a:lnSpc>
                <a:spcPct val="100000"/>
              </a:lnSpc>
              <a:spcBef>
                <a:spcPts val="600"/>
              </a:spcBef>
              <a:spcAft>
                <a:spcPts val="0"/>
              </a:spcAft>
              <a:buClr>
                <a:schemeClr val="accent2"/>
              </a:buClr>
              <a:buSzPct val="100000"/>
              <a:buFont typeface="Arial" pitchFamily="34" charset="0"/>
              <a:buChar char="–"/>
              <a:tabLst/>
              <a:defRPr/>
            </a:lvl3pPr>
            <a:lvl4pPr marL="533400" marR="0" indent="-177800" algn="l" defTabSz="914400" rtl="0" eaLnBrk="1" fontAlgn="auto" latinLnBrk="0" hangingPunct="1">
              <a:lnSpc>
                <a:spcPct val="100000"/>
              </a:lnSpc>
              <a:spcBef>
                <a:spcPts val="600"/>
              </a:spcBef>
              <a:spcAft>
                <a:spcPts val="0"/>
              </a:spcAft>
              <a:buClr>
                <a:schemeClr val="accent2"/>
              </a:buClr>
              <a:buSzPct val="100000"/>
              <a:buFont typeface="Arial" pitchFamily="34" charset="0"/>
              <a:buChar char="–"/>
              <a:tabLst/>
              <a:defRPr sz="1600"/>
            </a:lvl4pPr>
            <a:lvl5pPr marL="630000">
              <a:buClr>
                <a:schemeClr val="accent2"/>
              </a:buClr>
              <a:buFont typeface="Courier New" pitchFamily="49" charset="0"/>
              <a:buChar char="o"/>
              <a:defRPr/>
            </a:lvl5pPr>
          </a:lstStyle>
          <a:p>
            <a:pPr lvl="0"/>
            <a:r>
              <a:rPr lang="en-US" dirty="0"/>
              <a:t>Agenda Item/Divider Headline</a:t>
            </a:r>
          </a:p>
          <a:p>
            <a:pPr lvl="1"/>
            <a:r>
              <a:rPr lang="en-US" dirty="0"/>
              <a:t>Details</a:t>
            </a:r>
          </a:p>
          <a:p>
            <a:pPr lvl="2"/>
            <a:r>
              <a:rPr lang="en-US" dirty="0"/>
              <a:t>Third Level</a:t>
            </a:r>
          </a:p>
          <a:p>
            <a:pPr lvl="4"/>
            <a:r>
              <a:rPr lang="en-US" dirty="0"/>
              <a:t>Fourth Level</a:t>
            </a:r>
          </a:p>
          <a:p>
            <a:endParaRPr lang="en-US" dirty="0"/>
          </a:p>
        </p:txBody>
      </p:sp>
    </p:spTree>
    <p:extLst>
      <p:ext uri="{BB962C8B-B14F-4D97-AF65-F5344CB8AC3E}">
        <p14:creationId xmlns:p14="http://schemas.microsoft.com/office/powerpoint/2010/main" val="967894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A2F76C-3099-4533-81D8-09486A936A82}" type="datetimeFigureOut">
              <a:rPr lang="es-ES" smtClean="0"/>
              <a:t>25/05/2020</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39DDEC-B0F8-4480-A387-C600E0DFEB11}" type="slidenum">
              <a:rPr lang="es-ES" smtClean="0"/>
              <a:t>‹Nº›</a:t>
            </a:fld>
            <a:endParaRPr lang="es-ES"/>
          </a:p>
        </p:txBody>
      </p:sp>
    </p:spTree>
    <p:extLst>
      <p:ext uri="{BB962C8B-B14F-4D97-AF65-F5344CB8AC3E}">
        <p14:creationId xmlns:p14="http://schemas.microsoft.com/office/powerpoint/2010/main" val="1587577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4.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4.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jp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jp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jp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4.jp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4.jp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jpeg"/><Relationship Id="rId7"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4.jp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4.jp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4.jp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4.jp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4.jp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4.jp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4.jp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4.jp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498242" y="1287887"/>
            <a:ext cx="9144000" cy="3940936"/>
          </a:xfrm>
        </p:spPr>
        <p:txBody>
          <a:bodyPr>
            <a:normAutofit/>
          </a:bodyPr>
          <a:lstStyle/>
          <a:p>
            <a:r>
              <a:rPr lang="es-ES" sz="6500" b="1" u="sng" dirty="0">
                <a:ln w="0"/>
                <a:solidFill>
                  <a:schemeClr val="accent1"/>
                </a:solidFill>
                <a:effectLst>
                  <a:outerShdw blurRad="38100" dist="25400" dir="5400000" algn="ctr" rotWithShape="0">
                    <a:srgbClr val="6E747A">
                      <a:alpha val="43000"/>
                    </a:srgbClr>
                  </a:outerShdw>
                </a:effectLst>
              </a:rPr>
              <a:t>CAPACITACIÓN </a:t>
            </a:r>
          </a:p>
          <a:p>
            <a:endParaRPr lang="es-ES" sz="6500" b="1" dirty="0">
              <a:ln w="0"/>
              <a:solidFill>
                <a:schemeClr val="accent1"/>
              </a:solidFill>
              <a:effectLst>
                <a:outerShdw blurRad="38100" dist="25400" dir="5400000" algn="ctr" rotWithShape="0">
                  <a:srgbClr val="6E747A">
                    <a:alpha val="43000"/>
                  </a:srgbClr>
                </a:outerShdw>
              </a:effectLst>
            </a:endParaRPr>
          </a:p>
          <a:p>
            <a:r>
              <a:rPr lang="es-ES" sz="6000" b="1" dirty="0">
                <a:ln w="0"/>
                <a:solidFill>
                  <a:schemeClr val="accent1"/>
                </a:solidFill>
                <a:effectLst>
                  <a:outerShdw blurRad="38100" dist="25400" dir="5400000" algn="ctr" rotWithShape="0">
                    <a:srgbClr val="6E747A">
                      <a:alpha val="43000"/>
                    </a:srgbClr>
                  </a:outerShdw>
                </a:effectLst>
              </a:rPr>
              <a:t>CRYSTAL REPORT</a:t>
            </a:r>
          </a:p>
          <a:p>
            <a:r>
              <a:rPr lang="es-419" sz="6000" b="1" dirty="0">
                <a:ln w="0"/>
                <a:solidFill>
                  <a:schemeClr val="accent1"/>
                </a:solidFill>
                <a:effectLst>
                  <a:outerShdw blurRad="38100" dist="25400" dir="5400000" algn="ctr" rotWithShape="0">
                    <a:srgbClr val="6E747A">
                      <a:alpha val="43000"/>
                    </a:srgbClr>
                  </a:outerShdw>
                </a:effectLst>
              </a:rPr>
              <a:t>LAYOUTS</a:t>
            </a:r>
            <a:endParaRPr lang="es-ES" sz="6000" b="1" dirty="0">
              <a:ln w="0"/>
              <a:solidFill>
                <a:schemeClr val="accent1"/>
              </a:solidFill>
              <a:effectLst>
                <a:outerShdw blurRad="38100" dist="25400" dir="5400000" algn="ctr" rotWithShape="0">
                  <a:srgbClr val="6E747A">
                    <a:alpha val="43000"/>
                  </a:srgbClr>
                </a:outerShdw>
              </a:effectLst>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1" name="Imagen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Tree>
    <p:extLst>
      <p:ext uri="{BB962C8B-B14F-4D97-AF65-F5344CB8AC3E}">
        <p14:creationId xmlns:p14="http://schemas.microsoft.com/office/powerpoint/2010/main" val="2385614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5006763" y="441071"/>
            <a:ext cx="2367566" cy="763901"/>
          </a:xfrm>
        </p:spPr>
        <p:txBody>
          <a:bodyPr numCol="1">
            <a:normAutofit/>
          </a:bodyPr>
          <a:lstStyle/>
          <a:p>
            <a:pPr algn="l"/>
            <a:r>
              <a:rPr lang="es-ES" sz="4800" b="1" dirty="0">
                <a:ln w="0"/>
              </a:rPr>
              <a:t>Agenda:</a:t>
            </a:r>
            <a:endParaRPr lang="es-ES" dirty="0">
              <a:ln w="0"/>
            </a:endParaRPr>
          </a:p>
          <a:p>
            <a:pPr algn="l"/>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p:cNvSpPr txBox="1"/>
          <p:nvPr/>
        </p:nvSpPr>
        <p:spPr>
          <a:xfrm>
            <a:off x="1161142" y="1245353"/>
            <a:ext cx="9975863" cy="4832092"/>
          </a:xfrm>
          <a:prstGeom prst="rect">
            <a:avLst/>
          </a:prstGeom>
          <a:noFill/>
        </p:spPr>
        <p:txBody>
          <a:bodyPr wrap="square" numCol="1" rtlCol="0">
            <a:spAutoFit/>
          </a:bodyPr>
          <a:lstStyle/>
          <a:p>
            <a:pPr marL="800100" lvl="1" indent="-342900">
              <a:buFont typeface="+mj-lt"/>
              <a:buAutoNum type="arabicPeriod"/>
            </a:pPr>
            <a:r>
              <a:rPr lang="es-ES" sz="4000" dirty="0">
                <a:ln w="0"/>
              </a:rPr>
              <a:t>Introducción a SAP </a:t>
            </a:r>
            <a:r>
              <a:rPr lang="es-ES" sz="4000" dirty="0" err="1">
                <a:ln w="0"/>
              </a:rPr>
              <a:t>Crystal</a:t>
            </a:r>
            <a:r>
              <a:rPr lang="es-ES" sz="4000" dirty="0">
                <a:ln w="0"/>
              </a:rPr>
              <a:t> </a:t>
            </a:r>
            <a:r>
              <a:rPr lang="es-ES" sz="4000" dirty="0" err="1">
                <a:ln w="0"/>
              </a:rPr>
              <a:t>Report</a:t>
            </a:r>
            <a:r>
              <a:rPr lang="es-ES" sz="4000" dirty="0">
                <a:ln w="0"/>
              </a:rPr>
              <a:t>.</a:t>
            </a:r>
          </a:p>
          <a:p>
            <a:pPr marL="800100" lvl="1" indent="-342900">
              <a:buFont typeface="+mj-lt"/>
              <a:buAutoNum type="arabicPeriod"/>
            </a:pPr>
            <a:r>
              <a:rPr lang="es-ES" sz="4000" dirty="0">
                <a:ln w="0"/>
              </a:rPr>
              <a:t>Asistentes para creación de informes.</a:t>
            </a:r>
          </a:p>
          <a:p>
            <a:pPr marL="800100" lvl="1" indent="-342900">
              <a:buFont typeface="+mj-lt"/>
              <a:buAutoNum type="arabicPeriod"/>
            </a:pPr>
            <a:r>
              <a:rPr lang="es-ES" sz="4000" dirty="0">
                <a:ln w="0"/>
              </a:rPr>
              <a:t>Tipos de conexiones.</a:t>
            </a:r>
          </a:p>
          <a:p>
            <a:pPr marL="800100" lvl="1" indent="-342900">
              <a:buFont typeface="+mj-lt"/>
              <a:buAutoNum type="arabicPeriod"/>
            </a:pPr>
            <a:r>
              <a:rPr lang="es-ES" sz="4000" dirty="0">
                <a:ln w="0"/>
              </a:rPr>
              <a:t>Creación de conexiones.</a:t>
            </a:r>
          </a:p>
          <a:p>
            <a:pPr marL="800100" lvl="1" indent="-342900">
              <a:buFont typeface="+mj-lt"/>
              <a:buAutoNum type="arabicPeriod"/>
            </a:pPr>
            <a:r>
              <a:rPr lang="es-ES" sz="4000" dirty="0">
                <a:ln w="0"/>
              </a:rPr>
              <a:t>Entorno de Trabajo de </a:t>
            </a:r>
            <a:r>
              <a:rPr lang="es-ES" sz="4000" dirty="0" err="1">
                <a:ln w="0"/>
              </a:rPr>
              <a:t>Crystal</a:t>
            </a:r>
            <a:r>
              <a:rPr lang="es-ES" sz="4000" dirty="0">
                <a:ln w="0"/>
              </a:rPr>
              <a:t> </a:t>
            </a:r>
            <a:r>
              <a:rPr lang="es-ES" sz="4000" dirty="0" err="1">
                <a:ln w="0"/>
              </a:rPr>
              <a:t>Report</a:t>
            </a:r>
            <a:endParaRPr lang="es-ES" sz="4000" dirty="0">
              <a:ln w="0"/>
            </a:endParaRPr>
          </a:p>
          <a:p>
            <a:pPr marL="800100" lvl="1" indent="-342900">
              <a:buFont typeface="+mj-lt"/>
              <a:buAutoNum type="arabicPeriod"/>
            </a:pPr>
            <a:r>
              <a:rPr lang="es-ES" sz="4000" dirty="0">
                <a:ln w="0"/>
              </a:rPr>
              <a:t>Gestión de </a:t>
            </a:r>
            <a:r>
              <a:rPr lang="es-ES" sz="4000" dirty="0" err="1">
                <a:ln w="0"/>
              </a:rPr>
              <a:t>Layouts</a:t>
            </a:r>
            <a:r>
              <a:rPr lang="es-ES" sz="4000" dirty="0">
                <a:ln w="0"/>
              </a:rPr>
              <a:t>-SAP</a:t>
            </a:r>
          </a:p>
          <a:p>
            <a:pPr marL="800100" lvl="1" indent="-342900">
              <a:buFont typeface="+mj-lt"/>
              <a:buAutoNum type="arabicPeriod"/>
            </a:pPr>
            <a:r>
              <a:rPr lang="es-ES" sz="4000" dirty="0">
                <a:ln w="0"/>
              </a:rPr>
              <a:t>Importar reporte a menú de SAP B</a:t>
            </a:r>
          </a:p>
          <a:p>
            <a:pPr marL="800100" lvl="1" indent="-342900">
              <a:buFont typeface="+mj-lt"/>
              <a:buAutoNum type="arabicPeriod"/>
            </a:pPr>
            <a:endParaRPr lang="es-ES" sz="2800" dirty="0">
              <a:ln w="0"/>
            </a:endParaRPr>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Tree>
    <p:extLst>
      <p:ext uri="{BB962C8B-B14F-4D97-AF65-F5344CB8AC3E}">
        <p14:creationId xmlns:p14="http://schemas.microsoft.com/office/powerpoint/2010/main" val="331239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478666" y="1026261"/>
            <a:ext cx="8047149" cy="763901"/>
          </a:xfrm>
        </p:spPr>
        <p:txBody>
          <a:bodyPr numCol="1">
            <a:normAutofit fontScale="85000" lnSpcReduction="10000"/>
          </a:bodyPr>
          <a:lstStyle/>
          <a:p>
            <a:pPr algn="l"/>
            <a:r>
              <a:rPr lang="es-ES" sz="4800" b="1" dirty="0">
                <a:ln w="0"/>
              </a:rPr>
              <a:t>1. Introducción a SAP </a:t>
            </a:r>
            <a:r>
              <a:rPr lang="es-ES" sz="4800" b="1" dirty="0" err="1">
                <a:ln w="0"/>
              </a:rPr>
              <a:t>Crystal</a:t>
            </a:r>
            <a:r>
              <a:rPr lang="es-ES" sz="4800" b="1" dirty="0">
                <a:ln w="0"/>
              </a:rPr>
              <a:t> </a:t>
            </a:r>
            <a:r>
              <a:rPr lang="es-ES" sz="4800" b="1" dirty="0" err="1">
                <a:ln w="0"/>
              </a:rPr>
              <a:t>Report</a:t>
            </a:r>
            <a:endParaRPr lang="es-ES" dirty="0">
              <a:ln w="0"/>
            </a:endParaRPr>
          </a:p>
          <a:p>
            <a:pPr algn="l"/>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p:cNvSpPr txBox="1"/>
          <p:nvPr/>
        </p:nvSpPr>
        <p:spPr>
          <a:xfrm>
            <a:off x="468007" y="1786505"/>
            <a:ext cx="10032643" cy="3970318"/>
          </a:xfrm>
          <a:prstGeom prst="rect">
            <a:avLst/>
          </a:prstGeom>
          <a:noFill/>
        </p:spPr>
        <p:txBody>
          <a:bodyPr wrap="square" numCol="1" rtlCol="0">
            <a:spAutoFit/>
          </a:bodyPr>
          <a:lstStyle/>
          <a:p>
            <a:pPr marL="742950" lvl="1" indent="-285750" algn="just">
              <a:buFont typeface="Wingdings" panose="05000000000000000000" pitchFamily="2" charset="2"/>
              <a:buChar char="Ø"/>
            </a:pPr>
            <a:r>
              <a:rPr lang="es-ES" dirty="0">
                <a:ln w="0"/>
              </a:rPr>
              <a:t>Esta diseñado para crear informes desde cualquier origen de datos (</a:t>
            </a:r>
            <a:r>
              <a:rPr lang="es-ES" dirty="0" err="1">
                <a:ln w="0"/>
              </a:rPr>
              <a:t>xsd</a:t>
            </a:r>
            <a:r>
              <a:rPr lang="es-ES" dirty="0">
                <a:ln w="0"/>
              </a:rPr>
              <a:t>, </a:t>
            </a:r>
            <a:r>
              <a:rPr lang="es-ES" dirty="0" err="1">
                <a:ln w="0"/>
              </a:rPr>
              <a:t>xml</a:t>
            </a:r>
            <a:r>
              <a:rPr lang="es-ES" dirty="0">
                <a:ln w="0"/>
              </a:rPr>
              <a:t>, SQL Server, Hana), para analizar e interpretar la información.</a:t>
            </a:r>
          </a:p>
          <a:p>
            <a:pPr marL="742950" lvl="1" indent="-285750" algn="just">
              <a:buFont typeface="Wingdings" panose="05000000000000000000" pitchFamily="2" charset="2"/>
              <a:buChar char="Ø"/>
            </a:pPr>
            <a:endParaRPr lang="es-ES" dirty="0">
              <a:ln w="0"/>
            </a:endParaRPr>
          </a:p>
          <a:p>
            <a:pPr marL="742950" lvl="1" indent="-285750" algn="just">
              <a:buFont typeface="Wingdings" panose="05000000000000000000" pitchFamily="2" charset="2"/>
              <a:buChar char="Ø"/>
            </a:pPr>
            <a:r>
              <a:rPr lang="es-ES" dirty="0">
                <a:ln w="0"/>
              </a:rPr>
              <a:t>Nos brinda un asistente gráfico, que nos guía paso a paso en la creación de informes.</a:t>
            </a:r>
          </a:p>
          <a:p>
            <a:pPr marL="742950" lvl="1" indent="-285750" algn="just">
              <a:buFont typeface="Wingdings" panose="05000000000000000000" pitchFamily="2" charset="2"/>
              <a:buChar char="Ø"/>
            </a:pPr>
            <a:endParaRPr lang="es-ES" dirty="0">
              <a:ln w="0"/>
            </a:endParaRPr>
          </a:p>
          <a:p>
            <a:pPr marL="742950" lvl="1" indent="-285750" algn="just">
              <a:buFont typeface="Wingdings" panose="05000000000000000000" pitchFamily="2" charset="2"/>
              <a:buChar char="Ø"/>
            </a:pPr>
            <a:r>
              <a:rPr lang="es-ES" dirty="0">
                <a:ln w="0"/>
              </a:rPr>
              <a:t>Formulas, tablas de referencia, </a:t>
            </a:r>
            <a:r>
              <a:rPr lang="es-ES" dirty="0" err="1">
                <a:ln w="0"/>
              </a:rPr>
              <a:t>subinformes</a:t>
            </a:r>
            <a:r>
              <a:rPr lang="es-ES" dirty="0">
                <a:ln w="0"/>
              </a:rPr>
              <a:t> y formatos condicionales nos ayudan a entender mejor los datos.</a:t>
            </a:r>
          </a:p>
          <a:p>
            <a:pPr marL="742950" lvl="1" indent="-285750" algn="just">
              <a:buFont typeface="Wingdings" panose="05000000000000000000" pitchFamily="2" charset="2"/>
              <a:buChar char="Ø"/>
            </a:pPr>
            <a:endParaRPr lang="es-ES" dirty="0">
              <a:ln w="0"/>
            </a:endParaRPr>
          </a:p>
          <a:p>
            <a:pPr marL="742950" lvl="1" indent="-285750" algn="just">
              <a:buFont typeface="Wingdings" panose="05000000000000000000" pitchFamily="2" charset="2"/>
              <a:buChar char="Ø"/>
            </a:pPr>
            <a:r>
              <a:rPr lang="es-ES" dirty="0">
                <a:ln w="0"/>
              </a:rPr>
              <a:t>Cuando las palabras y números no son suficientes podemos usar los gráficos.</a:t>
            </a:r>
          </a:p>
          <a:p>
            <a:pPr marL="742950" lvl="1" indent="-285750" algn="just">
              <a:buFont typeface="Wingdings" panose="05000000000000000000" pitchFamily="2" charset="2"/>
              <a:buChar char="Ø"/>
            </a:pPr>
            <a:endParaRPr lang="es-ES" dirty="0">
              <a:ln w="0"/>
            </a:endParaRPr>
          </a:p>
          <a:p>
            <a:pPr marL="742950" lvl="1" indent="-285750" algn="just">
              <a:buFont typeface="Wingdings" panose="05000000000000000000" pitchFamily="2" charset="2"/>
              <a:buChar char="Ø"/>
            </a:pPr>
            <a:r>
              <a:rPr lang="es-ES" dirty="0">
                <a:ln w="0"/>
              </a:rPr>
              <a:t>Se puede acceder a una versión PDF de la documentación de </a:t>
            </a:r>
            <a:r>
              <a:rPr lang="es-ES" dirty="0" err="1">
                <a:ln w="0"/>
              </a:rPr>
              <a:t>Crystal</a:t>
            </a:r>
            <a:r>
              <a:rPr lang="es-ES" dirty="0">
                <a:ln w="0"/>
              </a:rPr>
              <a:t> </a:t>
            </a:r>
            <a:r>
              <a:rPr lang="es-ES" dirty="0" err="1">
                <a:ln w="0"/>
              </a:rPr>
              <a:t>Reports</a:t>
            </a:r>
            <a:r>
              <a:rPr lang="es-ES" dirty="0">
                <a:ln w="0"/>
              </a:rPr>
              <a:t> en línea en help.sap.com</a:t>
            </a:r>
          </a:p>
          <a:p>
            <a:pPr lvl="1"/>
            <a:endParaRPr lang="es-ES" dirty="0">
              <a:ln w="0"/>
            </a:endParaRPr>
          </a:p>
          <a:p>
            <a:pPr lvl="1"/>
            <a:endParaRPr lang="es-ES" dirty="0">
              <a:ln w="0"/>
            </a:endParaRPr>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Tree>
    <p:extLst>
      <p:ext uri="{BB962C8B-B14F-4D97-AF65-F5344CB8AC3E}">
        <p14:creationId xmlns:p14="http://schemas.microsoft.com/office/powerpoint/2010/main" val="1132331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478666" y="1129293"/>
            <a:ext cx="8047149" cy="763901"/>
          </a:xfrm>
        </p:spPr>
        <p:txBody>
          <a:bodyPr numCol="1">
            <a:normAutofit fontScale="77500" lnSpcReduction="20000"/>
          </a:bodyPr>
          <a:lstStyle/>
          <a:p>
            <a:pPr algn="l"/>
            <a:r>
              <a:rPr lang="es-ES" sz="4800" b="1" dirty="0">
                <a:ln w="0"/>
              </a:rPr>
              <a:t>2. Asistentes para creación de Informes</a:t>
            </a:r>
            <a:endParaRPr lang="es-ES" dirty="0">
              <a:ln w="0"/>
            </a:endParaRPr>
          </a:p>
          <a:p>
            <a:pPr algn="l"/>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p:cNvSpPr txBox="1"/>
          <p:nvPr/>
        </p:nvSpPr>
        <p:spPr>
          <a:xfrm>
            <a:off x="468007" y="1786505"/>
            <a:ext cx="11304893" cy="4524315"/>
          </a:xfrm>
          <a:prstGeom prst="rect">
            <a:avLst/>
          </a:prstGeom>
          <a:noFill/>
        </p:spPr>
        <p:txBody>
          <a:bodyPr wrap="square" numCol="1" rtlCol="0">
            <a:spAutoFit/>
          </a:bodyPr>
          <a:lstStyle/>
          <a:p>
            <a:pPr marL="742950" lvl="1" indent="-285750" algn="just">
              <a:buFont typeface="Wingdings" panose="05000000000000000000" pitchFamily="2" charset="2"/>
              <a:buChar char="Ø"/>
            </a:pPr>
            <a:r>
              <a:rPr lang="es-ES" dirty="0">
                <a:ln w="0"/>
              </a:rPr>
              <a:t>Existen 4 asistentes  para la creación de Informes:</a:t>
            </a:r>
          </a:p>
          <a:p>
            <a:pPr marL="1200150" lvl="2" indent="-285750" algn="just">
              <a:buFont typeface="Wingdings" panose="05000000000000000000" pitchFamily="2" charset="2"/>
              <a:buChar char="§"/>
            </a:pPr>
            <a:r>
              <a:rPr lang="es-ES" dirty="0">
                <a:ln w="0"/>
              </a:rPr>
              <a:t>Estándar</a:t>
            </a:r>
          </a:p>
          <a:p>
            <a:pPr marL="1657350" lvl="3" indent="-285750" algn="just">
              <a:buFont typeface="Wingdings" panose="05000000000000000000" pitchFamily="2" charset="2"/>
              <a:buChar char="ü"/>
            </a:pPr>
            <a:r>
              <a:rPr lang="es-ES" dirty="0">
                <a:ln w="0"/>
              </a:rPr>
              <a:t>Es el asistente más genérico. </a:t>
            </a:r>
          </a:p>
          <a:p>
            <a:pPr marL="1657350" lvl="3" indent="-285750" algn="just">
              <a:buFont typeface="Wingdings" panose="05000000000000000000" pitchFamily="2" charset="2"/>
              <a:buChar char="ü"/>
            </a:pPr>
            <a:r>
              <a:rPr lang="es-ES" dirty="0">
                <a:ln w="0"/>
              </a:rPr>
              <a:t>Guía al usuario en la selección del origen de datos y vínculos entre las tablas de una base de datos. </a:t>
            </a:r>
          </a:p>
          <a:p>
            <a:pPr marL="1657350" lvl="3" indent="-285750" algn="just">
              <a:buFont typeface="Wingdings" panose="05000000000000000000" pitchFamily="2" charset="2"/>
              <a:buChar char="ü"/>
            </a:pPr>
            <a:r>
              <a:rPr lang="es-ES" dirty="0">
                <a:ln w="0"/>
              </a:rPr>
              <a:t>Permite agregar campos y especificar criterios de agrupamiento, resumen (totales) y ordenamiento.</a:t>
            </a:r>
          </a:p>
          <a:p>
            <a:pPr marL="1657350" lvl="3" indent="-285750" algn="just">
              <a:buFont typeface="Wingdings" panose="05000000000000000000" pitchFamily="2" charset="2"/>
              <a:buChar char="ü"/>
            </a:pPr>
            <a:r>
              <a:rPr lang="es-ES" dirty="0">
                <a:ln w="0"/>
              </a:rPr>
              <a:t>Orienta en el proceso de creación de gráficos y selección de registros.</a:t>
            </a:r>
          </a:p>
          <a:p>
            <a:pPr marL="1200150" lvl="2" indent="-285750" algn="just">
              <a:buFont typeface="Wingdings" panose="05000000000000000000" pitchFamily="2" charset="2"/>
              <a:buChar char="§"/>
            </a:pPr>
            <a:r>
              <a:rPr lang="es-ES" dirty="0">
                <a:ln w="0"/>
              </a:rPr>
              <a:t>Tabla de Referencia</a:t>
            </a:r>
          </a:p>
          <a:p>
            <a:pPr marL="1657350" lvl="3" indent="-285750" algn="just">
              <a:buFont typeface="Wingdings" panose="05000000000000000000" pitchFamily="2" charset="2"/>
              <a:buChar char="ü"/>
            </a:pPr>
            <a:r>
              <a:rPr lang="es-ES" dirty="0">
                <a:ln w="0"/>
              </a:rPr>
              <a:t>Guía al usuario para que los datos se muestre como una tabla.</a:t>
            </a:r>
          </a:p>
          <a:p>
            <a:pPr marL="1657350" lvl="3" indent="-285750" algn="just">
              <a:buFont typeface="Wingdings" panose="05000000000000000000" pitchFamily="2" charset="2"/>
              <a:buChar char="ü"/>
            </a:pPr>
            <a:r>
              <a:rPr lang="es-ES" dirty="0">
                <a:ln w="0"/>
              </a:rPr>
              <a:t>Tiene 2 pantallas especiales: Tabla de referencia y Tipo de Cuadricula.</a:t>
            </a:r>
          </a:p>
          <a:p>
            <a:pPr marL="1200150" lvl="2" indent="-285750" algn="just">
              <a:buFont typeface="Wingdings" panose="05000000000000000000" pitchFamily="2" charset="2"/>
              <a:buChar char="§"/>
            </a:pPr>
            <a:r>
              <a:rPr lang="es-ES" dirty="0">
                <a:ln w="0"/>
              </a:rPr>
              <a:t>Etiquetas de correo</a:t>
            </a:r>
          </a:p>
          <a:p>
            <a:pPr marL="1657350" lvl="3" indent="-285750" algn="just">
              <a:buFont typeface="Wingdings" panose="05000000000000000000" pitchFamily="2" charset="2"/>
              <a:buChar char="ü"/>
            </a:pPr>
            <a:r>
              <a:rPr lang="es-ES" dirty="0">
                <a:ln w="0"/>
              </a:rPr>
              <a:t>Nos permite crear un informe con un formato de impresión de etiquetas de correo en cualquier tamaño.</a:t>
            </a:r>
          </a:p>
          <a:p>
            <a:pPr marL="1200150" lvl="2" indent="-285750" algn="just">
              <a:buFont typeface="Wingdings" panose="05000000000000000000" pitchFamily="2" charset="2"/>
              <a:buChar char="§"/>
            </a:pPr>
            <a:r>
              <a:rPr lang="es-ES" dirty="0" err="1">
                <a:ln w="0"/>
              </a:rPr>
              <a:t>Olap</a:t>
            </a:r>
            <a:endParaRPr lang="es-ES" dirty="0">
              <a:ln w="0"/>
            </a:endParaRPr>
          </a:p>
          <a:p>
            <a:pPr marL="1657350" lvl="3" indent="-285750" algn="just">
              <a:buFont typeface="Wingdings" panose="05000000000000000000" pitchFamily="2" charset="2"/>
              <a:buChar char="ü"/>
            </a:pPr>
            <a:r>
              <a:rPr lang="es-ES" dirty="0">
                <a:ln w="0"/>
              </a:rPr>
              <a:t>Permite crear un informe en el que los datos OLAP se muestran como un objeto de cuadricula.</a:t>
            </a:r>
          </a:p>
          <a:p>
            <a:pPr lvl="1" algn="ctr"/>
            <a:endParaRPr lang="es-ES" b="1" dirty="0">
              <a:ln w="0"/>
            </a:endParaRPr>
          </a:p>
          <a:p>
            <a:pPr lvl="1"/>
            <a:endParaRPr lang="es-ES" dirty="0">
              <a:ln w="0"/>
            </a:endParaRPr>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Tree>
    <p:extLst>
      <p:ext uri="{BB962C8B-B14F-4D97-AF65-F5344CB8AC3E}">
        <p14:creationId xmlns:p14="http://schemas.microsoft.com/office/powerpoint/2010/main" val="3976130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478666" y="1077777"/>
            <a:ext cx="8047149" cy="763901"/>
          </a:xfrm>
        </p:spPr>
        <p:txBody>
          <a:bodyPr numCol="1">
            <a:normAutofit fontScale="77500" lnSpcReduction="20000"/>
          </a:bodyPr>
          <a:lstStyle/>
          <a:p>
            <a:pPr algn="l"/>
            <a:r>
              <a:rPr lang="es-ES" sz="4800" b="1" dirty="0">
                <a:ln w="0"/>
              </a:rPr>
              <a:t>2. Asistentes para creación de Informes</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pic>
        <p:nvPicPr>
          <p:cNvPr id="5" name="Imagen 4"/>
          <p:cNvPicPr>
            <a:picLocks noChangeAspect="1"/>
          </p:cNvPicPr>
          <p:nvPr/>
        </p:nvPicPr>
        <p:blipFill>
          <a:blip r:embed="rId6"/>
          <a:stretch>
            <a:fillRect/>
          </a:stretch>
        </p:blipFill>
        <p:spPr>
          <a:xfrm>
            <a:off x="6636944" y="1790162"/>
            <a:ext cx="2193639" cy="4623517"/>
          </a:xfrm>
          <a:prstGeom prst="rect">
            <a:avLst/>
          </a:prstGeom>
        </p:spPr>
      </p:pic>
      <p:sp>
        <p:nvSpPr>
          <p:cNvPr id="9" name="CuadroTexto 8"/>
          <p:cNvSpPr txBox="1"/>
          <p:nvPr/>
        </p:nvSpPr>
        <p:spPr>
          <a:xfrm>
            <a:off x="946597" y="2790665"/>
            <a:ext cx="5777479" cy="923330"/>
          </a:xfrm>
          <a:prstGeom prst="rect">
            <a:avLst/>
          </a:prstGeom>
          <a:noFill/>
        </p:spPr>
        <p:txBody>
          <a:bodyPr wrap="none" rtlCol="0">
            <a:spAutoFit/>
          </a:bodyPr>
          <a:lstStyle/>
          <a:p>
            <a:r>
              <a:rPr lang="es-ES" dirty="0"/>
              <a:t>En Windows, haga clic en:</a:t>
            </a:r>
          </a:p>
          <a:p>
            <a:r>
              <a:rPr lang="es-ES" dirty="0"/>
              <a:t>INICIO </a:t>
            </a:r>
            <a:r>
              <a:rPr lang="es-ES" dirty="0">
                <a:sym typeface="Wingdings" panose="05000000000000000000" pitchFamily="2" charset="2"/>
              </a:rPr>
              <a:t> SAP BUSINESS ONE  SAP </a:t>
            </a:r>
            <a:r>
              <a:rPr lang="es-ES" dirty="0" err="1">
                <a:sym typeface="Wingdings" panose="05000000000000000000" pitchFamily="2" charset="2"/>
              </a:rPr>
              <a:t>Crystal</a:t>
            </a:r>
            <a:r>
              <a:rPr lang="es-ES" dirty="0">
                <a:sym typeface="Wingdings" panose="05000000000000000000" pitchFamily="2" charset="2"/>
              </a:rPr>
              <a:t> </a:t>
            </a:r>
            <a:r>
              <a:rPr lang="es-ES" dirty="0" err="1">
                <a:sym typeface="Wingdings" panose="05000000000000000000" pitchFamily="2" charset="2"/>
              </a:rPr>
              <a:t>Reports</a:t>
            </a:r>
            <a:r>
              <a:rPr lang="es-ES" dirty="0">
                <a:sym typeface="Wingdings" panose="05000000000000000000" pitchFamily="2" charset="2"/>
              </a:rPr>
              <a:t> </a:t>
            </a:r>
            <a:r>
              <a:rPr lang="es-ES" dirty="0" err="1">
                <a:sym typeface="Wingdings" panose="05000000000000000000" pitchFamily="2" charset="2"/>
              </a:rPr>
              <a:t>for</a:t>
            </a:r>
            <a:r>
              <a:rPr lang="es-ES" dirty="0">
                <a:sym typeface="Wingdings" panose="05000000000000000000" pitchFamily="2" charset="2"/>
              </a:rPr>
              <a:t> SAP</a:t>
            </a:r>
          </a:p>
          <a:p>
            <a:r>
              <a:rPr lang="es-ES" dirty="0">
                <a:sym typeface="Wingdings" panose="05000000000000000000" pitchFamily="2" charset="2"/>
              </a:rPr>
              <a:t>Business </a:t>
            </a:r>
            <a:r>
              <a:rPr lang="es-ES" dirty="0" err="1">
                <a:sym typeface="Wingdings" panose="05000000000000000000" pitchFamily="2" charset="2"/>
              </a:rPr>
              <a:t>One</a:t>
            </a:r>
            <a:endParaRPr lang="es-ES" dirty="0"/>
          </a:p>
        </p:txBody>
      </p:sp>
      <p:sp>
        <p:nvSpPr>
          <p:cNvPr id="11" name="CuadroTexto 10"/>
          <p:cNvSpPr txBox="1"/>
          <p:nvPr/>
        </p:nvSpPr>
        <p:spPr>
          <a:xfrm>
            <a:off x="946597" y="2298596"/>
            <a:ext cx="2136482" cy="369332"/>
          </a:xfrm>
          <a:prstGeom prst="rect">
            <a:avLst/>
          </a:prstGeom>
          <a:noFill/>
        </p:spPr>
        <p:txBody>
          <a:bodyPr wrap="none" rtlCol="0">
            <a:spAutoFit/>
          </a:bodyPr>
          <a:lstStyle/>
          <a:p>
            <a:r>
              <a:rPr lang="es-ES" b="1" dirty="0"/>
              <a:t>Abrir </a:t>
            </a:r>
            <a:r>
              <a:rPr lang="es-ES" b="1" dirty="0" err="1"/>
              <a:t>Crystal</a:t>
            </a:r>
            <a:r>
              <a:rPr lang="es-ES" b="1" dirty="0"/>
              <a:t> </a:t>
            </a:r>
            <a:r>
              <a:rPr lang="es-ES" b="1" dirty="0" err="1"/>
              <a:t>Report</a:t>
            </a:r>
            <a:r>
              <a:rPr lang="es-ES" b="1" dirty="0"/>
              <a:t>:</a:t>
            </a:r>
          </a:p>
        </p:txBody>
      </p:sp>
    </p:spTree>
    <p:extLst>
      <p:ext uri="{BB962C8B-B14F-4D97-AF65-F5344CB8AC3E}">
        <p14:creationId xmlns:p14="http://schemas.microsoft.com/office/powerpoint/2010/main" val="1973073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478666" y="1026261"/>
            <a:ext cx="8047149" cy="763901"/>
          </a:xfrm>
        </p:spPr>
        <p:txBody>
          <a:bodyPr numCol="1">
            <a:normAutofit/>
          </a:bodyPr>
          <a:lstStyle/>
          <a:p>
            <a:pPr algn="l"/>
            <a:r>
              <a:rPr lang="es-ES" sz="4800" b="1" dirty="0">
                <a:ln w="0"/>
              </a:rPr>
              <a:t>3. Tipos de conexiones</a:t>
            </a:r>
            <a:endParaRPr lang="es-ES" dirty="0">
              <a:ln w="0"/>
            </a:endParaRPr>
          </a:p>
          <a:p>
            <a:pPr algn="l"/>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5" name="CuadroTexto 4"/>
          <p:cNvSpPr txBox="1"/>
          <p:nvPr/>
        </p:nvSpPr>
        <p:spPr>
          <a:xfrm>
            <a:off x="822516" y="1790162"/>
            <a:ext cx="2170851" cy="369332"/>
          </a:xfrm>
          <a:prstGeom prst="rect">
            <a:avLst/>
          </a:prstGeom>
          <a:noFill/>
        </p:spPr>
        <p:txBody>
          <a:bodyPr wrap="none" rtlCol="0">
            <a:spAutoFit/>
          </a:bodyPr>
          <a:lstStyle/>
          <a:p>
            <a:r>
              <a:rPr lang="es-ES" b="1" dirty="0"/>
              <a:t>Tipos de conexiones:</a:t>
            </a:r>
          </a:p>
        </p:txBody>
      </p:sp>
      <p:pic>
        <p:nvPicPr>
          <p:cNvPr id="9" name="Imagen 8"/>
          <p:cNvPicPr>
            <a:picLocks noChangeAspect="1"/>
          </p:cNvPicPr>
          <p:nvPr/>
        </p:nvPicPr>
        <p:blipFill>
          <a:blip r:embed="rId6"/>
          <a:stretch>
            <a:fillRect/>
          </a:stretch>
        </p:blipFill>
        <p:spPr>
          <a:xfrm>
            <a:off x="1719329" y="2230871"/>
            <a:ext cx="2085975" cy="3200400"/>
          </a:xfrm>
          <a:prstGeom prst="rect">
            <a:avLst/>
          </a:prstGeom>
        </p:spPr>
      </p:pic>
      <p:sp>
        <p:nvSpPr>
          <p:cNvPr id="11" name="CuadroTexto 10"/>
          <p:cNvSpPr txBox="1"/>
          <p:nvPr/>
        </p:nvSpPr>
        <p:spPr>
          <a:xfrm>
            <a:off x="4426857" y="2199970"/>
            <a:ext cx="7159983" cy="3231654"/>
          </a:xfrm>
          <a:prstGeom prst="rect">
            <a:avLst/>
          </a:prstGeom>
          <a:noFill/>
        </p:spPr>
        <p:txBody>
          <a:bodyPr wrap="square" rtlCol="0">
            <a:spAutoFit/>
          </a:bodyPr>
          <a:lstStyle/>
          <a:p>
            <a:pPr algn="just"/>
            <a:r>
              <a:rPr lang="es-ES" b="1" dirty="0"/>
              <a:t>ADO.NET (XML):</a:t>
            </a:r>
          </a:p>
          <a:p>
            <a:pPr marL="285750" indent="-285750" algn="just">
              <a:buFont typeface="Wingdings" panose="05000000000000000000" pitchFamily="2" charset="2"/>
              <a:buChar char="Ø"/>
            </a:pPr>
            <a:r>
              <a:rPr lang="es-ES" dirty="0"/>
              <a:t>Permite conectarse ha archivos </a:t>
            </a:r>
            <a:r>
              <a:rPr lang="es-ES" dirty="0" err="1"/>
              <a:t>xsd</a:t>
            </a:r>
            <a:r>
              <a:rPr lang="es-ES" dirty="0"/>
              <a:t> del SRI.</a:t>
            </a:r>
          </a:p>
          <a:p>
            <a:pPr algn="just"/>
            <a:endParaRPr lang="es-ES" b="1" dirty="0"/>
          </a:p>
          <a:p>
            <a:pPr algn="just"/>
            <a:r>
              <a:rPr lang="es-ES" b="1" dirty="0"/>
              <a:t>SAP Business </a:t>
            </a:r>
            <a:r>
              <a:rPr lang="es-ES" b="1" dirty="0" err="1"/>
              <a:t>One</a:t>
            </a:r>
            <a:r>
              <a:rPr lang="es-ES" b="1" dirty="0"/>
              <a:t>:</a:t>
            </a:r>
          </a:p>
          <a:p>
            <a:pPr marL="285750" indent="-285750" algn="just">
              <a:buFont typeface="Wingdings" panose="05000000000000000000" pitchFamily="2" charset="2"/>
              <a:buChar char="Ø"/>
            </a:pPr>
            <a:r>
              <a:rPr lang="es-ES" dirty="0"/>
              <a:t>Conexión directa a SAP B1, para tener este tipo de conexión se tiene</a:t>
            </a:r>
          </a:p>
          <a:p>
            <a:pPr algn="just"/>
            <a:r>
              <a:rPr lang="es-ES" dirty="0"/>
              <a:t>que tener instalado “</a:t>
            </a:r>
            <a:r>
              <a:rPr lang="en-US" dirty="0"/>
              <a:t>SAP Business One Crystal Report Integration Package”</a:t>
            </a:r>
            <a:r>
              <a:rPr lang="es-ES" dirty="0"/>
              <a:t>.</a:t>
            </a:r>
          </a:p>
          <a:p>
            <a:pPr algn="just"/>
            <a:endParaRPr lang="es-ES" dirty="0"/>
          </a:p>
          <a:p>
            <a:pPr algn="just"/>
            <a:r>
              <a:rPr lang="es-ES" sz="2000" b="1" u="sng" dirty="0">
                <a:latin typeface="Arial Black" panose="020B0A04020102020204" pitchFamily="34" charset="0"/>
              </a:rPr>
              <a:t>ODBC (RDO)</a:t>
            </a:r>
          </a:p>
          <a:p>
            <a:pPr marL="285750" indent="-285750" algn="just">
              <a:buFont typeface="Wingdings" panose="05000000000000000000" pitchFamily="2" charset="2"/>
              <a:buChar char="Ø"/>
            </a:pPr>
            <a:r>
              <a:rPr lang="es-ES" sz="2000" b="1" u="sng" dirty="0">
                <a:latin typeface="Arial Black" panose="020B0A04020102020204" pitchFamily="34" charset="0"/>
              </a:rPr>
              <a:t>Permite conectarse con el controlador directo al motor de base de datos.</a:t>
            </a:r>
          </a:p>
          <a:p>
            <a:pPr algn="just"/>
            <a:endParaRPr lang="es-ES" dirty="0"/>
          </a:p>
        </p:txBody>
      </p:sp>
    </p:spTree>
    <p:extLst>
      <p:ext uri="{BB962C8B-B14F-4D97-AF65-F5344CB8AC3E}">
        <p14:creationId xmlns:p14="http://schemas.microsoft.com/office/powerpoint/2010/main" val="1237351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64462" y="5908061"/>
            <a:ext cx="1927538" cy="955882"/>
          </a:xfrm>
          <a:prstGeom prst="rect">
            <a:avLst/>
          </a:prstGeom>
        </p:spPr>
      </p:pic>
      <p:sp>
        <p:nvSpPr>
          <p:cNvPr id="11" name="CuadroTexto 10"/>
          <p:cNvSpPr txBox="1"/>
          <p:nvPr/>
        </p:nvSpPr>
        <p:spPr>
          <a:xfrm>
            <a:off x="840237" y="1813035"/>
            <a:ext cx="6906295" cy="369332"/>
          </a:xfrm>
          <a:prstGeom prst="rect">
            <a:avLst/>
          </a:prstGeom>
          <a:noFill/>
        </p:spPr>
        <p:txBody>
          <a:bodyPr wrap="square" rtlCol="0">
            <a:spAutoFit/>
          </a:bodyPr>
          <a:lstStyle/>
          <a:p>
            <a:pPr marL="342900" indent="-342900" algn="just">
              <a:buFont typeface="+mj-lt"/>
              <a:buAutoNum type="arabicPeriod" startAt="2"/>
            </a:pPr>
            <a:r>
              <a:rPr lang="es-ES" dirty="0"/>
              <a:t>Seleccionar Ingresar Cadena de Conexión</a:t>
            </a:r>
          </a:p>
        </p:txBody>
      </p:sp>
      <p:sp>
        <p:nvSpPr>
          <p:cNvPr id="19" name="Subtítulo 2"/>
          <p:cNvSpPr txBox="1">
            <a:spLocks/>
          </p:cNvSpPr>
          <p:nvPr/>
        </p:nvSpPr>
        <p:spPr>
          <a:xfrm>
            <a:off x="518265" y="1049134"/>
            <a:ext cx="10120647" cy="763901"/>
          </a:xfrm>
          <a:prstGeom prst="rect">
            <a:avLst/>
          </a:prstGeom>
        </p:spPr>
        <p:txBody>
          <a:bodyPr vert="horz" lIns="91440" tIns="45720" rIns="91440" bIns="45720" numCol="1"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ES" sz="4800" b="1" dirty="0">
                <a:ln w="0"/>
              </a:rPr>
              <a:t>4. Creación de conexiones – ODBC (RDO)</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13" name="Picture 2">
            <a:extLst>
              <a:ext uri="{FF2B5EF4-FFF2-40B4-BE49-F238E27FC236}">
                <a16:creationId xmlns:a16="http://schemas.microsoft.com/office/drawing/2014/main" id="{56614F81-A0D1-42ED-817F-269F5C87F5ED}"/>
              </a:ext>
            </a:extLst>
          </p:cNvPr>
          <p:cNvPicPr>
            <a:picLocks noChangeAspect="1" noChangeArrowheads="1"/>
          </p:cNvPicPr>
          <p:nvPr/>
        </p:nvPicPr>
        <p:blipFill>
          <a:blip r:embed="rId6" cstate="print"/>
          <a:srcRect/>
          <a:stretch>
            <a:fillRect/>
          </a:stretch>
        </p:blipFill>
        <p:spPr bwMode="auto">
          <a:xfrm>
            <a:off x="3989346" y="2168312"/>
            <a:ext cx="3178484" cy="3241217"/>
          </a:xfrm>
          <a:prstGeom prst="rect">
            <a:avLst/>
          </a:prstGeom>
          <a:noFill/>
          <a:ln w="9525">
            <a:noFill/>
            <a:miter lim="800000"/>
            <a:headEnd/>
            <a:tailEnd/>
          </a:ln>
        </p:spPr>
      </p:pic>
      <p:sp>
        <p:nvSpPr>
          <p:cNvPr id="14" name="Rectángulo 13">
            <a:extLst>
              <a:ext uri="{FF2B5EF4-FFF2-40B4-BE49-F238E27FC236}">
                <a16:creationId xmlns:a16="http://schemas.microsoft.com/office/drawing/2014/main" id="{80F32DFC-0D64-4C09-9B6C-2DEBCA6D3368}"/>
              </a:ext>
            </a:extLst>
          </p:cNvPr>
          <p:cNvSpPr/>
          <p:nvPr/>
        </p:nvSpPr>
        <p:spPr>
          <a:xfrm>
            <a:off x="2249193" y="5395474"/>
            <a:ext cx="8073615" cy="923330"/>
          </a:xfrm>
          <a:prstGeom prst="rect">
            <a:avLst/>
          </a:prstGeom>
        </p:spPr>
        <p:txBody>
          <a:bodyPr wrap="square">
            <a:spAutoFit/>
          </a:bodyPr>
          <a:lstStyle/>
          <a:p>
            <a:r>
              <a:rPr lang="en-US" dirty="0"/>
              <a:t>DRIVER={</a:t>
            </a:r>
            <a:r>
              <a:rPr lang="en-US" dirty="0" err="1"/>
              <a:t>HDBODBC32</a:t>
            </a:r>
            <a:r>
              <a:rPr lang="en-US" dirty="0"/>
              <a:t>};</a:t>
            </a:r>
            <a:r>
              <a:rPr lang="en-US" dirty="0" err="1"/>
              <a:t>UID</a:t>
            </a:r>
            <a:r>
              <a:rPr lang="en-US" dirty="0"/>
              <a:t>=&lt;</a:t>
            </a:r>
            <a:r>
              <a:rPr lang="en-US" dirty="0" err="1"/>
              <a:t>usuario</a:t>
            </a:r>
            <a:r>
              <a:rPr lang="en-US" dirty="0"/>
              <a:t> SYSTEM&gt;;</a:t>
            </a:r>
            <a:r>
              <a:rPr lang="en-US" dirty="0" err="1"/>
              <a:t>PWD</a:t>
            </a:r>
            <a:r>
              <a:rPr lang="en-US" dirty="0"/>
              <a:t>=&lt;</a:t>
            </a:r>
            <a:r>
              <a:rPr lang="en-US" dirty="0" err="1"/>
              <a:t>contraseña</a:t>
            </a:r>
            <a:r>
              <a:rPr lang="en-US" dirty="0"/>
              <a:t> system&gt;;</a:t>
            </a:r>
            <a:r>
              <a:rPr lang="en-US" dirty="0" err="1"/>
              <a:t>SERVERNODE</a:t>
            </a:r>
            <a:r>
              <a:rPr lang="en-US" dirty="0"/>
              <a:t>=&lt;host/</a:t>
            </a:r>
            <a:r>
              <a:rPr lang="en-US" dirty="0" err="1"/>
              <a:t>ip</a:t>
            </a:r>
            <a:r>
              <a:rPr lang="en-US" dirty="0"/>
              <a:t>&gt;:&lt;Puerto 30015&gt;;DATABASE=&lt;DB schema o </a:t>
            </a:r>
            <a:r>
              <a:rPr lang="en-US" dirty="0" err="1"/>
              <a:t>nombre</a:t>
            </a:r>
            <a:r>
              <a:rPr lang="en-US" dirty="0"/>
              <a:t> de base de </a:t>
            </a:r>
            <a:r>
              <a:rPr lang="en-US" dirty="0" err="1"/>
              <a:t>datos</a:t>
            </a:r>
            <a:r>
              <a:rPr lang="en-US" dirty="0"/>
              <a:t>&gt;</a:t>
            </a:r>
            <a:endParaRPr lang="es-ES" dirty="0"/>
          </a:p>
        </p:txBody>
      </p:sp>
    </p:spTree>
    <p:extLst>
      <p:ext uri="{BB962C8B-B14F-4D97-AF65-F5344CB8AC3E}">
        <p14:creationId xmlns:p14="http://schemas.microsoft.com/office/powerpoint/2010/main" val="2095489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64462" y="5908061"/>
            <a:ext cx="1927538" cy="955882"/>
          </a:xfrm>
          <a:prstGeom prst="rect">
            <a:avLst/>
          </a:prstGeom>
        </p:spPr>
      </p:pic>
      <p:sp>
        <p:nvSpPr>
          <p:cNvPr id="11" name="CuadroTexto 10"/>
          <p:cNvSpPr txBox="1"/>
          <p:nvPr/>
        </p:nvSpPr>
        <p:spPr>
          <a:xfrm>
            <a:off x="840237" y="1813035"/>
            <a:ext cx="6906295" cy="646331"/>
          </a:xfrm>
          <a:prstGeom prst="rect">
            <a:avLst/>
          </a:prstGeom>
          <a:noFill/>
        </p:spPr>
        <p:txBody>
          <a:bodyPr wrap="square" rtlCol="0">
            <a:spAutoFit/>
          </a:bodyPr>
          <a:lstStyle/>
          <a:p>
            <a:pPr marL="342900" indent="-342900" algn="just">
              <a:buFont typeface="+mj-lt"/>
              <a:buAutoNum type="arabicPeriod" startAt="3"/>
            </a:pPr>
            <a:r>
              <a:rPr lang="es-ES" dirty="0"/>
              <a:t>Datos de conexión del motor de la base de datos.</a:t>
            </a:r>
          </a:p>
          <a:p>
            <a:pPr algn="just"/>
            <a:r>
              <a:rPr lang="es-ES" dirty="0"/>
              <a:t>SERVER= &lt;</a:t>
            </a:r>
            <a:r>
              <a:rPr lang="es-ES" dirty="0" err="1"/>
              <a:t>ip_server</a:t>
            </a:r>
            <a:r>
              <a:rPr lang="es-ES" dirty="0"/>
              <a:t>&gt;:&lt;Puerto&gt;</a:t>
            </a:r>
          </a:p>
        </p:txBody>
      </p:sp>
      <p:sp>
        <p:nvSpPr>
          <p:cNvPr id="19" name="Subtítulo 2"/>
          <p:cNvSpPr txBox="1">
            <a:spLocks/>
          </p:cNvSpPr>
          <p:nvPr/>
        </p:nvSpPr>
        <p:spPr>
          <a:xfrm>
            <a:off x="518265" y="1049134"/>
            <a:ext cx="10120647" cy="763901"/>
          </a:xfrm>
          <a:prstGeom prst="rect">
            <a:avLst/>
          </a:prstGeom>
        </p:spPr>
        <p:txBody>
          <a:bodyPr vert="horz" lIns="91440" tIns="45720" rIns="91440" bIns="45720" numCol="1"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ES" sz="4800" b="1" dirty="0">
                <a:ln w="0"/>
              </a:rPr>
              <a:t>4. Creación de conexiones – ODBC (RDO)</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12" name="Picture 2">
            <a:extLst>
              <a:ext uri="{FF2B5EF4-FFF2-40B4-BE49-F238E27FC236}">
                <a16:creationId xmlns:a16="http://schemas.microsoft.com/office/drawing/2014/main" id="{9D09354F-EC2F-4D60-A5BC-BFF9A139F2BF}"/>
              </a:ext>
            </a:extLst>
          </p:cNvPr>
          <p:cNvPicPr>
            <a:picLocks noChangeAspect="1" noChangeArrowheads="1"/>
          </p:cNvPicPr>
          <p:nvPr/>
        </p:nvPicPr>
        <p:blipFill>
          <a:blip r:embed="rId6" cstate="print"/>
          <a:srcRect/>
          <a:stretch>
            <a:fillRect/>
          </a:stretch>
        </p:blipFill>
        <p:spPr bwMode="auto">
          <a:xfrm>
            <a:off x="3250305" y="2400438"/>
            <a:ext cx="4129550" cy="4211054"/>
          </a:xfrm>
          <a:prstGeom prst="rect">
            <a:avLst/>
          </a:prstGeom>
          <a:noFill/>
          <a:ln w="9525">
            <a:noFill/>
            <a:miter lim="800000"/>
            <a:headEnd/>
            <a:tailEnd/>
          </a:ln>
        </p:spPr>
      </p:pic>
    </p:spTree>
    <p:extLst>
      <p:ext uri="{BB962C8B-B14F-4D97-AF65-F5344CB8AC3E}">
        <p14:creationId xmlns:p14="http://schemas.microsoft.com/office/powerpoint/2010/main" val="1569061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581697" y="1079506"/>
            <a:ext cx="8369120" cy="530354"/>
          </a:xfrm>
        </p:spPr>
        <p:txBody>
          <a:bodyPr numCol="1">
            <a:normAutofit fontScale="85000" lnSpcReduction="20000"/>
          </a:bodyPr>
          <a:lstStyle/>
          <a:p>
            <a:pPr algn="l"/>
            <a:r>
              <a:rPr lang="es-ES" sz="4800" b="1" dirty="0">
                <a:ln w="0"/>
              </a:rPr>
              <a:t>5. Entorno de Trabajo </a:t>
            </a:r>
            <a:r>
              <a:rPr lang="es-ES" sz="4800" b="1" dirty="0" err="1">
                <a:ln w="0"/>
              </a:rPr>
              <a:t>Crystal</a:t>
            </a:r>
            <a:r>
              <a:rPr lang="es-ES" sz="4800" b="1" dirty="0">
                <a:ln w="0"/>
              </a:rPr>
              <a:t> </a:t>
            </a:r>
            <a:r>
              <a:rPr lang="es-ES" sz="4800" b="1" dirty="0" err="1">
                <a:ln w="0"/>
              </a:rPr>
              <a:t>Report</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5" name="CuadroTexto 4"/>
          <p:cNvSpPr txBox="1"/>
          <p:nvPr/>
        </p:nvSpPr>
        <p:spPr>
          <a:xfrm>
            <a:off x="1166648" y="3241737"/>
            <a:ext cx="8890767" cy="3139321"/>
          </a:xfrm>
          <a:prstGeom prst="rect">
            <a:avLst/>
          </a:prstGeom>
          <a:noFill/>
        </p:spPr>
        <p:txBody>
          <a:bodyPr wrap="none" rtlCol="0">
            <a:spAutoFit/>
          </a:bodyPr>
          <a:lstStyle/>
          <a:p>
            <a:r>
              <a:rPr lang="es-ES" dirty="0"/>
              <a:t>Barras:</a:t>
            </a:r>
          </a:p>
          <a:p>
            <a:pPr marL="285750" indent="-285750">
              <a:buFont typeface="Wingdings" panose="05000000000000000000" pitchFamily="2" charset="2"/>
              <a:buChar char="Ø"/>
            </a:pPr>
            <a:r>
              <a:rPr lang="es-ES" dirty="0"/>
              <a:t>Menú: Nos presenta opciones del </a:t>
            </a:r>
            <a:r>
              <a:rPr lang="es-ES" dirty="0" err="1"/>
              <a:t>reporteador</a:t>
            </a:r>
            <a:r>
              <a:rPr lang="es-ES" dirty="0"/>
              <a:t>. </a:t>
            </a:r>
          </a:p>
          <a:p>
            <a:pPr marL="742950" lvl="1" indent="-285750" algn="just">
              <a:buFont typeface="Arial" panose="020B0604020202020204" pitchFamily="34" charset="0"/>
              <a:buChar char="•"/>
            </a:pPr>
            <a:r>
              <a:rPr lang="es-ES" dirty="0"/>
              <a:t>Archivo.- Abrir, guardar, imprimir, opciones del informe, configuración de página, etc.</a:t>
            </a:r>
          </a:p>
          <a:p>
            <a:pPr marL="742950" lvl="1" indent="-285750" algn="just">
              <a:buFont typeface="Arial" panose="020B0604020202020204" pitchFamily="34" charset="0"/>
              <a:buChar char="•"/>
            </a:pPr>
            <a:r>
              <a:rPr lang="es-ES" dirty="0"/>
              <a:t>Edición.- Buscar, copiar, pegar, ir a </a:t>
            </a:r>
            <a:r>
              <a:rPr lang="es-ES" dirty="0" err="1"/>
              <a:t>página,etc</a:t>
            </a:r>
            <a:r>
              <a:rPr lang="es-ES" dirty="0"/>
              <a:t>.</a:t>
            </a:r>
          </a:p>
          <a:p>
            <a:pPr marL="742950" lvl="1" indent="-285750" algn="just">
              <a:buFont typeface="Arial" panose="020B0604020202020204" pitchFamily="34" charset="0"/>
              <a:buChar char="•"/>
            </a:pPr>
            <a:r>
              <a:rPr lang="es-ES" dirty="0"/>
              <a:t>Vista.- Diseño, vista previa </a:t>
            </a:r>
            <a:r>
              <a:rPr lang="es-ES" dirty="0" err="1"/>
              <a:t>html</a:t>
            </a:r>
            <a:r>
              <a:rPr lang="es-ES" dirty="0"/>
              <a:t>, vista previa, explorador de campos, informes, etc.</a:t>
            </a:r>
          </a:p>
          <a:p>
            <a:pPr marL="742950" lvl="1" indent="-285750" algn="just">
              <a:buFont typeface="Arial" panose="020B0604020202020204" pitchFamily="34" charset="0"/>
              <a:buChar char="•"/>
            </a:pPr>
            <a:r>
              <a:rPr lang="es-ES" dirty="0"/>
              <a:t>Insertar.- Objeto de texto, grupo, </a:t>
            </a:r>
            <a:r>
              <a:rPr lang="es-ES" dirty="0" err="1"/>
              <a:t>subInforme</a:t>
            </a:r>
            <a:r>
              <a:rPr lang="es-ES" dirty="0"/>
              <a:t>, gráfico, etc.</a:t>
            </a:r>
          </a:p>
          <a:p>
            <a:pPr marL="742950" lvl="1" indent="-285750" algn="just">
              <a:buFont typeface="Arial" panose="020B0604020202020204" pitchFamily="34" charset="0"/>
              <a:buChar char="•"/>
            </a:pPr>
            <a:r>
              <a:rPr lang="es-ES" dirty="0"/>
              <a:t>Formato.- Dar formato a objeto, copiar formato, hipervínculo, etc.</a:t>
            </a:r>
          </a:p>
          <a:p>
            <a:pPr marL="742950" lvl="1" indent="-285750" algn="just">
              <a:buFont typeface="Arial" panose="020B0604020202020204" pitchFamily="34" charset="0"/>
              <a:buChar char="•"/>
            </a:pPr>
            <a:r>
              <a:rPr lang="es-ES" dirty="0"/>
              <a:t>Base de Datos.- Asistente de Base de Datos, Comprobar Base de </a:t>
            </a:r>
            <a:r>
              <a:rPr lang="es-ES" dirty="0" err="1"/>
              <a:t>Datos,etc</a:t>
            </a:r>
            <a:r>
              <a:rPr lang="es-ES" dirty="0"/>
              <a:t>.</a:t>
            </a:r>
          </a:p>
          <a:p>
            <a:pPr marL="742950" lvl="1" indent="-285750" algn="just">
              <a:buFont typeface="Arial" panose="020B0604020202020204" pitchFamily="34" charset="0"/>
              <a:buChar char="•"/>
            </a:pPr>
            <a:r>
              <a:rPr lang="es-ES" dirty="0"/>
              <a:t>Informe.- Formulas, Alertas, Asistente de secciones, etc.</a:t>
            </a:r>
          </a:p>
          <a:p>
            <a:pPr marL="742950" lvl="1" indent="-285750" algn="just">
              <a:buFont typeface="Arial" panose="020B0604020202020204" pitchFamily="34" charset="0"/>
              <a:buChar char="•"/>
            </a:pPr>
            <a:r>
              <a:rPr lang="es-ES" dirty="0"/>
              <a:t>Ventana.- Mosaico vertical, horizontal, cascada, cerrar </a:t>
            </a:r>
            <a:r>
              <a:rPr lang="es-ES" dirty="0" err="1"/>
              <a:t>todas,etc</a:t>
            </a:r>
            <a:r>
              <a:rPr lang="es-ES" dirty="0"/>
              <a:t>.</a:t>
            </a:r>
          </a:p>
          <a:p>
            <a:pPr marL="742950" lvl="1" indent="-285750" algn="just">
              <a:buFont typeface="Arial" panose="020B0604020202020204" pitchFamily="34" charset="0"/>
              <a:buChar char="•"/>
            </a:pPr>
            <a:r>
              <a:rPr lang="es-ES" dirty="0"/>
              <a:t>Ayuda.- Ayuda de SAP </a:t>
            </a:r>
            <a:r>
              <a:rPr lang="es-ES" dirty="0" err="1"/>
              <a:t>Crystal</a:t>
            </a:r>
            <a:r>
              <a:rPr lang="es-ES" dirty="0"/>
              <a:t> </a:t>
            </a:r>
            <a:r>
              <a:rPr lang="es-ES" dirty="0" err="1"/>
              <a:t>Report</a:t>
            </a:r>
            <a:r>
              <a:rPr lang="es-ES" dirty="0"/>
              <a:t>, Documentación de </a:t>
            </a:r>
            <a:r>
              <a:rPr lang="es-ES" dirty="0" err="1"/>
              <a:t>Crystal</a:t>
            </a:r>
            <a:r>
              <a:rPr lang="es-ES" dirty="0"/>
              <a:t> </a:t>
            </a:r>
            <a:r>
              <a:rPr lang="es-ES" dirty="0" err="1"/>
              <a:t>report,etc</a:t>
            </a:r>
            <a:r>
              <a:rPr lang="es-ES" dirty="0"/>
              <a:t>.</a:t>
            </a:r>
          </a:p>
        </p:txBody>
      </p:sp>
      <p:pic>
        <p:nvPicPr>
          <p:cNvPr id="9" name="Imagen 8"/>
          <p:cNvPicPr>
            <a:picLocks noChangeAspect="1"/>
          </p:cNvPicPr>
          <p:nvPr/>
        </p:nvPicPr>
        <p:blipFill>
          <a:blip r:embed="rId6"/>
          <a:stretch>
            <a:fillRect/>
          </a:stretch>
        </p:blipFill>
        <p:spPr>
          <a:xfrm>
            <a:off x="673592" y="1552966"/>
            <a:ext cx="10314343" cy="1665149"/>
          </a:xfrm>
          <a:prstGeom prst="rect">
            <a:avLst/>
          </a:prstGeom>
        </p:spPr>
      </p:pic>
    </p:spTree>
    <p:extLst>
      <p:ext uri="{BB962C8B-B14F-4D97-AF65-F5344CB8AC3E}">
        <p14:creationId xmlns:p14="http://schemas.microsoft.com/office/powerpoint/2010/main" val="2667165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581697" y="1079506"/>
            <a:ext cx="8369120" cy="530354"/>
          </a:xfrm>
        </p:spPr>
        <p:txBody>
          <a:bodyPr numCol="1">
            <a:normAutofit fontScale="85000" lnSpcReduction="20000"/>
          </a:bodyPr>
          <a:lstStyle/>
          <a:p>
            <a:pPr algn="l"/>
            <a:r>
              <a:rPr lang="es-ES" sz="4800" b="1" dirty="0">
                <a:ln w="0"/>
              </a:rPr>
              <a:t>5. Entorno de Trabajo </a:t>
            </a:r>
            <a:r>
              <a:rPr lang="es-ES" sz="4800" b="1" dirty="0" err="1">
                <a:ln w="0"/>
              </a:rPr>
              <a:t>Crystal</a:t>
            </a:r>
            <a:r>
              <a:rPr lang="es-ES" sz="4800" b="1" dirty="0">
                <a:ln w="0"/>
              </a:rPr>
              <a:t> </a:t>
            </a:r>
            <a:r>
              <a:rPr lang="es-ES" sz="4800" b="1" dirty="0" err="1">
                <a:ln w="0"/>
              </a:rPr>
              <a:t>Report</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5" name="CuadroTexto 4"/>
          <p:cNvSpPr txBox="1"/>
          <p:nvPr/>
        </p:nvSpPr>
        <p:spPr>
          <a:xfrm>
            <a:off x="1048067" y="3256752"/>
            <a:ext cx="10102253" cy="2585323"/>
          </a:xfrm>
          <a:prstGeom prst="rect">
            <a:avLst/>
          </a:prstGeom>
          <a:noFill/>
        </p:spPr>
        <p:txBody>
          <a:bodyPr wrap="none" rtlCol="0">
            <a:spAutoFit/>
          </a:bodyPr>
          <a:lstStyle/>
          <a:p>
            <a:pPr algn="just"/>
            <a:r>
              <a:rPr lang="es-ES" dirty="0"/>
              <a:t>Barras:</a:t>
            </a:r>
          </a:p>
          <a:p>
            <a:pPr marL="742950" lvl="1" indent="-285750" algn="just">
              <a:buFont typeface="Wingdings" panose="05000000000000000000" pitchFamily="2" charset="2"/>
              <a:buChar char="Ø"/>
            </a:pPr>
            <a:r>
              <a:rPr lang="es-ES" dirty="0"/>
              <a:t>Estándar: Nos da opciones de poder crear un nuevo reporte, guardar, configurar la impresión</a:t>
            </a:r>
          </a:p>
          <a:p>
            <a:pPr lvl="1" algn="just"/>
            <a:r>
              <a:rPr lang="es-ES" dirty="0"/>
              <a:t>, visualizar explorador de informe de repositorio, etc.</a:t>
            </a:r>
          </a:p>
          <a:p>
            <a:pPr marL="742950" lvl="1" indent="-285750" algn="just">
              <a:buFont typeface="Wingdings" panose="05000000000000000000" pitchFamily="2" charset="2"/>
              <a:buChar char="Ø"/>
            </a:pPr>
            <a:r>
              <a:rPr lang="es-ES" dirty="0"/>
              <a:t>Formato: Permite dar forma a los objetos del reporte, ejemplo tipo y tamaño de fuente, formato</a:t>
            </a:r>
          </a:p>
          <a:p>
            <a:pPr lvl="1" algn="just"/>
            <a:r>
              <a:rPr lang="es-ES" dirty="0"/>
              <a:t>de moneda, </a:t>
            </a:r>
            <a:r>
              <a:rPr lang="es-ES" dirty="0" err="1"/>
              <a:t>decimales,etc</a:t>
            </a:r>
            <a:r>
              <a:rPr lang="es-ES" dirty="0"/>
              <a:t>.</a:t>
            </a:r>
          </a:p>
          <a:p>
            <a:pPr marL="742950" lvl="1" indent="-285750" algn="just">
              <a:buFont typeface="Wingdings" panose="05000000000000000000" pitchFamily="2" charset="2"/>
              <a:buChar char="Ø"/>
            </a:pPr>
            <a:r>
              <a:rPr lang="es-ES" dirty="0"/>
              <a:t>Insertar: Agregar grupo, </a:t>
            </a:r>
            <a:r>
              <a:rPr lang="es-ES" dirty="0" err="1"/>
              <a:t>subreportes</a:t>
            </a:r>
            <a:r>
              <a:rPr lang="es-ES" dirty="0"/>
              <a:t>, resumen, objetos de texto, gráficos, imágenes.</a:t>
            </a:r>
          </a:p>
          <a:p>
            <a:pPr marL="742950" lvl="1" indent="-285750" algn="just">
              <a:buFont typeface="Wingdings" panose="05000000000000000000" pitchFamily="2" charset="2"/>
              <a:buChar char="Ø"/>
            </a:pPr>
            <a:r>
              <a:rPr lang="es-ES" dirty="0"/>
              <a:t>Asistentes: Nos permite manejar el Asistente de Base de Datos de grupos, ordenación de registros</a:t>
            </a:r>
          </a:p>
          <a:p>
            <a:pPr lvl="1" algn="just"/>
            <a:r>
              <a:rPr lang="es-ES" dirty="0"/>
              <a:t>, taller de formulas, etc.</a:t>
            </a:r>
          </a:p>
          <a:p>
            <a:pPr marL="742950" lvl="1" indent="-285750" algn="just">
              <a:buFont typeface="Wingdings" panose="05000000000000000000" pitchFamily="2" charset="2"/>
              <a:buChar char="Ø"/>
            </a:pPr>
            <a:r>
              <a:rPr lang="es-ES" dirty="0"/>
              <a:t>Exploración: Paginación del reporte, refrescar, etc.</a:t>
            </a:r>
          </a:p>
        </p:txBody>
      </p:sp>
      <p:pic>
        <p:nvPicPr>
          <p:cNvPr id="9" name="Imagen 8"/>
          <p:cNvPicPr>
            <a:picLocks noChangeAspect="1"/>
          </p:cNvPicPr>
          <p:nvPr/>
        </p:nvPicPr>
        <p:blipFill>
          <a:blip r:embed="rId6"/>
          <a:stretch>
            <a:fillRect/>
          </a:stretch>
        </p:blipFill>
        <p:spPr>
          <a:xfrm>
            <a:off x="673592" y="1552966"/>
            <a:ext cx="10314343" cy="1665149"/>
          </a:xfrm>
          <a:prstGeom prst="rect">
            <a:avLst/>
          </a:prstGeom>
        </p:spPr>
      </p:pic>
    </p:spTree>
    <p:extLst>
      <p:ext uri="{BB962C8B-B14F-4D97-AF65-F5344CB8AC3E}">
        <p14:creationId xmlns:p14="http://schemas.microsoft.com/office/powerpoint/2010/main" val="2547287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581697" y="1066627"/>
            <a:ext cx="8369120" cy="530354"/>
          </a:xfrm>
        </p:spPr>
        <p:txBody>
          <a:bodyPr numCol="1">
            <a:normAutofit fontScale="85000" lnSpcReduction="20000"/>
          </a:bodyPr>
          <a:lstStyle/>
          <a:p>
            <a:pPr algn="l"/>
            <a:r>
              <a:rPr lang="es-ES" sz="4800" b="1" dirty="0">
                <a:ln w="0"/>
              </a:rPr>
              <a:t>5. Entorno de Trabajo </a:t>
            </a:r>
            <a:r>
              <a:rPr lang="es-ES" sz="4800" b="1" dirty="0" err="1">
                <a:ln w="0"/>
              </a:rPr>
              <a:t>Crystal</a:t>
            </a:r>
            <a:r>
              <a:rPr lang="es-ES" sz="4800" b="1" dirty="0">
                <a:ln w="0"/>
              </a:rPr>
              <a:t> </a:t>
            </a:r>
            <a:r>
              <a:rPr lang="es-ES" sz="4800" b="1" dirty="0" err="1">
                <a:ln w="0"/>
              </a:rPr>
              <a:t>Report</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5" name="CuadroTexto 4"/>
          <p:cNvSpPr txBox="1"/>
          <p:nvPr/>
        </p:nvSpPr>
        <p:spPr>
          <a:xfrm>
            <a:off x="234312" y="1390917"/>
            <a:ext cx="11562735" cy="4339650"/>
          </a:xfrm>
          <a:prstGeom prst="rect">
            <a:avLst/>
          </a:prstGeom>
          <a:noFill/>
        </p:spPr>
        <p:txBody>
          <a:bodyPr wrap="square" rtlCol="0">
            <a:spAutoFit/>
          </a:bodyPr>
          <a:lstStyle/>
          <a:p>
            <a:pPr algn="just"/>
            <a:r>
              <a:rPr lang="es-ES" sz="2400" b="1" dirty="0"/>
              <a:t>Ficha Diseño</a:t>
            </a:r>
          </a:p>
          <a:p>
            <a:pPr marL="285750" indent="-285750" algn="just">
              <a:buFont typeface="Wingdings" panose="05000000000000000000" pitchFamily="2" charset="2"/>
              <a:buChar char="Ø"/>
            </a:pPr>
            <a:r>
              <a:rPr lang="es-ES" dirty="0"/>
              <a:t>En esta área se diseña y se rotula las diferentes secciones del informe. Esta formado por las siguientes áreas:</a:t>
            </a:r>
          </a:p>
          <a:p>
            <a:pPr marL="742950" lvl="1" indent="-285750" algn="just">
              <a:buFont typeface="Arial" panose="020B0604020202020204" pitchFamily="34" charset="0"/>
              <a:buChar char="•"/>
            </a:pPr>
            <a:r>
              <a:rPr lang="es-ES" b="1" dirty="0"/>
              <a:t>Encabezado del Informe.- </a:t>
            </a:r>
            <a:r>
              <a:rPr lang="es-ES" dirty="0"/>
              <a:t>Utilizado para el titulo del informe, solo aparece en la primera hoja.</a:t>
            </a:r>
          </a:p>
          <a:p>
            <a:pPr marL="742950" lvl="1" indent="-285750" algn="just">
              <a:buFont typeface="Arial" panose="020B0604020202020204" pitchFamily="34" charset="0"/>
              <a:buChar char="•"/>
            </a:pPr>
            <a:r>
              <a:rPr lang="es-ES" b="1" dirty="0"/>
              <a:t>Encabezado de página.- </a:t>
            </a:r>
            <a:r>
              <a:rPr lang="es-ES" dirty="0"/>
              <a:t>En esta parte se pone información que se desea que aparezca en la parte superior</a:t>
            </a:r>
          </a:p>
          <a:p>
            <a:pPr marL="742950" lvl="1" indent="-285750" algn="just">
              <a:buFont typeface="Arial" panose="020B0604020202020204" pitchFamily="34" charset="0"/>
              <a:buChar char="•"/>
            </a:pPr>
            <a:r>
              <a:rPr lang="es-ES" dirty="0"/>
              <a:t>de cada página.</a:t>
            </a:r>
          </a:p>
          <a:p>
            <a:pPr marL="742950" lvl="1" indent="-285750" algn="just">
              <a:buFont typeface="Arial" panose="020B0604020202020204" pitchFamily="34" charset="0"/>
              <a:buChar char="•"/>
            </a:pPr>
            <a:r>
              <a:rPr lang="es-ES" b="1" dirty="0"/>
              <a:t>Detalles.- </a:t>
            </a:r>
            <a:r>
              <a:rPr lang="es-ES" dirty="0"/>
              <a:t>Esta sección la utilizamos para el cuerpo del informe y se imprime una vez por cada registro.</a:t>
            </a:r>
          </a:p>
          <a:p>
            <a:pPr marL="742950" lvl="1" indent="-285750" algn="just">
              <a:buFont typeface="Arial" panose="020B0604020202020204" pitchFamily="34" charset="0"/>
              <a:buChar char="•"/>
            </a:pPr>
            <a:r>
              <a:rPr lang="es-ES" b="1" dirty="0"/>
              <a:t>Pie del Informe.- </a:t>
            </a:r>
            <a:r>
              <a:rPr lang="es-ES" dirty="0"/>
              <a:t>En esta sección se agrega la información que queremos que aparezca solo una vez al final del informe.</a:t>
            </a:r>
          </a:p>
          <a:p>
            <a:pPr marL="742950" lvl="1" indent="-285750" algn="just">
              <a:buFont typeface="Arial" panose="020B0604020202020204" pitchFamily="34" charset="0"/>
              <a:buChar char="•"/>
            </a:pPr>
            <a:r>
              <a:rPr lang="es-ES" b="1" dirty="0"/>
              <a:t>Pie de página.- </a:t>
            </a:r>
            <a:r>
              <a:rPr lang="es-ES" dirty="0"/>
              <a:t>En esta sección se agrega información que deseamos que aparezca en la parte inferior de cada página del reporte.</a:t>
            </a:r>
          </a:p>
          <a:p>
            <a:pPr lvl="1" algn="just"/>
            <a:r>
              <a:rPr lang="es-ES" dirty="0"/>
              <a:t>Si se agrega un grupo, resumen o subtotal al informe, se crean dos secciones adicionales:</a:t>
            </a:r>
          </a:p>
          <a:p>
            <a:pPr marL="742950" lvl="1" indent="-285750" algn="just">
              <a:buFont typeface="Arial" panose="020B0604020202020204" pitchFamily="34" charset="0"/>
              <a:buChar char="•"/>
            </a:pPr>
            <a:r>
              <a:rPr lang="es-ES" b="1" dirty="0"/>
              <a:t>Encabezado de grupo.- </a:t>
            </a:r>
            <a:r>
              <a:rPr lang="es-ES" dirty="0"/>
              <a:t>Esta sección solo se imprime una vez al principio de un grupo. </a:t>
            </a:r>
          </a:p>
          <a:p>
            <a:pPr marL="742950" lvl="1" indent="-285750" algn="just">
              <a:buFont typeface="Arial" panose="020B0604020202020204" pitchFamily="34" charset="0"/>
              <a:buChar char="•"/>
            </a:pPr>
            <a:r>
              <a:rPr lang="es-ES" b="1" dirty="0"/>
              <a:t>Pie de página de grupo.-</a:t>
            </a:r>
            <a:r>
              <a:rPr lang="es-ES" dirty="0"/>
              <a:t> Esta sección solo se imprime una vez al final de un grupo. </a:t>
            </a:r>
          </a:p>
          <a:p>
            <a:pPr algn="just"/>
            <a:r>
              <a:rPr lang="es-ES" dirty="0"/>
              <a:t>Si se agrega un Grupo, el </a:t>
            </a:r>
            <a:r>
              <a:rPr lang="es-ES" b="1" dirty="0"/>
              <a:t>Encabezado de Grupo</a:t>
            </a:r>
            <a:r>
              <a:rPr lang="es-ES" dirty="0"/>
              <a:t> aparece arriba de la sección </a:t>
            </a:r>
            <a:r>
              <a:rPr lang="es-ES" b="1" dirty="0"/>
              <a:t>Detalles</a:t>
            </a:r>
            <a:r>
              <a:rPr lang="es-ES" dirty="0"/>
              <a:t> y el </a:t>
            </a:r>
            <a:r>
              <a:rPr lang="es-ES" b="1" dirty="0"/>
              <a:t>Pie de Grupo</a:t>
            </a:r>
            <a:r>
              <a:rPr lang="es-ES" dirty="0"/>
              <a:t> aparece debajo del </a:t>
            </a:r>
          </a:p>
          <a:p>
            <a:pPr algn="just"/>
            <a:r>
              <a:rPr lang="es-ES" dirty="0"/>
              <a:t>área de </a:t>
            </a:r>
            <a:r>
              <a:rPr lang="es-ES" b="1" dirty="0"/>
              <a:t>Detalles</a:t>
            </a:r>
            <a:r>
              <a:rPr lang="es-ES" dirty="0"/>
              <a:t>. </a:t>
            </a:r>
          </a:p>
        </p:txBody>
      </p:sp>
    </p:spTree>
    <p:extLst>
      <p:ext uri="{BB962C8B-B14F-4D97-AF65-F5344CB8AC3E}">
        <p14:creationId xmlns:p14="http://schemas.microsoft.com/office/powerpoint/2010/main" val="3951295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581697" y="1066627"/>
            <a:ext cx="8369120" cy="530354"/>
          </a:xfrm>
        </p:spPr>
        <p:txBody>
          <a:bodyPr numCol="1">
            <a:normAutofit fontScale="85000" lnSpcReduction="20000"/>
          </a:bodyPr>
          <a:lstStyle/>
          <a:p>
            <a:pPr algn="l"/>
            <a:r>
              <a:rPr lang="es-ES" sz="4800" b="1" dirty="0">
                <a:ln w="0"/>
              </a:rPr>
              <a:t>5. Entorno de Trabajo </a:t>
            </a:r>
            <a:r>
              <a:rPr lang="es-ES" sz="4800" b="1" dirty="0" err="1">
                <a:ln w="0"/>
              </a:rPr>
              <a:t>Crystal</a:t>
            </a:r>
            <a:r>
              <a:rPr lang="es-ES" sz="4800" b="1" dirty="0">
                <a:ln w="0"/>
              </a:rPr>
              <a:t> </a:t>
            </a:r>
            <a:r>
              <a:rPr lang="es-ES" sz="4800" b="1" dirty="0" err="1">
                <a:ln w="0"/>
              </a:rPr>
              <a:t>Report</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5" name="CuadroTexto 4"/>
          <p:cNvSpPr txBox="1"/>
          <p:nvPr/>
        </p:nvSpPr>
        <p:spPr>
          <a:xfrm>
            <a:off x="946596" y="1642205"/>
            <a:ext cx="11562735" cy="1015663"/>
          </a:xfrm>
          <a:prstGeom prst="rect">
            <a:avLst/>
          </a:prstGeom>
          <a:noFill/>
        </p:spPr>
        <p:txBody>
          <a:bodyPr wrap="square" rtlCol="0">
            <a:spAutoFit/>
          </a:bodyPr>
          <a:lstStyle/>
          <a:p>
            <a:pPr algn="just"/>
            <a:r>
              <a:rPr lang="es-ES" sz="2400" b="1" dirty="0"/>
              <a:t>Ficha Vista Previa</a:t>
            </a:r>
          </a:p>
          <a:p>
            <a:pPr marL="285750" indent="-285750" algn="just">
              <a:buFont typeface="Wingdings" panose="05000000000000000000" pitchFamily="2" charset="2"/>
              <a:buChar char="Ø"/>
            </a:pPr>
            <a:r>
              <a:rPr lang="es-ES" dirty="0"/>
              <a:t>Esta ficha reúne los datos definidos en la vista de diseño, realiza los cálculos.</a:t>
            </a:r>
          </a:p>
          <a:p>
            <a:pPr marL="285750" indent="-285750" algn="just">
              <a:buFont typeface="Wingdings" panose="05000000000000000000" pitchFamily="2" charset="2"/>
              <a:buChar char="Ø"/>
            </a:pPr>
            <a:endParaRPr lang="es-ES" dirty="0"/>
          </a:p>
        </p:txBody>
      </p:sp>
      <p:sp>
        <p:nvSpPr>
          <p:cNvPr id="9" name="CuadroTexto 8"/>
          <p:cNvSpPr txBox="1"/>
          <p:nvPr/>
        </p:nvSpPr>
        <p:spPr>
          <a:xfrm>
            <a:off x="946597" y="2566134"/>
            <a:ext cx="11562735" cy="1015663"/>
          </a:xfrm>
          <a:prstGeom prst="rect">
            <a:avLst/>
          </a:prstGeom>
          <a:noFill/>
        </p:spPr>
        <p:txBody>
          <a:bodyPr wrap="square" rtlCol="0">
            <a:spAutoFit/>
          </a:bodyPr>
          <a:lstStyle/>
          <a:p>
            <a:pPr algn="just"/>
            <a:r>
              <a:rPr lang="es-ES" sz="2400" b="1" dirty="0"/>
              <a:t>Ficha Vista Previa HTML</a:t>
            </a:r>
          </a:p>
          <a:p>
            <a:pPr marL="285750" indent="-285750" algn="just">
              <a:buFont typeface="Wingdings" panose="05000000000000000000" pitchFamily="2" charset="2"/>
              <a:buChar char="Ø"/>
            </a:pPr>
            <a:r>
              <a:rPr lang="es-ES" dirty="0"/>
              <a:t>Cuando nos queremos asegurar que el diseño del informe es apropiado y correcto en la web.</a:t>
            </a:r>
          </a:p>
          <a:p>
            <a:pPr marL="285750" indent="-285750" algn="just">
              <a:buFont typeface="Wingdings" panose="05000000000000000000" pitchFamily="2" charset="2"/>
              <a:buChar char="Ø"/>
            </a:pPr>
            <a:endParaRPr lang="es-ES" dirty="0"/>
          </a:p>
        </p:txBody>
      </p:sp>
    </p:spTree>
    <p:extLst>
      <p:ext uri="{BB962C8B-B14F-4D97-AF65-F5344CB8AC3E}">
        <p14:creationId xmlns:p14="http://schemas.microsoft.com/office/powerpoint/2010/main" val="1179295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581697" y="1066627"/>
            <a:ext cx="8369120" cy="530354"/>
          </a:xfrm>
        </p:spPr>
        <p:txBody>
          <a:bodyPr numCol="1">
            <a:normAutofit fontScale="85000" lnSpcReduction="20000"/>
          </a:bodyPr>
          <a:lstStyle/>
          <a:p>
            <a:pPr algn="l"/>
            <a:r>
              <a:rPr lang="es-ES" sz="4800" b="1" dirty="0">
                <a:ln w="0"/>
              </a:rPr>
              <a:t>5. Entorno de Trabajo </a:t>
            </a:r>
            <a:r>
              <a:rPr lang="es-ES" sz="4800" b="1" dirty="0" err="1">
                <a:ln w="0"/>
              </a:rPr>
              <a:t>Crystal</a:t>
            </a:r>
            <a:r>
              <a:rPr lang="es-ES" sz="4800" b="1" dirty="0">
                <a:ln w="0"/>
              </a:rPr>
              <a:t> </a:t>
            </a:r>
            <a:r>
              <a:rPr lang="es-ES" sz="4800" b="1" dirty="0" err="1">
                <a:ln w="0"/>
              </a:rPr>
              <a:t>Report</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5" name="CuadroTexto 4"/>
          <p:cNvSpPr txBox="1"/>
          <p:nvPr/>
        </p:nvSpPr>
        <p:spPr>
          <a:xfrm>
            <a:off x="3349583" y="1697280"/>
            <a:ext cx="7983825" cy="4062651"/>
          </a:xfrm>
          <a:prstGeom prst="rect">
            <a:avLst/>
          </a:prstGeom>
          <a:noFill/>
        </p:spPr>
        <p:txBody>
          <a:bodyPr wrap="square" rtlCol="0">
            <a:spAutoFit/>
          </a:bodyPr>
          <a:lstStyle/>
          <a:p>
            <a:pPr algn="just"/>
            <a:r>
              <a:rPr lang="es-ES" sz="2400" b="1" dirty="0"/>
              <a:t>Explorador de campos</a:t>
            </a:r>
          </a:p>
          <a:p>
            <a:pPr marL="285750" indent="-285750" algn="just">
              <a:buFont typeface="Wingdings" panose="05000000000000000000" pitchFamily="2" charset="2"/>
              <a:buChar char="Ø"/>
            </a:pPr>
            <a:r>
              <a:rPr lang="es-ES" dirty="0"/>
              <a:t>Nos permite tener los campos que utilizaremos para visualizar en el reporte.</a:t>
            </a:r>
          </a:p>
          <a:p>
            <a:pPr algn="just"/>
            <a:endParaRPr lang="es-ES" dirty="0"/>
          </a:p>
          <a:p>
            <a:pPr marL="285750" indent="-285750" algn="just">
              <a:buFont typeface="Wingdings" panose="05000000000000000000" pitchFamily="2" charset="2"/>
              <a:buChar char="Ø"/>
            </a:pPr>
            <a:r>
              <a:rPr lang="es-ES" dirty="0"/>
              <a:t>Podemos crear formulas para cálculos.</a:t>
            </a:r>
          </a:p>
          <a:p>
            <a:pPr algn="just"/>
            <a:endParaRPr lang="es-ES" dirty="0"/>
          </a:p>
          <a:p>
            <a:pPr marL="285750" indent="-285750" algn="just">
              <a:buFont typeface="Wingdings" panose="05000000000000000000" pitchFamily="2" charset="2"/>
              <a:buChar char="Ø"/>
            </a:pPr>
            <a:r>
              <a:rPr lang="es-ES" dirty="0"/>
              <a:t>Crear campos de parámetro para el filtro de información.</a:t>
            </a:r>
          </a:p>
          <a:p>
            <a:pPr algn="just"/>
            <a:endParaRPr lang="es-ES" dirty="0"/>
          </a:p>
          <a:p>
            <a:pPr marL="285750" indent="-285750" algn="just">
              <a:buFont typeface="Wingdings" panose="05000000000000000000" pitchFamily="2" charset="2"/>
              <a:buChar char="Ø"/>
            </a:pPr>
            <a:r>
              <a:rPr lang="es-ES" dirty="0"/>
              <a:t>Crear totales acumulados, nos sirven para crear resúmenes especializados y totales que se incrementen continuamente.</a:t>
            </a:r>
          </a:p>
          <a:p>
            <a:pPr algn="just"/>
            <a:endParaRPr lang="es-ES" dirty="0"/>
          </a:p>
          <a:p>
            <a:pPr marL="285750" indent="-285750" algn="just">
              <a:buFont typeface="Wingdings" panose="05000000000000000000" pitchFamily="2" charset="2"/>
              <a:buChar char="Ø"/>
            </a:pPr>
            <a:r>
              <a:rPr lang="es-ES" dirty="0"/>
              <a:t>Campos especiales.- Nos permite insertar campos como Número de página, número de registro, número de grupo, fecha de impresión y número total de páginas en el informe.</a:t>
            </a:r>
          </a:p>
          <a:p>
            <a:pPr marL="285750" indent="-285750" algn="just">
              <a:buFont typeface="Wingdings" panose="05000000000000000000" pitchFamily="2" charset="2"/>
              <a:buChar char="Ø"/>
            </a:pPr>
            <a:endParaRPr lang="es-ES" dirty="0"/>
          </a:p>
        </p:txBody>
      </p:sp>
      <p:pic>
        <p:nvPicPr>
          <p:cNvPr id="2" name="Imagen 1"/>
          <p:cNvPicPr>
            <a:picLocks noChangeAspect="1"/>
          </p:cNvPicPr>
          <p:nvPr/>
        </p:nvPicPr>
        <p:blipFill>
          <a:blip r:embed="rId6"/>
          <a:stretch>
            <a:fillRect/>
          </a:stretch>
        </p:blipFill>
        <p:spPr>
          <a:xfrm>
            <a:off x="595651" y="1749347"/>
            <a:ext cx="2662617" cy="2036902"/>
          </a:xfrm>
          <a:prstGeom prst="rect">
            <a:avLst/>
          </a:prstGeom>
        </p:spPr>
      </p:pic>
    </p:spTree>
    <p:extLst>
      <p:ext uri="{BB962C8B-B14F-4D97-AF65-F5344CB8AC3E}">
        <p14:creationId xmlns:p14="http://schemas.microsoft.com/office/powerpoint/2010/main" val="2593847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2307538" y="305577"/>
            <a:ext cx="8369120" cy="530354"/>
          </a:xfrm>
        </p:spPr>
        <p:txBody>
          <a:bodyPr numCol="1">
            <a:normAutofit fontScale="85000" lnSpcReduction="20000"/>
          </a:bodyPr>
          <a:lstStyle/>
          <a:p>
            <a:pPr algn="l"/>
            <a:r>
              <a:rPr lang="es-ES" sz="4800" b="1" dirty="0">
                <a:ln w="0"/>
              </a:rPr>
              <a:t>5. Entorno de Trabajo </a:t>
            </a:r>
            <a:r>
              <a:rPr lang="es-ES" sz="4800" b="1" dirty="0" err="1">
                <a:ln w="0"/>
              </a:rPr>
              <a:t>Crystal</a:t>
            </a:r>
            <a:r>
              <a:rPr lang="es-ES" sz="4800" b="1" dirty="0">
                <a:ln w="0"/>
              </a:rPr>
              <a:t> </a:t>
            </a:r>
            <a:r>
              <a:rPr lang="es-ES" sz="4800" b="1" dirty="0" err="1">
                <a:ln w="0"/>
              </a:rPr>
              <a:t>Report</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pic>
        <p:nvPicPr>
          <p:cNvPr id="11" name="Imagen 10">
            <a:extLst>
              <a:ext uri="{FF2B5EF4-FFF2-40B4-BE49-F238E27FC236}">
                <a16:creationId xmlns:a16="http://schemas.microsoft.com/office/drawing/2014/main" id="{06F8138D-D91E-46C5-A8F4-F1627FC545EB}"/>
              </a:ext>
            </a:extLst>
          </p:cNvPr>
          <p:cNvPicPr>
            <a:picLocks noChangeAspect="1"/>
          </p:cNvPicPr>
          <p:nvPr/>
        </p:nvPicPr>
        <p:blipFill>
          <a:blip r:embed="rId6"/>
          <a:stretch>
            <a:fillRect/>
          </a:stretch>
        </p:blipFill>
        <p:spPr>
          <a:xfrm>
            <a:off x="828541" y="2191362"/>
            <a:ext cx="9569003" cy="4127442"/>
          </a:xfrm>
          <a:prstGeom prst="rect">
            <a:avLst/>
          </a:prstGeom>
        </p:spPr>
      </p:pic>
      <p:sp>
        <p:nvSpPr>
          <p:cNvPr id="12" name="CuadroTexto 11">
            <a:extLst>
              <a:ext uri="{FF2B5EF4-FFF2-40B4-BE49-F238E27FC236}">
                <a16:creationId xmlns:a16="http://schemas.microsoft.com/office/drawing/2014/main" id="{6568E1E8-37F1-4ADC-A586-2E181BC64FF1}"/>
              </a:ext>
            </a:extLst>
          </p:cNvPr>
          <p:cNvSpPr txBox="1"/>
          <p:nvPr/>
        </p:nvSpPr>
        <p:spPr>
          <a:xfrm>
            <a:off x="706868" y="979169"/>
            <a:ext cx="10778264" cy="1569660"/>
          </a:xfrm>
          <a:prstGeom prst="rect">
            <a:avLst/>
          </a:prstGeom>
          <a:noFill/>
        </p:spPr>
        <p:txBody>
          <a:bodyPr wrap="square" rtlCol="0">
            <a:spAutoFit/>
          </a:bodyPr>
          <a:lstStyle/>
          <a:p>
            <a:pPr algn="just"/>
            <a:r>
              <a:rPr lang="es-ES" sz="2400" b="1" dirty="0"/>
              <a:t>Diseño de Fórmulas</a:t>
            </a:r>
          </a:p>
          <a:p>
            <a:pPr marL="285750" indent="-285750" algn="just">
              <a:buFont typeface="Wingdings" panose="05000000000000000000" pitchFamily="2" charset="2"/>
              <a:buChar char="Ø"/>
            </a:pPr>
            <a:r>
              <a:rPr lang="es-ES" dirty="0"/>
              <a:t>En esta sección se pueden realizar cálculos entre objetos recuperados de la conexión a la base de datos. También se pueden utilizar Funciones y Operadores que tiene incluido </a:t>
            </a:r>
            <a:r>
              <a:rPr lang="es-ES" dirty="0" err="1"/>
              <a:t>Crystal</a:t>
            </a:r>
            <a:r>
              <a:rPr lang="es-ES" dirty="0"/>
              <a:t> </a:t>
            </a:r>
            <a:r>
              <a:rPr lang="es-ES" dirty="0" err="1"/>
              <a:t>Report</a:t>
            </a:r>
            <a:r>
              <a:rPr lang="es-ES" dirty="0"/>
              <a:t> . Todo dependerá del reporte que se desee diseñar.</a:t>
            </a:r>
          </a:p>
          <a:p>
            <a:pPr marL="285750" indent="-285750" algn="just">
              <a:buFont typeface="Wingdings" panose="05000000000000000000" pitchFamily="2" charset="2"/>
              <a:buChar char="Ø"/>
            </a:pPr>
            <a:endParaRPr lang="es-ES" dirty="0"/>
          </a:p>
        </p:txBody>
      </p:sp>
    </p:spTree>
    <p:extLst>
      <p:ext uri="{BB962C8B-B14F-4D97-AF65-F5344CB8AC3E}">
        <p14:creationId xmlns:p14="http://schemas.microsoft.com/office/powerpoint/2010/main" val="3765787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2028424" y="346500"/>
            <a:ext cx="8369120" cy="530354"/>
          </a:xfrm>
        </p:spPr>
        <p:txBody>
          <a:bodyPr numCol="1">
            <a:normAutofit fontScale="85000" lnSpcReduction="20000"/>
          </a:bodyPr>
          <a:lstStyle/>
          <a:p>
            <a:pPr algn="l"/>
            <a:r>
              <a:rPr lang="es-ES" sz="4800" b="1" dirty="0">
                <a:ln w="0"/>
              </a:rPr>
              <a:t>5. Entorno de Trabajo </a:t>
            </a:r>
            <a:r>
              <a:rPr lang="es-ES" sz="4800" b="1" dirty="0" err="1">
                <a:ln w="0"/>
              </a:rPr>
              <a:t>Crystal</a:t>
            </a:r>
            <a:r>
              <a:rPr lang="es-ES" sz="4800" b="1" dirty="0">
                <a:ln w="0"/>
              </a:rPr>
              <a:t> </a:t>
            </a:r>
            <a:r>
              <a:rPr lang="es-ES" sz="4800" b="1" dirty="0" err="1">
                <a:ln w="0"/>
              </a:rPr>
              <a:t>Report</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pic>
        <p:nvPicPr>
          <p:cNvPr id="2" name="Imagen 1">
            <a:extLst>
              <a:ext uri="{FF2B5EF4-FFF2-40B4-BE49-F238E27FC236}">
                <a16:creationId xmlns:a16="http://schemas.microsoft.com/office/drawing/2014/main" id="{8B145254-D8D6-4193-83BA-30B0789AD5FA}"/>
              </a:ext>
            </a:extLst>
          </p:cNvPr>
          <p:cNvPicPr>
            <a:picLocks noChangeAspect="1"/>
          </p:cNvPicPr>
          <p:nvPr/>
        </p:nvPicPr>
        <p:blipFill>
          <a:blip r:embed="rId6"/>
          <a:stretch>
            <a:fillRect/>
          </a:stretch>
        </p:blipFill>
        <p:spPr>
          <a:xfrm>
            <a:off x="1348179" y="2032916"/>
            <a:ext cx="9049365" cy="4524683"/>
          </a:xfrm>
          <a:prstGeom prst="rect">
            <a:avLst/>
          </a:prstGeom>
        </p:spPr>
      </p:pic>
      <p:sp>
        <p:nvSpPr>
          <p:cNvPr id="12" name="CuadroTexto 11">
            <a:extLst>
              <a:ext uri="{FF2B5EF4-FFF2-40B4-BE49-F238E27FC236}">
                <a16:creationId xmlns:a16="http://schemas.microsoft.com/office/drawing/2014/main" id="{49D05220-07B7-46F7-8EEB-E3FB0BCE7B62}"/>
              </a:ext>
            </a:extLst>
          </p:cNvPr>
          <p:cNvSpPr txBox="1"/>
          <p:nvPr/>
        </p:nvSpPr>
        <p:spPr>
          <a:xfrm>
            <a:off x="706868" y="979169"/>
            <a:ext cx="10778264" cy="1292662"/>
          </a:xfrm>
          <a:prstGeom prst="rect">
            <a:avLst/>
          </a:prstGeom>
          <a:noFill/>
        </p:spPr>
        <p:txBody>
          <a:bodyPr wrap="square" rtlCol="0">
            <a:spAutoFit/>
          </a:bodyPr>
          <a:lstStyle/>
          <a:p>
            <a:pPr algn="just"/>
            <a:r>
              <a:rPr lang="es-ES" sz="2400" b="1" dirty="0"/>
              <a:t>Diseño de Reportería</a:t>
            </a:r>
          </a:p>
          <a:p>
            <a:pPr marL="285750" indent="-285750" algn="just">
              <a:buFont typeface="Wingdings" panose="05000000000000000000" pitchFamily="2" charset="2"/>
              <a:buChar char="Ø"/>
            </a:pPr>
            <a:r>
              <a:rPr lang="es-ES" dirty="0"/>
              <a:t>Según lo que necesite su reporte podrá utilizar las secciones, dar formato a letras, colocar bordes, cambiar tipo de letra y hacer uso de todas las opciones que ofrece </a:t>
            </a:r>
            <a:r>
              <a:rPr lang="es-ES" dirty="0" err="1"/>
              <a:t>Crystal</a:t>
            </a:r>
            <a:r>
              <a:rPr lang="es-ES" dirty="0"/>
              <a:t>.</a:t>
            </a:r>
          </a:p>
          <a:p>
            <a:pPr marL="285750" indent="-285750" algn="just">
              <a:buFont typeface="Wingdings" panose="05000000000000000000" pitchFamily="2" charset="2"/>
              <a:buChar char="Ø"/>
            </a:pPr>
            <a:endParaRPr lang="es-ES" dirty="0"/>
          </a:p>
        </p:txBody>
      </p:sp>
    </p:spTree>
    <p:extLst>
      <p:ext uri="{BB962C8B-B14F-4D97-AF65-F5344CB8AC3E}">
        <p14:creationId xmlns:p14="http://schemas.microsoft.com/office/powerpoint/2010/main" val="2128109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2028424" y="346500"/>
            <a:ext cx="8369120" cy="530354"/>
          </a:xfrm>
        </p:spPr>
        <p:txBody>
          <a:bodyPr numCol="1">
            <a:normAutofit fontScale="85000" lnSpcReduction="20000"/>
          </a:bodyPr>
          <a:lstStyle/>
          <a:p>
            <a:pPr algn="l"/>
            <a:r>
              <a:rPr lang="es-ES" sz="4800" b="1" dirty="0">
                <a:ln w="0"/>
              </a:rPr>
              <a:t>5. Entorno de Trabajo </a:t>
            </a:r>
            <a:r>
              <a:rPr lang="es-ES" sz="4800" b="1" dirty="0" err="1">
                <a:ln w="0"/>
              </a:rPr>
              <a:t>Crystal</a:t>
            </a:r>
            <a:r>
              <a:rPr lang="es-ES" sz="4800" b="1" dirty="0">
                <a:ln w="0"/>
              </a:rPr>
              <a:t> </a:t>
            </a:r>
            <a:r>
              <a:rPr lang="es-ES" sz="4800" b="1" dirty="0" err="1">
                <a:ln w="0"/>
              </a:rPr>
              <a:t>Report</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12" name="CuadroTexto 11">
            <a:extLst>
              <a:ext uri="{FF2B5EF4-FFF2-40B4-BE49-F238E27FC236}">
                <a16:creationId xmlns:a16="http://schemas.microsoft.com/office/drawing/2014/main" id="{49D05220-07B7-46F7-8EEB-E3FB0BCE7B62}"/>
              </a:ext>
            </a:extLst>
          </p:cNvPr>
          <p:cNvSpPr txBox="1"/>
          <p:nvPr/>
        </p:nvSpPr>
        <p:spPr>
          <a:xfrm>
            <a:off x="706868" y="979169"/>
            <a:ext cx="10778264" cy="1292662"/>
          </a:xfrm>
          <a:prstGeom prst="rect">
            <a:avLst/>
          </a:prstGeom>
          <a:noFill/>
        </p:spPr>
        <p:txBody>
          <a:bodyPr wrap="square" rtlCol="0">
            <a:spAutoFit/>
          </a:bodyPr>
          <a:lstStyle/>
          <a:p>
            <a:pPr algn="just"/>
            <a:r>
              <a:rPr lang="es-ES" sz="2400" b="1" dirty="0"/>
              <a:t>Campos de parámetro</a:t>
            </a:r>
          </a:p>
          <a:p>
            <a:pPr marL="285750" indent="-285750" algn="just">
              <a:buFont typeface="Wingdings" panose="05000000000000000000" pitchFamily="2" charset="2"/>
              <a:buChar char="Ø"/>
            </a:pPr>
            <a:r>
              <a:rPr lang="es-ES" dirty="0"/>
              <a:t>Permite que el reporte pueda realizar búsquedas de la información recuperada. En esta opción se define si los parámetros son un valor fijo, un rango para el caso de fechas, etc.</a:t>
            </a:r>
          </a:p>
          <a:p>
            <a:pPr marL="285750" indent="-285750" algn="just">
              <a:buFont typeface="Wingdings" panose="05000000000000000000" pitchFamily="2" charset="2"/>
              <a:buChar char="Ø"/>
            </a:pPr>
            <a:endParaRPr lang="es-ES" dirty="0"/>
          </a:p>
        </p:txBody>
      </p:sp>
      <p:pic>
        <p:nvPicPr>
          <p:cNvPr id="9" name="Imagen 8">
            <a:extLst>
              <a:ext uri="{FF2B5EF4-FFF2-40B4-BE49-F238E27FC236}">
                <a16:creationId xmlns:a16="http://schemas.microsoft.com/office/drawing/2014/main" id="{7445D428-7689-43F7-A90F-B553C7B829B2}"/>
              </a:ext>
            </a:extLst>
          </p:cNvPr>
          <p:cNvPicPr>
            <a:picLocks noChangeAspect="1"/>
          </p:cNvPicPr>
          <p:nvPr/>
        </p:nvPicPr>
        <p:blipFill>
          <a:blip r:embed="rId6"/>
          <a:stretch>
            <a:fillRect/>
          </a:stretch>
        </p:blipFill>
        <p:spPr>
          <a:xfrm>
            <a:off x="2286869" y="2050692"/>
            <a:ext cx="7096125" cy="4781550"/>
          </a:xfrm>
          <a:prstGeom prst="rect">
            <a:avLst/>
          </a:prstGeom>
        </p:spPr>
      </p:pic>
    </p:spTree>
    <p:extLst>
      <p:ext uri="{BB962C8B-B14F-4D97-AF65-F5344CB8AC3E}">
        <p14:creationId xmlns:p14="http://schemas.microsoft.com/office/powerpoint/2010/main" val="2983093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2028424" y="346500"/>
            <a:ext cx="8369120" cy="530354"/>
          </a:xfrm>
        </p:spPr>
        <p:txBody>
          <a:bodyPr numCol="1">
            <a:normAutofit fontScale="85000" lnSpcReduction="20000"/>
          </a:bodyPr>
          <a:lstStyle/>
          <a:p>
            <a:pPr algn="l"/>
            <a:r>
              <a:rPr lang="es-ES" sz="4800" b="1" dirty="0">
                <a:ln w="0"/>
              </a:rPr>
              <a:t>5. Entorno de Trabajo </a:t>
            </a:r>
            <a:r>
              <a:rPr lang="es-ES" sz="4800" b="1" dirty="0" err="1">
                <a:ln w="0"/>
              </a:rPr>
              <a:t>Crystal</a:t>
            </a:r>
            <a:r>
              <a:rPr lang="es-ES" sz="4800" b="1" dirty="0">
                <a:ln w="0"/>
              </a:rPr>
              <a:t> </a:t>
            </a:r>
            <a:r>
              <a:rPr lang="es-ES" sz="4800" b="1" dirty="0" err="1">
                <a:ln w="0"/>
              </a:rPr>
              <a:t>Report</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12" name="CuadroTexto 11">
            <a:extLst>
              <a:ext uri="{FF2B5EF4-FFF2-40B4-BE49-F238E27FC236}">
                <a16:creationId xmlns:a16="http://schemas.microsoft.com/office/drawing/2014/main" id="{49D05220-07B7-46F7-8EEB-E3FB0BCE7B62}"/>
              </a:ext>
            </a:extLst>
          </p:cNvPr>
          <p:cNvSpPr txBox="1"/>
          <p:nvPr/>
        </p:nvSpPr>
        <p:spPr>
          <a:xfrm>
            <a:off x="706868" y="979169"/>
            <a:ext cx="10778264" cy="738664"/>
          </a:xfrm>
          <a:prstGeom prst="rect">
            <a:avLst/>
          </a:prstGeom>
          <a:noFill/>
        </p:spPr>
        <p:txBody>
          <a:bodyPr wrap="square" rtlCol="0">
            <a:spAutoFit/>
          </a:bodyPr>
          <a:lstStyle/>
          <a:p>
            <a:pPr algn="just"/>
            <a:r>
              <a:rPr lang="es-ES" sz="2400" b="1" dirty="0"/>
              <a:t>Campos de parámetro</a:t>
            </a:r>
          </a:p>
          <a:p>
            <a:pPr marL="285750" indent="-285750" algn="just">
              <a:buFont typeface="Wingdings" panose="05000000000000000000" pitchFamily="2" charset="2"/>
              <a:buChar char="Ø"/>
            </a:pPr>
            <a:r>
              <a:rPr lang="es-ES" dirty="0"/>
              <a:t>Debe asociar la opción de Filtro</a:t>
            </a:r>
          </a:p>
        </p:txBody>
      </p:sp>
      <p:pic>
        <p:nvPicPr>
          <p:cNvPr id="9" name="Imagen 8">
            <a:extLst>
              <a:ext uri="{FF2B5EF4-FFF2-40B4-BE49-F238E27FC236}">
                <a16:creationId xmlns:a16="http://schemas.microsoft.com/office/drawing/2014/main" id="{C2C9DFA2-57F6-4AB8-854B-D41E4ACB2374}"/>
              </a:ext>
            </a:extLst>
          </p:cNvPr>
          <p:cNvPicPr>
            <a:picLocks noChangeAspect="1"/>
          </p:cNvPicPr>
          <p:nvPr/>
        </p:nvPicPr>
        <p:blipFill>
          <a:blip r:embed="rId6"/>
          <a:stretch>
            <a:fillRect/>
          </a:stretch>
        </p:blipFill>
        <p:spPr>
          <a:xfrm>
            <a:off x="2841804" y="1830265"/>
            <a:ext cx="6229350" cy="3495675"/>
          </a:xfrm>
          <a:prstGeom prst="rect">
            <a:avLst/>
          </a:prstGeom>
        </p:spPr>
      </p:pic>
    </p:spTree>
    <p:extLst>
      <p:ext uri="{BB962C8B-B14F-4D97-AF65-F5344CB8AC3E}">
        <p14:creationId xmlns:p14="http://schemas.microsoft.com/office/powerpoint/2010/main" val="4283981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2028424" y="346500"/>
            <a:ext cx="8369120" cy="530354"/>
          </a:xfrm>
        </p:spPr>
        <p:txBody>
          <a:bodyPr numCol="1">
            <a:normAutofit fontScale="85000" lnSpcReduction="20000"/>
          </a:bodyPr>
          <a:lstStyle/>
          <a:p>
            <a:pPr algn="l"/>
            <a:r>
              <a:rPr lang="es-ES" sz="4800" b="1" dirty="0">
                <a:ln w="0"/>
              </a:rPr>
              <a:t>5. Entorno de Trabajo </a:t>
            </a:r>
            <a:r>
              <a:rPr lang="es-ES" sz="4800" b="1" dirty="0" err="1">
                <a:ln w="0"/>
              </a:rPr>
              <a:t>Crystal</a:t>
            </a:r>
            <a:r>
              <a:rPr lang="es-ES" sz="4800" b="1" dirty="0">
                <a:ln w="0"/>
              </a:rPr>
              <a:t> </a:t>
            </a:r>
            <a:r>
              <a:rPr lang="es-ES" sz="4800" b="1" dirty="0" err="1">
                <a:ln w="0"/>
              </a:rPr>
              <a:t>Report</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12" name="CuadroTexto 11">
            <a:extLst>
              <a:ext uri="{FF2B5EF4-FFF2-40B4-BE49-F238E27FC236}">
                <a16:creationId xmlns:a16="http://schemas.microsoft.com/office/drawing/2014/main" id="{49D05220-07B7-46F7-8EEB-E3FB0BCE7B62}"/>
              </a:ext>
            </a:extLst>
          </p:cNvPr>
          <p:cNvSpPr txBox="1"/>
          <p:nvPr/>
        </p:nvSpPr>
        <p:spPr>
          <a:xfrm>
            <a:off x="567347" y="776876"/>
            <a:ext cx="10778264" cy="738664"/>
          </a:xfrm>
          <a:prstGeom prst="rect">
            <a:avLst/>
          </a:prstGeom>
          <a:noFill/>
        </p:spPr>
        <p:txBody>
          <a:bodyPr wrap="square" rtlCol="0">
            <a:spAutoFit/>
          </a:bodyPr>
          <a:lstStyle/>
          <a:p>
            <a:pPr algn="just"/>
            <a:r>
              <a:rPr lang="es-ES" sz="2400" b="1" dirty="0"/>
              <a:t>Campos de parámetro</a:t>
            </a:r>
          </a:p>
          <a:p>
            <a:pPr marL="285750" indent="-285750" algn="just">
              <a:buFont typeface="Wingdings" panose="05000000000000000000" pitchFamily="2" charset="2"/>
              <a:buChar char="Ø"/>
            </a:pPr>
            <a:r>
              <a:rPr lang="es-ES" dirty="0"/>
              <a:t>Al ejecutar el reporte pide introducir los valores para los parámetros definidos.</a:t>
            </a:r>
          </a:p>
        </p:txBody>
      </p:sp>
      <p:pic>
        <p:nvPicPr>
          <p:cNvPr id="5" name="Imagen 4"/>
          <p:cNvPicPr>
            <a:picLocks noChangeAspect="1"/>
          </p:cNvPicPr>
          <p:nvPr/>
        </p:nvPicPr>
        <p:blipFill>
          <a:blip r:embed="rId6"/>
          <a:stretch>
            <a:fillRect/>
          </a:stretch>
        </p:blipFill>
        <p:spPr>
          <a:xfrm>
            <a:off x="2730322" y="1502984"/>
            <a:ext cx="5743977" cy="1155398"/>
          </a:xfrm>
          <a:prstGeom prst="rect">
            <a:avLst/>
          </a:prstGeom>
        </p:spPr>
      </p:pic>
      <p:pic>
        <p:nvPicPr>
          <p:cNvPr id="9" name="Imagen 8"/>
          <p:cNvPicPr>
            <a:picLocks noChangeAspect="1"/>
          </p:cNvPicPr>
          <p:nvPr/>
        </p:nvPicPr>
        <p:blipFill>
          <a:blip r:embed="rId7"/>
          <a:stretch>
            <a:fillRect/>
          </a:stretch>
        </p:blipFill>
        <p:spPr>
          <a:xfrm>
            <a:off x="3110248" y="3030860"/>
            <a:ext cx="4984123" cy="1826568"/>
          </a:xfrm>
          <a:prstGeom prst="rect">
            <a:avLst/>
          </a:prstGeom>
        </p:spPr>
      </p:pic>
      <p:pic>
        <p:nvPicPr>
          <p:cNvPr id="11" name="Imagen 10"/>
          <p:cNvPicPr>
            <a:picLocks noChangeAspect="1"/>
          </p:cNvPicPr>
          <p:nvPr/>
        </p:nvPicPr>
        <p:blipFill>
          <a:blip r:embed="rId8"/>
          <a:stretch>
            <a:fillRect/>
          </a:stretch>
        </p:blipFill>
        <p:spPr>
          <a:xfrm>
            <a:off x="2725083" y="5229906"/>
            <a:ext cx="5749216" cy="1572435"/>
          </a:xfrm>
          <a:prstGeom prst="rect">
            <a:avLst/>
          </a:prstGeom>
        </p:spPr>
      </p:pic>
      <p:sp>
        <p:nvSpPr>
          <p:cNvPr id="13" name="CuadroTexto 12">
            <a:extLst>
              <a:ext uri="{FF2B5EF4-FFF2-40B4-BE49-F238E27FC236}">
                <a16:creationId xmlns:a16="http://schemas.microsoft.com/office/drawing/2014/main" id="{49D05220-07B7-46F7-8EEB-E3FB0BCE7B62}"/>
              </a:ext>
            </a:extLst>
          </p:cNvPr>
          <p:cNvSpPr txBox="1"/>
          <p:nvPr/>
        </p:nvSpPr>
        <p:spPr>
          <a:xfrm>
            <a:off x="567347" y="2367585"/>
            <a:ext cx="3953138" cy="2862322"/>
          </a:xfrm>
          <a:prstGeom prst="rect">
            <a:avLst/>
          </a:prstGeom>
          <a:noFill/>
        </p:spPr>
        <p:txBody>
          <a:bodyPr wrap="square" rtlCol="0">
            <a:spAutoFit/>
          </a:bodyPr>
          <a:lstStyle/>
          <a:p>
            <a:pPr marL="285750" indent="-285750" algn="just">
              <a:buFont typeface="Arial" panose="020B0604020202020204" pitchFamily="34" charset="0"/>
              <a:buChar char="•"/>
            </a:pPr>
            <a:r>
              <a:rPr lang="es-419" dirty="0"/>
              <a:t>Los parámetros pueden ser también:</a:t>
            </a:r>
          </a:p>
          <a:p>
            <a:pPr marL="1200150" lvl="2" indent="-285750" algn="just">
              <a:buFont typeface="Wingdings" panose="05000000000000000000" pitchFamily="2" charset="2"/>
              <a:buChar char="q"/>
            </a:pPr>
            <a:r>
              <a:rPr lang="es-419" dirty="0"/>
              <a:t>Valores Múltiples</a:t>
            </a:r>
          </a:p>
          <a:p>
            <a:pPr marL="1200150" lvl="2" indent="-285750" algn="just">
              <a:buFont typeface="Wingdings" panose="05000000000000000000" pitchFamily="2" charset="2"/>
              <a:buChar char="q"/>
            </a:pPr>
            <a:endParaRPr lang="es-419" dirty="0"/>
          </a:p>
          <a:p>
            <a:pPr marL="1200150" lvl="2" indent="-285750" algn="just">
              <a:buFont typeface="Wingdings" panose="05000000000000000000" pitchFamily="2" charset="2"/>
              <a:buChar char="q"/>
            </a:pPr>
            <a:endParaRPr lang="es-419" dirty="0"/>
          </a:p>
          <a:p>
            <a:pPr marL="1200150" lvl="2" indent="-285750" algn="just">
              <a:buFont typeface="Wingdings" panose="05000000000000000000" pitchFamily="2" charset="2"/>
              <a:buChar char="q"/>
            </a:pPr>
            <a:endParaRPr lang="es-419" dirty="0"/>
          </a:p>
          <a:p>
            <a:pPr marL="1200150" lvl="2" indent="-285750" algn="just">
              <a:buFont typeface="Wingdings" panose="05000000000000000000" pitchFamily="2" charset="2"/>
              <a:buChar char="q"/>
            </a:pPr>
            <a:endParaRPr lang="es-419" dirty="0"/>
          </a:p>
          <a:p>
            <a:pPr marL="1200150" lvl="2" indent="-285750" algn="just">
              <a:buFont typeface="Wingdings" panose="05000000000000000000" pitchFamily="2" charset="2"/>
              <a:buChar char="q"/>
            </a:pPr>
            <a:endParaRPr lang="es-419" dirty="0"/>
          </a:p>
          <a:p>
            <a:pPr marL="1200150" lvl="2" indent="-285750" algn="just">
              <a:buFont typeface="Wingdings" panose="05000000000000000000" pitchFamily="2" charset="2"/>
              <a:buChar char="q"/>
            </a:pPr>
            <a:endParaRPr lang="es-419" dirty="0"/>
          </a:p>
          <a:p>
            <a:pPr marL="1200150" lvl="2" indent="-285750" algn="just">
              <a:buFont typeface="Wingdings" panose="05000000000000000000" pitchFamily="2" charset="2"/>
              <a:buChar char="q"/>
            </a:pPr>
            <a:endParaRPr lang="es-419" dirty="0"/>
          </a:p>
          <a:p>
            <a:pPr marL="1200150" lvl="2" indent="-285750" algn="just">
              <a:buFont typeface="Wingdings" panose="05000000000000000000" pitchFamily="2" charset="2"/>
              <a:buChar char="q"/>
            </a:pPr>
            <a:r>
              <a:rPr lang="es-419" dirty="0"/>
              <a:t>Rangos de Valores</a:t>
            </a:r>
            <a:endParaRPr lang="es-ES" dirty="0"/>
          </a:p>
        </p:txBody>
      </p:sp>
    </p:spTree>
    <p:extLst>
      <p:ext uri="{BB962C8B-B14F-4D97-AF65-F5344CB8AC3E}">
        <p14:creationId xmlns:p14="http://schemas.microsoft.com/office/powerpoint/2010/main" val="1542742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A4F5973-0BD6-4C8E-9BB4-9B0E8340A1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sp>
        <p:nvSpPr>
          <p:cNvPr id="5" name="Subtítulo 2">
            <a:extLst>
              <a:ext uri="{FF2B5EF4-FFF2-40B4-BE49-F238E27FC236}">
                <a16:creationId xmlns:a16="http://schemas.microsoft.com/office/drawing/2014/main" id="{43901E16-FE3C-4BA8-97B4-171FECC3A77F}"/>
              </a:ext>
            </a:extLst>
          </p:cNvPr>
          <p:cNvSpPr txBox="1">
            <a:spLocks/>
          </p:cNvSpPr>
          <p:nvPr/>
        </p:nvSpPr>
        <p:spPr>
          <a:xfrm>
            <a:off x="2028424" y="346500"/>
            <a:ext cx="8369120" cy="530354"/>
          </a:xfrm>
          <a:prstGeom prst="rect">
            <a:avLst/>
          </a:prstGeom>
        </p:spPr>
        <p:txBody>
          <a:bodyPr vert="horz" lIns="91440" tIns="45720" rIns="91440" bIns="45720" numCol="1"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4800" b="1">
                <a:ln w="0"/>
              </a:rPr>
              <a:t>5. Entorno de Trabajo Crystal Report</a:t>
            </a:r>
            <a:endParaRPr lang="es-ES" sz="4400">
              <a:ln w="0"/>
            </a:endParaRPr>
          </a:p>
          <a:p>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a:extLst>
              <a:ext uri="{FF2B5EF4-FFF2-40B4-BE49-F238E27FC236}">
                <a16:creationId xmlns:a16="http://schemas.microsoft.com/office/drawing/2014/main" id="{D7FC7E1D-45B5-4FA1-B360-BBD14D2FD6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sp>
        <p:nvSpPr>
          <p:cNvPr id="7" name="Rectángulo 6">
            <a:extLst>
              <a:ext uri="{FF2B5EF4-FFF2-40B4-BE49-F238E27FC236}">
                <a16:creationId xmlns:a16="http://schemas.microsoft.com/office/drawing/2014/main" id="{16FB1AEF-A352-4F08-BFD0-FEE820E04C35}"/>
              </a:ext>
            </a:extLst>
          </p:cNvPr>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59C56AA0-A005-4378-9745-E26CE47BB67D}"/>
              </a:ext>
            </a:extLst>
          </p:cNvPr>
          <p:cNvSpPr txBox="1"/>
          <p:nvPr/>
        </p:nvSpPr>
        <p:spPr>
          <a:xfrm>
            <a:off x="567347" y="776876"/>
            <a:ext cx="10778264" cy="1015663"/>
          </a:xfrm>
          <a:prstGeom prst="rect">
            <a:avLst/>
          </a:prstGeom>
          <a:noFill/>
        </p:spPr>
        <p:txBody>
          <a:bodyPr wrap="square" rtlCol="0">
            <a:spAutoFit/>
          </a:bodyPr>
          <a:lstStyle/>
          <a:p>
            <a:pPr algn="just"/>
            <a:r>
              <a:rPr lang="es-ES" sz="2400" b="1" dirty="0"/>
              <a:t>Campos con vínculos a pantallas</a:t>
            </a:r>
          </a:p>
          <a:p>
            <a:pPr marL="285750" indent="-285750" algn="just">
              <a:buFont typeface="Wingdings" panose="05000000000000000000" pitchFamily="2" charset="2"/>
              <a:buChar char="Ø"/>
            </a:pPr>
            <a:r>
              <a:rPr lang="es-ES" dirty="0"/>
              <a:t>Permite que el reporte pueda realizar un vinculo que pueda abrir una pantalla dentro de </a:t>
            </a:r>
            <a:r>
              <a:rPr lang="es-ES" dirty="0" err="1"/>
              <a:t>sap</a:t>
            </a:r>
            <a:r>
              <a:rPr lang="es-ES" dirty="0"/>
              <a:t> business </a:t>
            </a:r>
            <a:r>
              <a:rPr lang="es-ES" dirty="0" err="1"/>
              <a:t>one</a:t>
            </a:r>
            <a:r>
              <a:rPr lang="es-ES" dirty="0"/>
              <a:t>. Se inserta una imagen dentro del reporte que se requiere, prefiere una flecha para guardar el estándar de SBO.</a:t>
            </a:r>
          </a:p>
        </p:txBody>
      </p:sp>
      <p:pic>
        <p:nvPicPr>
          <p:cNvPr id="9" name="Imagen 8">
            <a:extLst>
              <a:ext uri="{FF2B5EF4-FFF2-40B4-BE49-F238E27FC236}">
                <a16:creationId xmlns:a16="http://schemas.microsoft.com/office/drawing/2014/main" id="{D2BF1381-E637-429D-8393-DD1FCD07D6B7}"/>
              </a:ext>
            </a:extLst>
          </p:cNvPr>
          <p:cNvPicPr>
            <a:picLocks noChangeAspect="1"/>
          </p:cNvPicPr>
          <p:nvPr/>
        </p:nvPicPr>
        <p:blipFill>
          <a:blip r:embed="rId4"/>
          <a:stretch>
            <a:fillRect/>
          </a:stretch>
        </p:blipFill>
        <p:spPr>
          <a:xfrm>
            <a:off x="753924" y="1886044"/>
            <a:ext cx="10006841" cy="4195080"/>
          </a:xfrm>
          <a:prstGeom prst="rect">
            <a:avLst/>
          </a:prstGeom>
        </p:spPr>
      </p:pic>
    </p:spTree>
    <p:extLst>
      <p:ext uri="{BB962C8B-B14F-4D97-AF65-F5344CB8AC3E}">
        <p14:creationId xmlns:p14="http://schemas.microsoft.com/office/powerpoint/2010/main" val="2972284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A4F5973-0BD6-4C8E-9BB4-9B0E8340A1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sp>
        <p:nvSpPr>
          <p:cNvPr id="5" name="Subtítulo 2">
            <a:extLst>
              <a:ext uri="{FF2B5EF4-FFF2-40B4-BE49-F238E27FC236}">
                <a16:creationId xmlns:a16="http://schemas.microsoft.com/office/drawing/2014/main" id="{43901E16-FE3C-4BA8-97B4-171FECC3A77F}"/>
              </a:ext>
            </a:extLst>
          </p:cNvPr>
          <p:cNvSpPr txBox="1">
            <a:spLocks/>
          </p:cNvSpPr>
          <p:nvPr/>
        </p:nvSpPr>
        <p:spPr>
          <a:xfrm>
            <a:off x="2028424" y="346500"/>
            <a:ext cx="8369120" cy="530354"/>
          </a:xfrm>
          <a:prstGeom prst="rect">
            <a:avLst/>
          </a:prstGeom>
        </p:spPr>
        <p:txBody>
          <a:bodyPr vert="horz" lIns="91440" tIns="45720" rIns="91440" bIns="45720" numCol="1"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4800" b="1">
                <a:ln w="0"/>
              </a:rPr>
              <a:t>5. Entorno de Trabajo Crystal Report</a:t>
            </a:r>
            <a:endParaRPr lang="es-ES" sz="4400">
              <a:ln w="0"/>
            </a:endParaRPr>
          </a:p>
          <a:p>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a:extLst>
              <a:ext uri="{FF2B5EF4-FFF2-40B4-BE49-F238E27FC236}">
                <a16:creationId xmlns:a16="http://schemas.microsoft.com/office/drawing/2014/main" id="{D7FC7E1D-45B5-4FA1-B360-BBD14D2FD6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sp>
        <p:nvSpPr>
          <p:cNvPr id="7" name="Rectángulo 6">
            <a:extLst>
              <a:ext uri="{FF2B5EF4-FFF2-40B4-BE49-F238E27FC236}">
                <a16:creationId xmlns:a16="http://schemas.microsoft.com/office/drawing/2014/main" id="{16FB1AEF-A352-4F08-BFD0-FEE820E04C35}"/>
              </a:ext>
            </a:extLst>
          </p:cNvPr>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59C56AA0-A005-4378-9745-E26CE47BB67D}"/>
              </a:ext>
            </a:extLst>
          </p:cNvPr>
          <p:cNvSpPr txBox="1"/>
          <p:nvPr/>
        </p:nvSpPr>
        <p:spPr>
          <a:xfrm>
            <a:off x="567347" y="776876"/>
            <a:ext cx="10778264" cy="1015663"/>
          </a:xfrm>
          <a:prstGeom prst="rect">
            <a:avLst/>
          </a:prstGeom>
          <a:noFill/>
        </p:spPr>
        <p:txBody>
          <a:bodyPr wrap="square" rtlCol="0">
            <a:spAutoFit/>
          </a:bodyPr>
          <a:lstStyle/>
          <a:p>
            <a:pPr algn="just"/>
            <a:r>
              <a:rPr lang="es-ES" sz="2400" b="1" dirty="0"/>
              <a:t>Campos con vínculos a pantallas</a:t>
            </a:r>
          </a:p>
          <a:p>
            <a:pPr marL="285750" indent="-285750" algn="just">
              <a:buFont typeface="Wingdings" panose="05000000000000000000" pitchFamily="2" charset="2"/>
              <a:buChar char="Ø"/>
            </a:pPr>
            <a:r>
              <a:rPr lang="es-ES" dirty="0"/>
              <a:t>Dentro de las propiedades de imagen insertada se modifica la parte de </a:t>
            </a:r>
            <a:r>
              <a:rPr lang="es-ES" dirty="0" err="1"/>
              <a:t>hypervinculo</a:t>
            </a:r>
            <a:r>
              <a:rPr lang="es-ES" dirty="0"/>
              <a:t>  y se coloca la llamada a  la pantalla dentro de </a:t>
            </a:r>
            <a:r>
              <a:rPr lang="es-ES" dirty="0" err="1"/>
              <a:t>Crystal</a:t>
            </a:r>
            <a:r>
              <a:rPr lang="es-ES" dirty="0"/>
              <a:t>.</a:t>
            </a:r>
          </a:p>
        </p:txBody>
      </p:sp>
      <p:pic>
        <p:nvPicPr>
          <p:cNvPr id="2" name="Imagen 1">
            <a:extLst>
              <a:ext uri="{FF2B5EF4-FFF2-40B4-BE49-F238E27FC236}">
                <a16:creationId xmlns:a16="http://schemas.microsoft.com/office/drawing/2014/main" id="{223A38E3-149A-4656-B265-D5FE85A07120}"/>
              </a:ext>
            </a:extLst>
          </p:cNvPr>
          <p:cNvPicPr>
            <a:picLocks noChangeAspect="1"/>
          </p:cNvPicPr>
          <p:nvPr/>
        </p:nvPicPr>
        <p:blipFill>
          <a:blip r:embed="rId4"/>
          <a:stretch>
            <a:fillRect/>
          </a:stretch>
        </p:blipFill>
        <p:spPr>
          <a:xfrm>
            <a:off x="1460846" y="1925023"/>
            <a:ext cx="8448675" cy="4467032"/>
          </a:xfrm>
          <a:prstGeom prst="rect">
            <a:avLst/>
          </a:prstGeom>
        </p:spPr>
      </p:pic>
    </p:spTree>
    <p:extLst>
      <p:ext uri="{BB962C8B-B14F-4D97-AF65-F5344CB8AC3E}">
        <p14:creationId xmlns:p14="http://schemas.microsoft.com/office/powerpoint/2010/main" val="2725721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2028424" y="346500"/>
            <a:ext cx="8369120" cy="530354"/>
          </a:xfrm>
        </p:spPr>
        <p:txBody>
          <a:bodyPr numCol="1">
            <a:normAutofit fontScale="85000" lnSpcReduction="20000"/>
          </a:bodyPr>
          <a:lstStyle/>
          <a:p>
            <a:pPr algn="l"/>
            <a:r>
              <a:rPr lang="es-ES" sz="4800" b="1" dirty="0">
                <a:ln w="0"/>
              </a:rPr>
              <a:t>5. Gestión de </a:t>
            </a:r>
            <a:r>
              <a:rPr lang="es-ES" sz="4800" b="1" dirty="0" err="1">
                <a:ln w="0"/>
              </a:rPr>
              <a:t>Layouts</a:t>
            </a:r>
            <a:r>
              <a:rPr lang="es-ES" sz="4800" b="1" dirty="0">
                <a:ln w="0"/>
              </a:rPr>
              <a:t>-SAP</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12" name="CuadroTexto 11">
            <a:extLst>
              <a:ext uri="{FF2B5EF4-FFF2-40B4-BE49-F238E27FC236}">
                <a16:creationId xmlns:a16="http://schemas.microsoft.com/office/drawing/2014/main" id="{49D05220-07B7-46F7-8EEB-E3FB0BCE7B62}"/>
              </a:ext>
            </a:extLst>
          </p:cNvPr>
          <p:cNvSpPr txBox="1"/>
          <p:nvPr/>
        </p:nvSpPr>
        <p:spPr>
          <a:xfrm>
            <a:off x="706868" y="979169"/>
            <a:ext cx="10778264" cy="1569660"/>
          </a:xfrm>
          <a:prstGeom prst="rect">
            <a:avLst/>
          </a:prstGeom>
          <a:noFill/>
        </p:spPr>
        <p:txBody>
          <a:bodyPr wrap="square" rtlCol="0">
            <a:spAutoFit/>
          </a:bodyPr>
          <a:lstStyle/>
          <a:p>
            <a:pPr algn="just"/>
            <a:r>
              <a:rPr lang="es-ES" sz="2400" b="1" dirty="0" err="1"/>
              <a:t>Layouts</a:t>
            </a:r>
            <a:r>
              <a:rPr lang="es-ES" sz="2400" b="1" dirty="0"/>
              <a:t> de SAP</a:t>
            </a:r>
          </a:p>
          <a:p>
            <a:pPr marL="285750" indent="-285750" algn="just">
              <a:buFont typeface="Wingdings" panose="05000000000000000000" pitchFamily="2" charset="2"/>
              <a:buChar char="Ø"/>
            </a:pPr>
            <a:r>
              <a:rPr lang="es-ES" dirty="0"/>
              <a:t>Se pueden modificar los </a:t>
            </a:r>
            <a:r>
              <a:rPr lang="es-ES" dirty="0" err="1"/>
              <a:t>Layouts</a:t>
            </a:r>
            <a:r>
              <a:rPr lang="es-ES" dirty="0"/>
              <a:t> que trae SAP. También se pueden incluir reportes diseñados desde </a:t>
            </a:r>
            <a:r>
              <a:rPr lang="es-ES" dirty="0" err="1"/>
              <a:t>Crystal</a:t>
            </a:r>
            <a:r>
              <a:rPr lang="es-ES" dirty="0"/>
              <a:t> </a:t>
            </a:r>
            <a:r>
              <a:rPr lang="es-ES" dirty="0" err="1"/>
              <a:t>Reports</a:t>
            </a:r>
            <a:r>
              <a:rPr lang="es-ES" dirty="0"/>
              <a:t>.</a:t>
            </a:r>
          </a:p>
          <a:p>
            <a:pPr marL="285750" indent="-285750" algn="just">
              <a:buFont typeface="Wingdings" panose="05000000000000000000" pitchFamily="2" charset="2"/>
              <a:buChar char="Ø"/>
            </a:pPr>
            <a:r>
              <a:rPr lang="es-ES" dirty="0"/>
              <a:t>Para poder identificar cuales son los </a:t>
            </a:r>
            <a:r>
              <a:rPr lang="es-ES" dirty="0" err="1"/>
              <a:t>Layouts</a:t>
            </a:r>
            <a:r>
              <a:rPr lang="es-ES" dirty="0"/>
              <a:t> definidos en una pantalla de SAP de debe ingresar a la opción de SAP y dar </a:t>
            </a:r>
            <a:r>
              <a:rPr lang="es-ES" dirty="0" err="1"/>
              <a:t>click</a:t>
            </a:r>
            <a:r>
              <a:rPr lang="es-ES" dirty="0"/>
              <a:t> sobre el Botón “Diseñador de </a:t>
            </a:r>
            <a:r>
              <a:rPr lang="es-ES" dirty="0" err="1"/>
              <a:t>Layouts</a:t>
            </a:r>
            <a:r>
              <a:rPr lang="es-ES" dirty="0"/>
              <a:t>”</a:t>
            </a:r>
          </a:p>
        </p:txBody>
      </p:sp>
      <p:pic>
        <p:nvPicPr>
          <p:cNvPr id="5" name="Imagen 4">
            <a:extLst>
              <a:ext uri="{FF2B5EF4-FFF2-40B4-BE49-F238E27FC236}">
                <a16:creationId xmlns:a16="http://schemas.microsoft.com/office/drawing/2014/main" id="{2EE1B4AF-CA66-4DB9-8F8D-37EA1EB3E94F}"/>
              </a:ext>
            </a:extLst>
          </p:cNvPr>
          <p:cNvPicPr>
            <a:picLocks noChangeAspect="1"/>
          </p:cNvPicPr>
          <p:nvPr/>
        </p:nvPicPr>
        <p:blipFill>
          <a:blip r:embed="rId6"/>
          <a:stretch>
            <a:fillRect/>
          </a:stretch>
        </p:blipFill>
        <p:spPr>
          <a:xfrm>
            <a:off x="1511896" y="2651679"/>
            <a:ext cx="9020175" cy="3667125"/>
          </a:xfrm>
          <a:prstGeom prst="rect">
            <a:avLst/>
          </a:prstGeom>
        </p:spPr>
      </p:pic>
    </p:spTree>
    <p:extLst>
      <p:ext uri="{BB962C8B-B14F-4D97-AF65-F5344CB8AC3E}">
        <p14:creationId xmlns:p14="http://schemas.microsoft.com/office/powerpoint/2010/main" val="3962730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2028424" y="346500"/>
            <a:ext cx="8369120" cy="530354"/>
          </a:xfrm>
        </p:spPr>
        <p:txBody>
          <a:bodyPr numCol="1">
            <a:normAutofit fontScale="85000" lnSpcReduction="20000"/>
          </a:bodyPr>
          <a:lstStyle/>
          <a:p>
            <a:pPr algn="l"/>
            <a:r>
              <a:rPr lang="es-ES" sz="4800" b="1" dirty="0">
                <a:ln w="0"/>
              </a:rPr>
              <a:t>5. Gestión de </a:t>
            </a:r>
            <a:r>
              <a:rPr lang="es-ES" sz="4800" b="1" dirty="0" err="1">
                <a:ln w="0"/>
              </a:rPr>
              <a:t>Layouts</a:t>
            </a:r>
            <a:r>
              <a:rPr lang="es-ES" sz="4800" b="1" dirty="0">
                <a:ln w="0"/>
              </a:rPr>
              <a:t>-SAP</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12" name="CuadroTexto 11">
            <a:extLst>
              <a:ext uri="{FF2B5EF4-FFF2-40B4-BE49-F238E27FC236}">
                <a16:creationId xmlns:a16="http://schemas.microsoft.com/office/drawing/2014/main" id="{49D05220-07B7-46F7-8EEB-E3FB0BCE7B62}"/>
              </a:ext>
            </a:extLst>
          </p:cNvPr>
          <p:cNvSpPr txBox="1"/>
          <p:nvPr/>
        </p:nvSpPr>
        <p:spPr>
          <a:xfrm>
            <a:off x="706868" y="979169"/>
            <a:ext cx="10778264" cy="1015663"/>
          </a:xfrm>
          <a:prstGeom prst="rect">
            <a:avLst/>
          </a:prstGeom>
          <a:noFill/>
        </p:spPr>
        <p:txBody>
          <a:bodyPr wrap="square" rtlCol="0">
            <a:spAutoFit/>
          </a:bodyPr>
          <a:lstStyle/>
          <a:p>
            <a:pPr algn="just"/>
            <a:r>
              <a:rPr lang="es-ES" sz="2400" b="1" dirty="0" err="1"/>
              <a:t>Layouts</a:t>
            </a:r>
            <a:r>
              <a:rPr lang="es-ES" sz="2400" b="1" dirty="0"/>
              <a:t> de SAP</a:t>
            </a:r>
          </a:p>
          <a:p>
            <a:pPr marL="285750" indent="-285750" algn="just">
              <a:buFont typeface="Wingdings" panose="05000000000000000000" pitchFamily="2" charset="2"/>
              <a:buChar char="Ø"/>
            </a:pPr>
            <a:r>
              <a:rPr lang="es-ES" dirty="0"/>
              <a:t>El Layout por defecto se muestra resaltado con negritas. Presionar el botón “Gestionar </a:t>
            </a:r>
            <a:r>
              <a:rPr lang="es-ES" dirty="0" err="1"/>
              <a:t>layout</a:t>
            </a:r>
            <a:r>
              <a:rPr lang="es-ES" dirty="0"/>
              <a:t>” para ir a la opción de SAP para edición.</a:t>
            </a:r>
          </a:p>
        </p:txBody>
      </p:sp>
      <p:pic>
        <p:nvPicPr>
          <p:cNvPr id="2" name="Imagen 1">
            <a:extLst>
              <a:ext uri="{FF2B5EF4-FFF2-40B4-BE49-F238E27FC236}">
                <a16:creationId xmlns:a16="http://schemas.microsoft.com/office/drawing/2014/main" id="{321D610C-1A38-4A9B-BCD6-61538A603E62}"/>
              </a:ext>
            </a:extLst>
          </p:cNvPr>
          <p:cNvPicPr>
            <a:picLocks noChangeAspect="1"/>
          </p:cNvPicPr>
          <p:nvPr/>
        </p:nvPicPr>
        <p:blipFill>
          <a:blip r:embed="rId6"/>
          <a:stretch>
            <a:fillRect/>
          </a:stretch>
        </p:blipFill>
        <p:spPr>
          <a:xfrm>
            <a:off x="706868" y="2110460"/>
            <a:ext cx="3289322" cy="3073629"/>
          </a:xfrm>
          <a:prstGeom prst="rect">
            <a:avLst/>
          </a:prstGeom>
        </p:spPr>
      </p:pic>
      <p:pic>
        <p:nvPicPr>
          <p:cNvPr id="9" name="Imagen 8">
            <a:extLst>
              <a:ext uri="{FF2B5EF4-FFF2-40B4-BE49-F238E27FC236}">
                <a16:creationId xmlns:a16="http://schemas.microsoft.com/office/drawing/2014/main" id="{6AD62704-501A-4965-B147-E954F370BBFB}"/>
              </a:ext>
            </a:extLst>
          </p:cNvPr>
          <p:cNvPicPr>
            <a:picLocks noChangeAspect="1"/>
          </p:cNvPicPr>
          <p:nvPr/>
        </p:nvPicPr>
        <p:blipFill>
          <a:blip r:embed="rId7"/>
          <a:stretch>
            <a:fillRect/>
          </a:stretch>
        </p:blipFill>
        <p:spPr>
          <a:xfrm>
            <a:off x="4147980" y="1689654"/>
            <a:ext cx="7277100" cy="4629150"/>
          </a:xfrm>
          <a:prstGeom prst="rect">
            <a:avLst/>
          </a:prstGeom>
        </p:spPr>
      </p:pic>
    </p:spTree>
    <p:extLst>
      <p:ext uri="{BB962C8B-B14F-4D97-AF65-F5344CB8AC3E}">
        <p14:creationId xmlns:p14="http://schemas.microsoft.com/office/powerpoint/2010/main" val="3412750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2028424" y="346500"/>
            <a:ext cx="8369120" cy="530354"/>
          </a:xfrm>
        </p:spPr>
        <p:txBody>
          <a:bodyPr numCol="1">
            <a:normAutofit fontScale="85000" lnSpcReduction="20000"/>
          </a:bodyPr>
          <a:lstStyle/>
          <a:p>
            <a:pPr algn="l"/>
            <a:r>
              <a:rPr lang="es-ES" sz="4800" b="1" dirty="0">
                <a:ln w="0"/>
              </a:rPr>
              <a:t>5. Gestión de </a:t>
            </a:r>
            <a:r>
              <a:rPr lang="es-ES" sz="4800" b="1" dirty="0" err="1">
                <a:ln w="0"/>
              </a:rPr>
              <a:t>Layouts</a:t>
            </a:r>
            <a:r>
              <a:rPr lang="es-ES" sz="4800" b="1" dirty="0">
                <a:ln w="0"/>
              </a:rPr>
              <a:t>-SAP</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12" name="CuadroTexto 11">
            <a:extLst>
              <a:ext uri="{FF2B5EF4-FFF2-40B4-BE49-F238E27FC236}">
                <a16:creationId xmlns:a16="http://schemas.microsoft.com/office/drawing/2014/main" id="{49D05220-07B7-46F7-8EEB-E3FB0BCE7B62}"/>
              </a:ext>
            </a:extLst>
          </p:cNvPr>
          <p:cNvSpPr txBox="1"/>
          <p:nvPr/>
        </p:nvSpPr>
        <p:spPr>
          <a:xfrm>
            <a:off x="706868" y="728895"/>
            <a:ext cx="10778264" cy="738664"/>
          </a:xfrm>
          <a:prstGeom prst="rect">
            <a:avLst/>
          </a:prstGeom>
          <a:noFill/>
        </p:spPr>
        <p:txBody>
          <a:bodyPr wrap="square" rtlCol="0">
            <a:spAutoFit/>
          </a:bodyPr>
          <a:lstStyle/>
          <a:p>
            <a:pPr algn="just"/>
            <a:r>
              <a:rPr lang="es-ES" sz="2400" b="1" dirty="0" err="1"/>
              <a:t>Layouts</a:t>
            </a:r>
            <a:r>
              <a:rPr lang="es-ES" sz="2400" b="1" dirty="0"/>
              <a:t> de SAP</a:t>
            </a:r>
          </a:p>
          <a:p>
            <a:pPr marL="285750" indent="-285750" algn="just">
              <a:buFont typeface="Wingdings" panose="05000000000000000000" pitchFamily="2" charset="2"/>
              <a:buChar char="Ø"/>
            </a:pPr>
            <a:r>
              <a:rPr lang="es-419" dirty="0"/>
              <a:t>SAP permite agregar en este entorno campos de tipo texto, Base de Datos, Fórmulas, Pantalla(Imágenes). </a:t>
            </a:r>
            <a:endParaRPr lang="es-ES" dirty="0"/>
          </a:p>
        </p:txBody>
      </p:sp>
      <p:pic>
        <p:nvPicPr>
          <p:cNvPr id="5" name="Imagen 4">
            <a:extLst>
              <a:ext uri="{FF2B5EF4-FFF2-40B4-BE49-F238E27FC236}">
                <a16:creationId xmlns:a16="http://schemas.microsoft.com/office/drawing/2014/main" id="{2AD80F5F-993E-487F-9546-6537885EC7D7}"/>
              </a:ext>
            </a:extLst>
          </p:cNvPr>
          <p:cNvPicPr>
            <a:picLocks noChangeAspect="1"/>
          </p:cNvPicPr>
          <p:nvPr/>
        </p:nvPicPr>
        <p:blipFill>
          <a:blip r:embed="rId6"/>
          <a:stretch>
            <a:fillRect/>
          </a:stretch>
        </p:blipFill>
        <p:spPr>
          <a:xfrm>
            <a:off x="1307067" y="1706998"/>
            <a:ext cx="9577866" cy="4630017"/>
          </a:xfrm>
          <a:prstGeom prst="rect">
            <a:avLst/>
          </a:prstGeom>
        </p:spPr>
      </p:pic>
      <p:pic>
        <p:nvPicPr>
          <p:cNvPr id="13" name="Imagen 12"/>
          <p:cNvPicPr>
            <a:picLocks noChangeAspect="1"/>
          </p:cNvPicPr>
          <p:nvPr/>
        </p:nvPicPr>
        <p:blipFill>
          <a:blip r:embed="rId7"/>
          <a:stretch>
            <a:fillRect/>
          </a:stretch>
        </p:blipFill>
        <p:spPr>
          <a:xfrm>
            <a:off x="7602829" y="6426057"/>
            <a:ext cx="1371600" cy="342900"/>
          </a:xfrm>
          <a:prstGeom prst="rect">
            <a:avLst/>
          </a:prstGeom>
        </p:spPr>
      </p:pic>
    </p:spTree>
    <p:extLst>
      <p:ext uri="{BB962C8B-B14F-4D97-AF65-F5344CB8AC3E}">
        <p14:creationId xmlns:p14="http://schemas.microsoft.com/office/powerpoint/2010/main" val="485414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581697" y="1066627"/>
            <a:ext cx="8369120" cy="530354"/>
          </a:xfrm>
        </p:spPr>
        <p:txBody>
          <a:bodyPr numCol="1">
            <a:normAutofit fontScale="77500" lnSpcReduction="20000"/>
          </a:bodyPr>
          <a:lstStyle/>
          <a:p>
            <a:pPr marL="914400" indent="-914400" algn="l">
              <a:buFont typeface="+mj-lt"/>
              <a:buAutoNum type="arabicPeriod" startAt="9"/>
            </a:pPr>
            <a:r>
              <a:rPr lang="es-ES" sz="4800" b="1" dirty="0">
                <a:ln w="0"/>
              </a:rPr>
              <a:t>Importe reporte a menú de SAP B1.</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2" name="CuadroTexto 1"/>
          <p:cNvSpPr txBox="1"/>
          <p:nvPr/>
        </p:nvSpPr>
        <p:spPr>
          <a:xfrm>
            <a:off x="581697" y="1790163"/>
            <a:ext cx="10939743" cy="1292662"/>
          </a:xfrm>
          <a:prstGeom prst="rect">
            <a:avLst/>
          </a:prstGeom>
          <a:noFill/>
        </p:spPr>
        <p:txBody>
          <a:bodyPr wrap="square" rtlCol="0">
            <a:spAutoFit/>
          </a:bodyPr>
          <a:lstStyle/>
          <a:p>
            <a:r>
              <a:rPr lang="es-EC" sz="2400" b="1" dirty="0"/>
              <a:t>TIPS</a:t>
            </a:r>
          </a:p>
          <a:p>
            <a:pPr marL="342900" indent="-342900">
              <a:buFont typeface="+mj-lt"/>
              <a:buAutoNum type="arabicPeriod"/>
            </a:pPr>
            <a:r>
              <a:rPr lang="es-EC" dirty="0"/>
              <a:t>Antes de cargar un reporte al menú de SAP es importante realizarlo en ambiente de pruebas. Validar el formato y datos presentados.</a:t>
            </a:r>
          </a:p>
          <a:p>
            <a:pPr marL="342900" indent="-342900">
              <a:buFont typeface="+mj-lt"/>
              <a:buAutoNum type="arabicPeriod"/>
            </a:pPr>
            <a:r>
              <a:rPr lang="es-EC" dirty="0"/>
              <a:t>Realizar la visualización desde SAP desde la opción Herramientas.</a:t>
            </a:r>
          </a:p>
        </p:txBody>
      </p:sp>
      <p:pic>
        <p:nvPicPr>
          <p:cNvPr id="5" name="Imagen 4">
            <a:extLst>
              <a:ext uri="{FF2B5EF4-FFF2-40B4-BE49-F238E27FC236}">
                <a16:creationId xmlns:a16="http://schemas.microsoft.com/office/drawing/2014/main" id="{380929F2-F116-4A08-9C67-E6351D975AAE}"/>
              </a:ext>
            </a:extLst>
          </p:cNvPr>
          <p:cNvPicPr>
            <a:picLocks noChangeAspect="1"/>
          </p:cNvPicPr>
          <p:nvPr/>
        </p:nvPicPr>
        <p:blipFill rotWithShape="1">
          <a:blip r:embed="rId6"/>
          <a:srcRect b="50000"/>
          <a:stretch/>
        </p:blipFill>
        <p:spPr>
          <a:xfrm>
            <a:off x="718857" y="3429000"/>
            <a:ext cx="4737063" cy="2584384"/>
          </a:xfrm>
          <a:prstGeom prst="rect">
            <a:avLst/>
          </a:prstGeom>
        </p:spPr>
      </p:pic>
      <p:pic>
        <p:nvPicPr>
          <p:cNvPr id="9" name="Imagen 8">
            <a:extLst>
              <a:ext uri="{FF2B5EF4-FFF2-40B4-BE49-F238E27FC236}">
                <a16:creationId xmlns:a16="http://schemas.microsoft.com/office/drawing/2014/main" id="{148181AC-A660-4372-B8BA-BA59BB917A64}"/>
              </a:ext>
            </a:extLst>
          </p:cNvPr>
          <p:cNvPicPr>
            <a:picLocks noChangeAspect="1"/>
          </p:cNvPicPr>
          <p:nvPr/>
        </p:nvPicPr>
        <p:blipFill>
          <a:blip r:embed="rId7"/>
          <a:stretch>
            <a:fillRect/>
          </a:stretch>
        </p:blipFill>
        <p:spPr>
          <a:xfrm>
            <a:off x="5836275" y="3429000"/>
            <a:ext cx="5127939" cy="1936500"/>
          </a:xfrm>
          <a:prstGeom prst="rect">
            <a:avLst/>
          </a:prstGeom>
        </p:spPr>
      </p:pic>
    </p:spTree>
    <p:extLst>
      <p:ext uri="{BB962C8B-B14F-4D97-AF65-F5344CB8AC3E}">
        <p14:creationId xmlns:p14="http://schemas.microsoft.com/office/powerpoint/2010/main" val="596624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581697" y="1066627"/>
            <a:ext cx="8369120" cy="530354"/>
          </a:xfrm>
        </p:spPr>
        <p:txBody>
          <a:bodyPr numCol="1">
            <a:normAutofit fontScale="77500" lnSpcReduction="20000"/>
          </a:bodyPr>
          <a:lstStyle/>
          <a:p>
            <a:pPr marL="914400" indent="-914400" algn="l">
              <a:buFont typeface="+mj-lt"/>
              <a:buAutoNum type="arabicPeriod" startAt="9"/>
            </a:pPr>
            <a:r>
              <a:rPr lang="es-ES" sz="4800" b="1" dirty="0">
                <a:ln w="0"/>
              </a:rPr>
              <a:t>Importe reporte a menú de SAP B1.</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2" name="CuadroTexto 1"/>
          <p:cNvSpPr txBox="1"/>
          <p:nvPr/>
        </p:nvSpPr>
        <p:spPr>
          <a:xfrm>
            <a:off x="581697" y="1790163"/>
            <a:ext cx="7773218" cy="369332"/>
          </a:xfrm>
          <a:prstGeom prst="rect">
            <a:avLst/>
          </a:prstGeom>
          <a:noFill/>
        </p:spPr>
        <p:txBody>
          <a:bodyPr wrap="none" rtlCol="0">
            <a:spAutoFit/>
          </a:bodyPr>
          <a:lstStyle/>
          <a:p>
            <a:pPr marL="342900" indent="-342900">
              <a:buFont typeface="+mj-lt"/>
              <a:buAutoNum type="arabicPeriod"/>
            </a:pPr>
            <a:r>
              <a:rPr lang="es-EC" dirty="0"/>
              <a:t>Gestión -- &gt; Definiciones -- &gt; General -- &gt; Generación de Informes y de </a:t>
            </a:r>
            <a:r>
              <a:rPr lang="es-EC" dirty="0" err="1"/>
              <a:t>Layout</a:t>
            </a:r>
            <a:endParaRPr lang="es-EC" dirty="0"/>
          </a:p>
        </p:txBody>
      </p:sp>
      <p:pic>
        <p:nvPicPr>
          <p:cNvPr id="5" name="Imagen 4"/>
          <p:cNvPicPr>
            <a:picLocks noChangeAspect="1"/>
          </p:cNvPicPr>
          <p:nvPr/>
        </p:nvPicPr>
        <p:blipFill>
          <a:blip r:embed="rId6"/>
          <a:stretch>
            <a:fillRect/>
          </a:stretch>
        </p:blipFill>
        <p:spPr>
          <a:xfrm>
            <a:off x="3696543" y="2352676"/>
            <a:ext cx="3745836" cy="1776871"/>
          </a:xfrm>
          <a:prstGeom prst="rect">
            <a:avLst/>
          </a:prstGeom>
        </p:spPr>
      </p:pic>
    </p:spTree>
    <p:extLst>
      <p:ext uri="{BB962C8B-B14F-4D97-AF65-F5344CB8AC3E}">
        <p14:creationId xmlns:p14="http://schemas.microsoft.com/office/powerpoint/2010/main" val="893716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581697" y="1066627"/>
            <a:ext cx="8369120" cy="530354"/>
          </a:xfrm>
        </p:spPr>
        <p:txBody>
          <a:bodyPr numCol="1">
            <a:normAutofit fontScale="77500" lnSpcReduction="20000"/>
          </a:bodyPr>
          <a:lstStyle/>
          <a:p>
            <a:pPr marL="914400" indent="-914400" algn="l">
              <a:buFont typeface="+mj-lt"/>
              <a:buAutoNum type="arabicPeriod" startAt="9"/>
            </a:pPr>
            <a:r>
              <a:rPr lang="es-ES" sz="4800" b="1" dirty="0">
                <a:ln w="0"/>
              </a:rPr>
              <a:t>Importe reporte a menú de SAP B1.</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2" name="CuadroTexto 1"/>
          <p:cNvSpPr txBox="1"/>
          <p:nvPr/>
        </p:nvSpPr>
        <p:spPr>
          <a:xfrm>
            <a:off x="581697" y="1790163"/>
            <a:ext cx="2392386" cy="369332"/>
          </a:xfrm>
          <a:prstGeom prst="rect">
            <a:avLst/>
          </a:prstGeom>
          <a:noFill/>
        </p:spPr>
        <p:txBody>
          <a:bodyPr wrap="none" rtlCol="0">
            <a:spAutoFit/>
          </a:bodyPr>
          <a:lstStyle/>
          <a:p>
            <a:pPr marL="342900" indent="-342900">
              <a:buFont typeface="+mj-lt"/>
              <a:buAutoNum type="arabicPeriod" startAt="2"/>
            </a:pPr>
            <a:r>
              <a:rPr lang="es-EC" dirty="0"/>
              <a:t>Dar clic en Importar</a:t>
            </a:r>
          </a:p>
        </p:txBody>
      </p:sp>
      <p:pic>
        <p:nvPicPr>
          <p:cNvPr id="9" name="Imagen 8"/>
          <p:cNvPicPr>
            <a:picLocks noChangeAspect="1"/>
          </p:cNvPicPr>
          <p:nvPr/>
        </p:nvPicPr>
        <p:blipFill>
          <a:blip r:embed="rId6"/>
          <a:stretch>
            <a:fillRect/>
          </a:stretch>
        </p:blipFill>
        <p:spPr>
          <a:xfrm>
            <a:off x="2478683" y="2159495"/>
            <a:ext cx="6691075" cy="4163935"/>
          </a:xfrm>
          <a:prstGeom prst="rect">
            <a:avLst/>
          </a:prstGeom>
        </p:spPr>
      </p:pic>
    </p:spTree>
    <p:extLst>
      <p:ext uri="{BB962C8B-B14F-4D97-AF65-F5344CB8AC3E}">
        <p14:creationId xmlns:p14="http://schemas.microsoft.com/office/powerpoint/2010/main" val="3952040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581697" y="1066627"/>
            <a:ext cx="8369120" cy="530354"/>
          </a:xfrm>
        </p:spPr>
        <p:txBody>
          <a:bodyPr numCol="1">
            <a:normAutofit fontScale="77500" lnSpcReduction="20000"/>
          </a:bodyPr>
          <a:lstStyle/>
          <a:p>
            <a:pPr marL="914400" indent="-914400" algn="l">
              <a:buFont typeface="+mj-lt"/>
              <a:buAutoNum type="arabicPeriod" startAt="9"/>
            </a:pPr>
            <a:r>
              <a:rPr lang="es-ES" sz="4800" b="1" dirty="0">
                <a:ln w="0"/>
              </a:rPr>
              <a:t>Importe reporte a menú de SAP B1.</a:t>
            </a:r>
            <a:endParaRPr lang="es-ES" sz="4400" dirty="0">
              <a:ln w="0"/>
            </a:endParaRPr>
          </a:p>
          <a:p>
            <a:pPr algn="l"/>
            <a:endParaRPr lang="es-ES" sz="11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2" name="CuadroTexto 1"/>
          <p:cNvSpPr txBox="1"/>
          <p:nvPr/>
        </p:nvSpPr>
        <p:spPr>
          <a:xfrm>
            <a:off x="581697" y="1790163"/>
            <a:ext cx="3802323" cy="369332"/>
          </a:xfrm>
          <a:prstGeom prst="rect">
            <a:avLst/>
          </a:prstGeom>
          <a:noFill/>
        </p:spPr>
        <p:txBody>
          <a:bodyPr wrap="none" rtlCol="0">
            <a:spAutoFit/>
          </a:bodyPr>
          <a:lstStyle/>
          <a:p>
            <a:pPr marL="342900" indent="-342900">
              <a:buFont typeface="+mj-lt"/>
              <a:buAutoNum type="arabicPeriod" startAt="3"/>
            </a:pPr>
            <a:r>
              <a:rPr lang="es-EC" dirty="0"/>
              <a:t>Seleccionar la ubicación y el menú.</a:t>
            </a:r>
          </a:p>
        </p:txBody>
      </p:sp>
      <p:pic>
        <p:nvPicPr>
          <p:cNvPr id="5" name="Imagen 4"/>
          <p:cNvPicPr>
            <a:picLocks noChangeAspect="1"/>
          </p:cNvPicPr>
          <p:nvPr/>
        </p:nvPicPr>
        <p:blipFill>
          <a:blip r:embed="rId6"/>
          <a:stretch>
            <a:fillRect/>
          </a:stretch>
        </p:blipFill>
        <p:spPr>
          <a:xfrm>
            <a:off x="2782880" y="2159495"/>
            <a:ext cx="5717177" cy="3722309"/>
          </a:xfrm>
          <a:prstGeom prst="rect">
            <a:avLst/>
          </a:prstGeom>
        </p:spPr>
      </p:pic>
    </p:spTree>
    <p:extLst>
      <p:ext uri="{BB962C8B-B14F-4D97-AF65-F5344CB8AC3E}">
        <p14:creationId xmlns:p14="http://schemas.microsoft.com/office/powerpoint/2010/main" val="3433210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 Crystal no </a:t>
            </a:r>
            <a:r>
              <a:rPr lang="en-US" dirty="0" err="1"/>
              <a:t>muestra</a:t>
            </a:r>
            <a:r>
              <a:rPr lang="en-US" dirty="0"/>
              <a:t> </a:t>
            </a:r>
            <a:r>
              <a:rPr lang="en-US" dirty="0" err="1"/>
              <a:t>todos</a:t>
            </a:r>
            <a:r>
              <a:rPr lang="en-US" dirty="0"/>
              <a:t> </a:t>
            </a:r>
            <a:r>
              <a:rPr lang="en-US" dirty="0" err="1"/>
              <a:t>los</a:t>
            </a:r>
            <a:r>
              <a:rPr lang="en-US" dirty="0"/>
              <a:t> </a:t>
            </a:r>
            <a:r>
              <a:rPr lang="en-US" dirty="0" err="1"/>
              <a:t>objetos</a:t>
            </a:r>
            <a:endParaRPr lang="en-US" dirty="0"/>
          </a:p>
        </p:txBody>
      </p:sp>
      <p:pic>
        <p:nvPicPr>
          <p:cNvPr id="4" name="Imagen 3"/>
          <p:cNvPicPr>
            <a:picLocks noChangeAspect="1"/>
          </p:cNvPicPr>
          <p:nvPr/>
        </p:nvPicPr>
        <p:blipFill>
          <a:blip r:embed="rId3"/>
          <a:stretch>
            <a:fillRect/>
          </a:stretch>
        </p:blipFill>
        <p:spPr>
          <a:xfrm>
            <a:off x="1952192" y="1520536"/>
            <a:ext cx="7400925" cy="3124200"/>
          </a:xfrm>
          <a:prstGeom prst="rect">
            <a:avLst/>
          </a:prstGeom>
        </p:spPr>
      </p:pic>
      <p:sp>
        <p:nvSpPr>
          <p:cNvPr id="5" name="Rectángulo 4"/>
          <p:cNvSpPr/>
          <p:nvPr/>
        </p:nvSpPr>
        <p:spPr>
          <a:xfrm>
            <a:off x="1848000" y="5605028"/>
            <a:ext cx="8049490" cy="923330"/>
          </a:xfrm>
          <a:prstGeom prst="rect">
            <a:avLst/>
          </a:prstGeom>
        </p:spPr>
        <p:txBody>
          <a:bodyPr wrap="square">
            <a:spAutoFit/>
          </a:bodyPr>
          <a:lstStyle/>
          <a:p>
            <a:r>
              <a:rPr lang="es-ES" b="1" dirty="0">
                <a:solidFill>
                  <a:srgbClr val="909090"/>
                </a:solidFill>
                <a:latin typeface="Lato"/>
              </a:rPr>
              <a:t>3.</a:t>
            </a:r>
            <a:r>
              <a:rPr lang="es-ES" dirty="0">
                <a:solidFill>
                  <a:srgbClr val="909090"/>
                </a:solidFill>
                <a:latin typeface="Lato"/>
              </a:rPr>
              <a:t> Haga doble clic en la clave de </a:t>
            </a:r>
            <a:r>
              <a:rPr lang="es-ES" dirty="0" err="1">
                <a:solidFill>
                  <a:srgbClr val="909090"/>
                </a:solidFill>
                <a:latin typeface="Lato"/>
              </a:rPr>
              <a:t>NTablesMax</a:t>
            </a:r>
            <a:r>
              <a:rPr lang="es-ES" dirty="0">
                <a:solidFill>
                  <a:srgbClr val="909090"/>
                </a:solidFill>
                <a:latin typeface="Lato"/>
              </a:rPr>
              <a:t> y seleccione Decimal como la Base. Reemplace el valor predeterminado de 8000 con un número mayor como 20000.</a:t>
            </a:r>
            <a:endParaRPr lang="es-ES" dirty="0"/>
          </a:p>
        </p:txBody>
      </p:sp>
      <p:pic>
        <p:nvPicPr>
          <p:cNvPr id="6" name="Imagen 5"/>
          <p:cNvPicPr>
            <a:picLocks noChangeAspect="1"/>
          </p:cNvPicPr>
          <p:nvPr/>
        </p:nvPicPr>
        <p:blipFill>
          <a:blip r:embed="rId4"/>
          <a:stretch>
            <a:fillRect/>
          </a:stretch>
        </p:blipFill>
        <p:spPr>
          <a:xfrm>
            <a:off x="6441931" y="3716049"/>
            <a:ext cx="3076575" cy="1857375"/>
          </a:xfrm>
          <a:prstGeom prst="rect">
            <a:avLst/>
          </a:prstGeom>
        </p:spPr>
      </p:pic>
    </p:spTree>
    <p:extLst>
      <p:ext uri="{BB962C8B-B14F-4D97-AF65-F5344CB8AC3E}">
        <p14:creationId xmlns:p14="http://schemas.microsoft.com/office/powerpoint/2010/main" val="187941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 Crystal no </a:t>
            </a:r>
            <a:r>
              <a:rPr lang="en-US" dirty="0" err="1"/>
              <a:t>muestra</a:t>
            </a:r>
            <a:r>
              <a:rPr lang="en-US" dirty="0"/>
              <a:t> </a:t>
            </a:r>
            <a:r>
              <a:rPr lang="en-US" dirty="0" err="1"/>
              <a:t>todos</a:t>
            </a:r>
            <a:r>
              <a:rPr lang="en-US" dirty="0"/>
              <a:t> </a:t>
            </a:r>
            <a:r>
              <a:rPr lang="en-US" dirty="0" err="1"/>
              <a:t>los</a:t>
            </a:r>
            <a:r>
              <a:rPr lang="en-US" dirty="0"/>
              <a:t> </a:t>
            </a:r>
            <a:r>
              <a:rPr lang="en-US" dirty="0" err="1"/>
              <a:t>objetos</a:t>
            </a:r>
            <a:endParaRPr lang="en-US" dirty="0"/>
          </a:p>
        </p:txBody>
      </p:sp>
      <p:sp>
        <p:nvSpPr>
          <p:cNvPr id="3" name="Rectángulo 2"/>
          <p:cNvSpPr/>
          <p:nvPr/>
        </p:nvSpPr>
        <p:spPr>
          <a:xfrm>
            <a:off x="1848000" y="1305342"/>
            <a:ext cx="8496000" cy="1600438"/>
          </a:xfrm>
          <a:prstGeom prst="rect">
            <a:avLst/>
          </a:prstGeom>
        </p:spPr>
        <p:txBody>
          <a:bodyPr wrap="square">
            <a:spAutoFit/>
          </a:bodyPr>
          <a:lstStyle/>
          <a:p>
            <a:r>
              <a:rPr lang="es-ES" sz="1400" b="1" dirty="0">
                <a:solidFill>
                  <a:srgbClr val="909090"/>
                </a:solidFill>
                <a:latin typeface="Lato"/>
              </a:rPr>
              <a:t>4.</a:t>
            </a:r>
            <a:r>
              <a:rPr lang="es-ES" sz="1400" dirty="0">
                <a:solidFill>
                  <a:srgbClr val="909090"/>
                </a:solidFill>
                <a:latin typeface="Lato"/>
              </a:rPr>
              <a:t> Haga clic en Aceptar y cierre el Editor del Registro.</a:t>
            </a:r>
          </a:p>
          <a:p>
            <a:r>
              <a:rPr lang="es-ES" sz="1400" b="1" dirty="0">
                <a:solidFill>
                  <a:srgbClr val="909090"/>
                </a:solidFill>
                <a:latin typeface="Lato"/>
              </a:rPr>
              <a:t>5.</a:t>
            </a:r>
            <a:r>
              <a:rPr lang="es-ES" sz="1400" dirty="0">
                <a:solidFill>
                  <a:srgbClr val="909090"/>
                </a:solidFill>
                <a:latin typeface="Lato"/>
              </a:rPr>
              <a:t> Reinicie </a:t>
            </a:r>
            <a:r>
              <a:rPr lang="es-ES" sz="1400" dirty="0" err="1">
                <a:solidFill>
                  <a:srgbClr val="909090"/>
                </a:solidFill>
                <a:latin typeface="Lato"/>
              </a:rPr>
              <a:t>Crystal</a:t>
            </a:r>
            <a:r>
              <a:rPr lang="es-ES" sz="1400" dirty="0">
                <a:solidFill>
                  <a:srgbClr val="909090"/>
                </a:solidFill>
                <a:latin typeface="Lato"/>
              </a:rPr>
              <a:t> </a:t>
            </a:r>
            <a:r>
              <a:rPr lang="es-ES" sz="1400" dirty="0" err="1">
                <a:solidFill>
                  <a:srgbClr val="909090"/>
                </a:solidFill>
                <a:latin typeface="Lato"/>
              </a:rPr>
              <a:t>Reports</a:t>
            </a:r>
            <a:r>
              <a:rPr lang="es-ES" sz="1400" dirty="0">
                <a:solidFill>
                  <a:srgbClr val="909090"/>
                </a:solidFill>
                <a:latin typeface="Lato"/>
              </a:rPr>
              <a:t> y ahora debería ver todos los objetos que se encuentran en su fuente de datos.</a:t>
            </a:r>
          </a:p>
          <a:p>
            <a:r>
              <a:rPr lang="es-ES" sz="1400" dirty="0">
                <a:solidFill>
                  <a:srgbClr val="909090"/>
                </a:solidFill>
                <a:latin typeface="Lato"/>
              </a:rPr>
              <a:t>Por ejemplo, abramos </a:t>
            </a:r>
            <a:r>
              <a:rPr lang="es-ES" sz="1400" dirty="0" err="1">
                <a:solidFill>
                  <a:srgbClr val="909090"/>
                </a:solidFill>
                <a:latin typeface="Lato"/>
              </a:rPr>
              <a:t>Crystal</a:t>
            </a:r>
            <a:r>
              <a:rPr lang="es-ES" sz="1400" dirty="0">
                <a:solidFill>
                  <a:srgbClr val="909090"/>
                </a:solidFill>
                <a:latin typeface="Lato"/>
              </a:rPr>
              <a:t> </a:t>
            </a:r>
            <a:r>
              <a:rPr lang="es-ES" sz="1400" dirty="0" err="1">
                <a:solidFill>
                  <a:srgbClr val="909090"/>
                </a:solidFill>
                <a:latin typeface="Lato"/>
              </a:rPr>
              <a:t>Reports</a:t>
            </a:r>
            <a:r>
              <a:rPr lang="es-ES" sz="1400" dirty="0">
                <a:solidFill>
                  <a:srgbClr val="909090"/>
                </a:solidFill>
                <a:latin typeface="Lato"/>
              </a:rPr>
              <a:t> 2013, inicie el Asistente de base de datos, use un origen de datos ODBC y conéctese a una base de datos SQL de </a:t>
            </a:r>
            <a:r>
              <a:rPr lang="es-ES" sz="1400" dirty="0" err="1">
                <a:solidFill>
                  <a:srgbClr val="909090"/>
                </a:solidFill>
                <a:latin typeface="Lato"/>
              </a:rPr>
              <a:t>Sage</a:t>
            </a:r>
            <a:r>
              <a:rPr lang="es-ES" sz="1400" dirty="0">
                <a:solidFill>
                  <a:srgbClr val="909090"/>
                </a:solidFill>
                <a:latin typeface="Lato"/>
              </a:rPr>
              <a:t> 500. Con los 8000 objetos predeterminados en </a:t>
            </a:r>
            <a:r>
              <a:rPr lang="es-ES" sz="1400" dirty="0" err="1">
                <a:solidFill>
                  <a:srgbClr val="909090"/>
                </a:solidFill>
                <a:latin typeface="Lato"/>
              </a:rPr>
              <a:t>Crystal</a:t>
            </a:r>
            <a:r>
              <a:rPr lang="es-ES" sz="1400" dirty="0">
                <a:solidFill>
                  <a:srgbClr val="909090"/>
                </a:solidFill>
                <a:latin typeface="Lato"/>
              </a:rPr>
              <a:t> en el registro, mi lista de tablas se detiene en </a:t>
            </a:r>
            <a:r>
              <a:rPr lang="es-ES" sz="1400" dirty="0" err="1">
                <a:solidFill>
                  <a:srgbClr val="909090"/>
                </a:solidFill>
                <a:latin typeface="Lato"/>
              </a:rPr>
              <a:t>tsoChngOrder</a:t>
            </a:r>
            <a:r>
              <a:rPr lang="es-ES" sz="1400" dirty="0">
                <a:solidFill>
                  <a:srgbClr val="909090"/>
                </a:solidFill>
                <a:latin typeface="Lato"/>
              </a:rPr>
              <a:t>:</a:t>
            </a:r>
          </a:p>
          <a:p>
            <a:br>
              <a:rPr lang="es-ES" sz="1400" dirty="0"/>
            </a:br>
            <a:endParaRPr lang="es-ES" sz="1400" dirty="0"/>
          </a:p>
        </p:txBody>
      </p:sp>
      <p:pic>
        <p:nvPicPr>
          <p:cNvPr id="4" name="Imagen 3"/>
          <p:cNvPicPr>
            <a:picLocks noChangeAspect="1"/>
          </p:cNvPicPr>
          <p:nvPr/>
        </p:nvPicPr>
        <p:blipFill>
          <a:blip r:embed="rId3"/>
          <a:stretch>
            <a:fillRect/>
          </a:stretch>
        </p:blipFill>
        <p:spPr>
          <a:xfrm>
            <a:off x="1848000" y="2858366"/>
            <a:ext cx="3486001" cy="2683452"/>
          </a:xfrm>
          <a:prstGeom prst="rect">
            <a:avLst/>
          </a:prstGeom>
        </p:spPr>
      </p:pic>
      <p:pic>
        <p:nvPicPr>
          <p:cNvPr id="5" name="Imagen 4"/>
          <p:cNvPicPr>
            <a:picLocks noChangeAspect="1"/>
          </p:cNvPicPr>
          <p:nvPr/>
        </p:nvPicPr>
        <p:blipFill>
          <a:blip r:embed="rId4"/>
          <a:stretch>
            <a:fillRect/>
          </a:stretch>
        </p:blipFill>
        <p:spPr>
          <a:xfrm>
            <a:off x="6080064" y="3957422"/>
            <a:ext cx="3517873" cy="2447491"/>
          </a:xfrm>
          <a:prstGeom prst="rect">
            <a:avLst/>
          </a:prstGeom>
        </p:spPr>
      </p:pic>
      <p:sp>
        <p:nvSpPr>
          <p:cNvPr id="6" name="Rectángulo 5"/>
          <p:cNvSpPr/>
          <p:nvPr/>
        </p:nvSpPr>
        <p:spPr>
          <a:xfrm>
            <a:off x="5647310" y="3121224"/>
            <a:ext cx="4696691" cy="738664"/>
          </a:xfrm>
          <a:prstGeom prst="rect">
            <a:avLst/>
          </a:prstGeom>
        </p:spPr>
        <p:txBody>
          <a:bodyPr wrap="square">
            <a:spAutoFit/>
          </a:bodyPr>
          <a:lstStyle/>
          <a:p>
            <a:r>
              <a:rPr lang="es-ES" sz="1400" dirty="0">
                <a:solidFill>
                  <a:srgbClr val="909090"/>
                </a:solidFill>
                <a:latin typeface="Lato"/>
              </a:rPr>
              <a:t>Después de un cambio a 20000 objetos, ahora puedo ver todas las tablas en mi base de datos del Experto en bases de datos en </a:t>
            </a:r>
            <a:r>
              <a:rPr lang="es-ES" sz="1400" dirty="0" err="1">
                <a:solidFill>
                  <a:srgbClr val="909090"/>
                </a:solidFill>
                <a:latin typeface="Lato"/>
              </a:rPr>
              <a:t>Crystal</a:t>
            </a:r>
            <a:r>
              <a:rPr lang="es-ES" sz="1400" dirty="0">
                <a:solidFill>
                  <a:srgbClr val="909090"/>
                </a:solidFill>
                <a:latin typeface="Lato"/>
              </a:rPr>
              <a:t> </a:t>
            </a:r>
            <a:r>
              <a:rPr lang="es-ES" sz="1400" dirty="0" err="1">
                <a:solidFill>
                  <a:srgbClr val="909090"/>
                </a:solidFill>
                <a:latin typeface="Lato"/>
              </a:rPr>
              <a:t>Reports</a:t>
            </a:r>
            <a:r>
              <a:rPr lang="es-ES" sz="1400" dirty="0">
                <a:solidFill>
                  <a:srgbClr val="909090"/>
                </a:solidFill>
                <a:latin typeface="Lato"/>
              </a:rPr>
              <a:t>:</a:t>
            </a:r>
            <a:endParaRPr lang="es-ES" sz="1400" dirty="0"/>
          </a:p>
        </p:txBody>
      </p:sp>
    </p:spTree>
    <p:extLst>
      <p:ext uri="{BB962C8B-B14F-4D97-AF65-F5344CB8AC3E}">
        <p14:creationId xmlns:p14="http://schemas.microsoft.com/office/powerpoint/2010/main" val="539931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7544" y="0"/>
            <a:ext cx="1794456" cy="1053747"/>
          </a:xfrm>
          <a:prstGeom prst="rect">
            <a:avLst/>
          </a:prstGeom>
        </p:spPr>
      </p:pic>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758"/>
            <a:ext cx="1893194" cy="108341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8" y="6318804"/>
            <a:ext cx="2281780" cy="539196"/>
          </a:xfrm>
          <a:prstGeom prst="rect">
            <a:avLst/>
          </a:prstGeom>
        </p:spPr>
      </p:pic>
      <p:sp>
        <p:nvSpPr>
          <p:cNvPr id="10" name="Rectángulo 9"/>
          <p:cNvSpPr/>
          <p:nvPr/>
        </p:nvSpPr>
        <p:spPr>
          <a:xfrm>
            <a:off x="2176530" y="25758"/>
            <a:ext cx="7559898" cy="1931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36428" y="5646204"/>
            <a:ext cx="2455572" cy="1217739"/>
          </a:xfrm>
          <a:prstGeom prst="rect">
            <a:avLst/>
          </a:prstGeom>
        </p:spPr>
      </p:pic>
      <p:sp>
        <p:nvSpPr>
          <p:cNvPr id="11" name="Subtítulo 2"/>
          <p:cNvSpPr txBox="1">
            <a:spLocks/>
          </p:cNvSpPr>
          <p:nvPr/>
        </p:nvSpPr>
        <p:spPr>
          <a:xfrm>
            <a:off x="946597" y="4004656"/>
            <a:ext cx="9152586" cy="22504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ES" sz="8800" b="1" dirty="0">
                <a:ln w="0"/>
                <a:solidFill>
                  <a:schemeClr val="accent1"/>
                </a:solidFill>
                <a:effectLst>
                  <a:outerShdw blurRad="38100" dist="25400" dir="5400000" algn="ctr" rotWithShape="0">
                    <a:srgbClr val="6E747A">
                      <a:alpha val="43000"/>
                    </a:srgbClr>
                  </a:outerShdw>
                </a:effectLst>
              </a:rPr>
              <a:t>GRACIAS</a:t>
            </a:r>
          </a:p>
          <a:p>
            <a:pPr algn="l"/>
            <a:endParaRPr lang="es-ES" sz="9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38618072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19578</TotalTime>
  <Words>1959</Words>
  <Application>Microsoft Office PowerPoint</Application>
  <PresentationFormat>Panorámica</PresentationFormat>
  <Paragraphs>178</Paragraphs>
  <Slides>30</Slides>
  <Notes>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30</vt:i4>
      </vt:variant>
    </vt:vector>
  </HeadingPairs>
  <TitlesOfParts>
    <vt:vector size="38" baseType="lpstr">
      <vt:lpstr>Arial</vt:lpstr>
      <vt:lpstr>Arial Black</vt:lpstr>
      <vt:lpstr>Calibri</vt:lpstr>
      <vt:lpstr>Calibri Light</vt:lpstr>
      <vt:lpstr>Courier New</vt:lpstr>
      <vt:lpstr>Lato</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Si Crystal no muestra todos los objetos</vt:lpstr>
      <vt:lpstr>Si Crystal no muestra todos los objetos</vt:lpstr>
      <vt:lpstr>Presentación de PowerPoint</vt:lpstr>
    </vt:vector>
  </TitlesOfParts>
  <Company>Exxis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Henry Ramos Cárdenas</dc:creator>
  <cp:lastModifiedBy>Exxis</cp:lastModifiedBy>
  <cp:revision>212</cp:revision>
  <dcterms:created xsi:type="dcterms:W3CDTF">2018-05-19T04:00:32Z</dcterms:created>
  <dcterms:modified xsi:type="dcterms:W3CDTF">2020-05-26T14:05:10Z</dcterms:modified>
</cp:coreProperties>
</file>